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9" r:id="rId7"/>
    <p:sldId id="270" r:id="rId8"/>
    <p:sldId id="271" r:id="rId9"/>
    <p:sldId id="262" r:id="rId10"/>
    <p:sldId id="273" r:id="rId11"/>
    <p:sldId id="274" r:id="rId12"/>
    <p:sldId id="276" r:id="rId13"/>
    <p:sldId id="268" r:id="rId14"/>
    <p:sldId id="267" r:id="rId15"/>
    <p:sldId id="277" r:id="rId16"/>
  </p:sldIdLst>
  <p:sldSz cx="14630400" cy="8229600"/>
  <p:notesSz cx="8229600" cy="14630400"/>
  <p:embeddedFontLst>
    <p:embeddedFont>
      <p:font typeface="Nunito Light" pitchFamily="2" charset="0"/>
      <p:regular r:id="rId18"/>
      <p:italic r:id="rId19"/>
    </p:embeddedFont>
    <p:embeddedFont>
      <p:font typeface="Nunito Semi Bold" panose="020B0604020202020204" charset="0"/>
      <p:regular r:id="rId20"/>
    </p:embeddedFont>
    <p:embeddedFont>
      <p:font typeface="PT Sans" panose="020B0503020203020204" pitchFamily="34" charset="0"/>
      <p:regular r:id="rId21"/>
      <p:bold r:id="rId22"/>
      <p:italic r:id="rId23"/>
      <p:boldItalic r:id="rId24"/>
    </p:embeddedFont>
  </p:embeddedFontLst>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D392"/>
    <a:srgbClr val="F5A623"/>
    <a:srgbClr val="C55A1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9915" autoAdjust="0"/>
  </p:normalViewPr>
  <p:slideViewPr>
    <p:cSldViewPr snapToGrid="0" snapToObjects="1">
      <p:cViewPr varScale="1">
        <p:scale>
          <a:sx n="35" d="100"/>
          <a:sy n="35" d="100"/>
        </p:scale>
        <p:origin x="1580" y="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60719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1200" kern="1200" dirty="0">
                <a:solidFill>
                  <a:schemeClr val="tx1"/>
                </a:solidFill>
                <a:effectLst/>
                <a:latin typeface="+mn-lt"/>
                <a:ea typeface="+mn-ea"/>
                <a:cs typeface="+mn-cs"/>
              </a:rPr>
              <a:t>Idea inicial ¿es posible contrastar con datos la presión estética que sufren las mujeres en la industria cinematográfica y audiovisual?. </a:t>
            </a:r>
          </a:p>
          <a:p>
            <a:r>
              <a:rPr lang="es-ES" sz="1200" kern="1200" dirty="0">
                <a:solidFill>
                  <a:schemeClr val="tx1"/>
                </a:solidFill>
                <a:effectLst/>
                <a:latin typeface="+mn-lt"/>
                <a:ea typeface="+mn-ea"/>
                <a:cs typeface="+mn-cs"/>
              </a:rPr>
              <a:t>Ampliar foco: ver si existen otros patrones y sesgos en el éxito de las películas.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cómo se relacionan las nominaciones con el éxito comercial de las películas, su valoración por parte del público, con el género cinematográfico... En definitiva, que factores se asocian a ser reconocido por la Academia de Hollywood.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Eliminación de nulos en los campos clave (género, año). Recaudaciones y presupuestos o bien cero o bien tan bajos que no pueden ser datos buenos. Me había quedado en 10.000!
Después de realizar un análisis de la distribución por año había muy pocos datos de antes de 1980 (repartidos en muchos años) y después de 2019-20.</a:t>
            </a:r>
          </a:p>
          <a:p>
            <a:r>
              <a:rPr lang="en-US" dirty="0"/>
              <a:t>Hay </a:t>
            </a:r>
            <a:r>
              <a:rPr lang="en-US" dirty="0" err="1"/>
              <a:t>una</a:t>
            </a:r>
            <a:r>
              <a:rPr lang="en-US" dirty="0"/>
              <a:t> </a:t>
            </a:r>
            <a:r>
              <a:rPr lang="en-US" dirty="0" err="1"/>
              <a:t>pérdida</a:t>
            </a:r>
            <a:r>
              <a:rPr lang="en-US" dirty="0"/>
              <a:t> del 50% de las </a:t>
            </a:r>
            <a:r>
              <a:rPr lang="en-US" dirty="0" err="1"/>
              <a:t>películas</a:t>
            </a:r>
            <a:r>
              <a:rPr lang="en-US" dirty="0"/>
              <a:t> </a:t>
            </a:r>
            <a:r>
              <a:rPr lang="en-US" dirty="0" err="1"/>
              <a:t>nominadas</a:t>
            </a:r>
            <a:r>
              <a:rPr lang="en-US" dirty="0"/>
              <a:t> en el </a:t>
            </a:r>
            <a:r>
              <a:rPr lang="en-US" dirty="0" err="1"/>
              <a:t>periodo</a:t>
            </a:r>
            <a:r>
              <a:rPr lang="en-US" dirty="0"/>
              <a:t> de </a:t>
            </a:r>
            <a:r>
              <a:rPr lang="en-US" dirty="0" err="1"/>
              <a:t>análisis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El primer factor a analizar es el presupuesto ¿Tienen las películas con mayor presupuesto más probabilidades de ser nominadas a los </a:t>
            </a:r>
            <a:r>
              <a:rPr lang="es-ES" sz="1200" kern="1200" dirty="0" err="1">
                <a:solidFill>
                  <a:schemeClr val="tx1"/>
                </a:solidFill>
                <a:effectLst/>
                <a:latin typeface="+mn-lt"/>
                <a:ea typeface="+mn-ea"/>
                <a:cs typeface="+mn-cs"/>
              </a:rPr>
              <a:t>Oscars</a:t>
            </a:r>
            <a:r>
              <a:rPr lang="es-ES" sz="1200" kern="1200" dirty="0">
                <a:solidFill>
                  <a:schemeClr val="tx1"/>
                </a:solidFill>
                <a:effectLst/>
                <a:latin typeface="+mn-lt"/>
                <a:ea typeface="+mn-ea"/>
                <a:cs typeface="+mn-cs"/>
              </a:rPr>
              <a:t>?</a:t>
            </a:r>
            <a:endParaRPr lang="en-US" dirty="0">
              <a:solidFill>
                <a:srgbClr val="FFFFFF"/>
              </a:solidFill>
              <a:latin typeface="PT Sans" pitchFamily="34" charset="0"/>
              <a:ea typeface="PT Sans" pitchFamily="34" charset="-122"/>
              <a:cs typeface="PT Sans"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FFFFFF"/>
                </a:solidFill>
                <a:latin typeface="PT Sans" pitchFamily="34" charset="0"/>
                <a:ea typeface="PT Sans" pitchFamily="34" charset="-122"/>
                <a:cs typeface="PT Sans" pitchFamily="34" charset="-120"/>
              </a:rPr>
              <a:t>La </a:t>
            </a:r>
            <a:r>
              <a:rPr lang="en-US" dirty="0" err="1">
                <a:solidFill>
                  <a:srgbClr val="FFFFFF"/>
                </a:solidFill>
                <a:latin typeface="PT Sans" pitchFamily="34" charset="0"/>
                <a:ea typeface="PT Sans" pitchFamily="34" charset="-122"/>
                <a:cs typeface="PT Sans" pitchFamily="34" charset="-120"/>
              </a:rPr>
              <a:t>gráfica</a:t>
            </a:r>
            <a:r>
              <a:rPr lang="en-US" dirty="0">
                <a:solidFill>
                  <a:srgbClr val="FFFFFF"/>
                </a:solidFill>
                <a:latin typeface="PT Sans" pitchFamily="34" charset="0"/>
                <a:ea typeface="PT Sans" pitchFamily="34" charset="-122"/>
                <a:cs typeface="PT Sans" pitchFamily="34" charset="-120"/>
              </a:rPr>
              <a:t> </a:t>
            </a:r>
            <a:r>
              <a:rPr lang="en-US" dirty="0" err="1">
                <a:solidFill>
                  <a:srgbClr val="FFFFFF"/>
                </a:solidFill>
                <a:latin typeface="PT Sans" pitchFamily="34" charset="0"/>
                <a:ea typeface="PT Sans" pitchFamily="34" charset="-122"/>
                <a:cs typeface="PT Sans" pitchFamily="34" charset="-120"/>
              </a:rPr>
              <a:t>muestra</a:t>
            </a:r>
            <a:endParaRPr lang="en-US" dirty="0">
              <a:solidFill>
                <a:srgbClr val="FFFFFF"/>
              </a:solidFill>
              <a:latin typeface="PT Sans" pitchFamily="34" charset="0"/>
              <a:ea typeface="PT Sans" pitchFamily="34" charset="-122"/>
              <a:cs typeface="PT Sans"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FFFFFF"/>
                </a:solidFill>
                <a:latin typeface="PT Sans" pitchFamily="34" charset="0"/>
                <a:ea typeface="PT Sans" pitchFamily="34" charset="-122"/>
                <a:cs typeface="PT Sans" pitchFamily="34" charset="-120"/>
              </a:rPr>
              <a:t>Parece </a:t>
            </a:r>
            <a:r>
              <a:rPr lang="en-US" dirty="0" err="1">
                <a:solidFill>
                  <a:srgbClr val="FFFFFF"/>
                </a:solidFill>
                <a:latin typeface="PT Sans" pitchFamily="34" charset="0"/>
                <a:ea typeface="PT Sans" pitchFamily="34" charset="-122"/>
                <a:cs typeface="PT Sans" pitchFamily="34" charset="-120"/>
              </a:rPr>
              <a:t>haber</a:t>
            </a:r>
            <a:r>
              <a:rPr lang="en-US" dirty="0">
                <a:solidFill>
                  <a:srgbClr val="FFFFFF"/>
                </a:solidFill>
                <a:latin typeface="PT Sans" pitchFamily="34" charset="0"/>
                <a:ea typeface="PT Sans" pitchFamily="34" charset="-122"/>
                <a:cs typeface="PT Sans" pitchFamily="34" charset="-120"/>
              </a:rPr>
              <a:t> </a:t>
            </a:r>
            <a:r>
              <a:rPr lang="en-US" dirty="0" err="1">
                <a:solidFill>
                  <a:srgbClr val="FFFFFF"/>
                </a:solidFill>
                <a:latin typeface="PT Sans" pitchFamily="34" charset="0"/>
                <a:ea typeface="PT Sans" pitchFamily="34" charset="-122"/>
                <a:cs typeface="PT Sans" pitchFamily="34" charset="-120"/>
              </a:rPr>
              <a:t>una</a:t>
            </a:r>
            <a:r>
              <a:rPr lang="en-US" dirty="0">
                <a:solidFill>
                  <a:srgbClr val="FFFFFF"/>
                </a:solidFill>
                <a:latin typeface="PT Sans" pitchFamily="34" charset="0"/>
                <a:ea typeface="PT Sans" pitchFamily="34" charset="-122"/>
                <a:cs typeface="PT Sans" pitchFamily="34" charset="-120"/>
              </a:rPr>
              <a:t> </a:t>
            </a:r>
            <a:r>
              <a:rPr lang="en-US" dirty="0" err="1">
                <a:solidFill>
                  <a:srgbClr val="FFFFFF"/>
                </a:solidFill>
                <a:latin typeface="PT Sans" pitchFamily="34" charset="0"/>
                <a:ea typeface="PT Sans" pitchFamily="34" charset="-122"/>
                <a:cs typeface="PT Sans" pitchFamily="34" charset="-120"/>
              </a:rPr>
              <a:t>correlación</a:t>
            </a:r>
            <a:r>
              <a:rPr lang="en-US" dirty="0">
                <a:solidFill>
                  <a:srgbClr val="FFFFFF"/>
                </a:solidFill>
                <a:latin typeface="PT Sans" pitchFamily="34" charset="0"/>
                <a:ea typeface="PT Sans" pitchFamily="34" charset="-122"/>
                <a:cs typeface="PT Sans" pitchFamily="34" charset="-120"/>
              </a:rPr>
              <a:t> entre </a:t>
            </a:r>
            <a:r>
              <a:rPr lang="en-US" dirty="0" err="1">
                <a:solidFill>
                  <a:srgbClr val="FFFFFF"/>
                </a:solidFill>
                <a:latin typeface="PT Sans" pitchFamily="34" charset="0"/>
                <a:ea typeface="PT Sans" pitchFamily="34" charset="-122"/>
                <a:cs typeface="PT Sans" pitchFamily="34" charset="-120"/>
              </a:rPr>
              <a:t>presupuesto</a:t>
            </a:r>
            <a:r>
              <a:rPr lang="en-US" dirty="0">
                <a:solidFill>
                  <a:srgbClr val="FFFFFF"/>
                </a:solidFill>
                <a:latin typeface="PT Sans" pitchFamily="34" charset="0"/>
                <a:ea typeface="PT Sans" pitchFamily="34" charset="-122"/>
                <a:cs typeface="PT Sans" pitchFamily="34" charset="-120"/>
              </a:rPr>
              <a:t> y </a:t>
            </a:r>
            <a:r>
              <a:rPr lang="en-US" dirty="0" err="1">
                <a:solidFill>
                  <a:srgbClr val="FFFFFF"/>
                </a:solidFill>
                <a:latin typeface="PT Sans" pitchFamily="34" charset="0"/>
                <a:ea typeface="PT Sans" pitchFamily="34" charset="-122"/>
                <a:cs typeface="PT Sans" pitchFamily="34" charset="-120"/>
              </a:rPr>
              <a:t>recaudación</a:t>
            </a:r>
            <a:r>
              <a:rPr lang="en-US" dirty="0">
                <a:solidFill>
                  <a:srgbClr val="FFFFFF"/>
                </a:solidFill>
                <a:latin typeface="PT Sans" pitchFamily="34" charset="0"/>
                <a:ea typeface="PT Sans" pitchFamily="34" charset="-122"/>
                <a:cs typeface="PT Sans" pitchFamily="34" charset="-12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FFFFFF"/>
                </a:solidFill>
                <a:latin typeface="PT Sans" pitchFamily="34" charset="0"/>
                <a:ea typeface="PT Sans" pitchFamily="34" charset="-122"/>
                <a:cs typeface="PT Sans" pitchFamily="34" charset="-120"/>
              </a:rPr>
              <a:t>Las </a:t>
            </a:r>
            <a:r>
              <a:rPr lang="en-US" dirty="0" err="1">
                <a:solidFill>
                  <a:srgbClr val="FFFFFF"/>
                </a:solidFill>
                <a:latin typeface="PT Sans" pitchFamily="34" charset="0"/>
                <a:ea typeface="PT Sans" pitchFamily="34" charset="-122"/>
                <a:cs typeface="PT Sans" pitchFamily="34" charset="-120"/>
              </a:rPr>
              <a:t>nominaciones</a:t>
            </a:r>
            <a:r>
              <a:rPr lang="en-US" dirty="0">
                <a:solidFill>
                  <a:srgbClr val="FFFFFF"/>
                </a:solidFill>
                <a:latin typeface="PT Sans" pitchFamily="34" charset="0"/>
                <a:ea typeface="PT Sans" pitchFamily="34" charset="-122"/>
                <a:cs typeface="PT Sans" pitchFamily="34" charset="-120"/>
              </a:rPr>
              <a:t> se </a:t>
            </a:r>
            <a:r>
              <a:rPr lang="en-US" dirty="0" err="1">
                <a:solidFill>
                  <a:srgbClr val="FFFFFF"/>
                </a:solidFill>
                <a:latin typeface="PT Sans" pitchFamily="34" charset="0"/>
                <a:ea typeface="PT Sans" pitchFamily="34" charset="-122"/>
                <a:cs typeface="PT Sans" pitchFamily="34" charset="-120"/>
              </a:rPr>
              <a:t>concentran</a:t>
            </a:r>
            <a:r>
              <a:rPr lang="en-US" dirty="0">
                <a:solidFill>
                  <a:srgbClr val="FFFFFF"/>
                </a:solidFill>
                <a:latin typeface="PT Sans" pitchFamily="34" charset="0"/>
                <a:ea typeface="PT Sans" pitchFamily="34" charset="-122"/>
                <a:cs typeface="PT Sans" pitchFamily="34" charset="-120"/>
              </a:rPr>
              <a:t> en la zona de mayor </a:t>
            </a:r>
            <a:r>
              <a:rPr lang="en-US" dirty="0" err="1">
                <a:solidFill>
                  <a:srgbClr val="FFFFFF"/>
                </a:solidFill>
                <a:latin typeface="PT Sans" pitchFamily="34" charset="0"/>
                <a:ea typeface="PT Sans" pitchFamily="34" charset="-122"/>
                <a:cs typeface="PT Sans" pitchFamily="34" charset="-120"/>
              </a:rPr>
              <a:t>presupuesto</a:t>
            </a:r>
            <a:r>
              <a:rPr lang="en-US" dirty="0">
                <a:solidFill>
                  <a:srgbClr val="FFFFFF"/>
                </a:solidFill>
                <a:latin typeface="PT Sans" pitchFamily="34" charset="0"/>
                <a:ea typeface="PT Sans" pitchFamily="34" charset="-122"/>
                <a:cs typeface="PT Sans" pitchFamily="34" charset="-120"/>
              </a:rPr>
              <a:t> y mayor </a:t>
            </a:r>
            <a:r>
              <a:rPr lang="en-US" dirty="0" err="1">
                <a:solidFill>
                  <a:srgbClr val="FFFFFF"/>
                </a:solidFill>
                <a:latin typeface="PT Sans" pitchFamily="34" charset="0"/>
                <a:ea typeface="PT Sans" pitchFamily="34" charset="-122"/>
                <a:cs typeface="PT Sans" pitchFamily="34" charset="-120"/>
              </a:rPr>
              <a:t>recaudación</a:t>
            </a:r>
            <a:r>
              <a:rPr lang="en-US" dirty="0">
                <a:solidFill>
                  <a:srgbClr val="FFFFFF"/>
                </a:solidFill>
                <a:latin typeface="PT Sans" pitchFamily="34" charset="0"/>
                <a:ea typeface="PT Sans" pitchFamily="34" charset="-122"/>
                <a:cs typeface="PT Sans" pitchFamily="34" charset="-12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solidFill>
                  <a:srgbClr val="FFFFFF"/>
                </a:solidFill>
                <a:latin typeface="PT Sans" pitchFamily="34" charset="0"/>
                <a:ea typeface="PT Sans" pitchFamily="34" charset="-122"/>
                <a:cs typeface="PT Sans" pitchFamily="34" charset="-120"/>
              </a:rPr>
              <a:t>Aunque</a:t>
            </a:r>
            <a:r>
              <a:rPr lang="en-US" dirty="0">
                <a:solidFill>
                  <a:srgbClr val="FFFFFF"/>
                </a:solidFill>
                <a:latin typeface="PT Sans" pitchFamily="34" charset="0"/>
                <a:ea typeface="PT Sans" pitchFamily="34" charset="-122"/>
                <a:cs typeface="PT Sans" pitchFamily="34" charset="-120"/>
              </a:rPr>
              <a:t> hay </a:t>
            </a:r>
            <a:r>
              <a:rPr lang="en-US" dirty="0" err="1">
                <a:solidFill>
                  <a:srgbClr val="FFFFFF"/>
                </a:solidFill>
                <a:latin typeface="PT Sans" pitchFamily="34" charset="0"/>
                <a:ea typeface="PT Sans" pitchFamily="34" charset="-122"/>
                <a:cs typeface="PT Sans" pitchFamily="34" charset="-120"/>
              </a:rPr>
              <a:t>muchas</a:t>
            </a:r>
            <a:r>
              <a:rPr lang="en-US" dirty="0">
                <a:solidFill>
                  <a:srgbClr val="FFFFFF"/>
                </a:solidFill>
                <a:latin typeface="PT Sans" pitchFamily="34" charset="0"/>
                <a:ea typeface="PT Sans" pitchFamily="34" charset="-122"/>
                <a:cs typeface="PT Sans" pitchFamily="34" charset="-120"/>
              </a:rPr>
              <a:t> </a:t>
            </a:r>
            <a:r>
              <a:rPr lang="en-US" dirty="0" err="1">
                <a:solidFill>
                  <a:srgbClr val="FFFFFF"/>
                </a:solidFill>
                <a:latin typeface="PT Sans" pitchFamily="34" charset="0"/>
                <a:ea typeface="PT Sans" pitchFamily="34" charset="-122"/>
                <a:cs typeface="PT Sans" pitchFamily="34" charset="-120"/>
              </a:rPr>
              <a:t>películas</a:t>
            </a:r>
            <a:r>
              <a:rPr lang="en-US" dirty="0">
                <a:solidFill>
                  <a:srgbClr val="FFFFFF"/>
                </a:solidFill>
                <a:latin typeface="PT Sans" pitchFamily="34" charset="0"/>
                <a:ea typeface="PT Sans" pitchFamily="34" charset="-122"/>
                <a:cs typeface="PT Sans" pitchFamily="34" charset="-120"/>
              </a:rPr>
              <a:t> no </a:t>
            </a:r>
            <a:r>
              <a:rPr lang="en-US" dirty="0" err="1">
                <a:solidFill>
                  <a:srgbClr val="FFFFFF"/>
                </a:solidFill>
                <a:latin typeface="PT Sans" pitchFamily="34" charset="0"/>
                <a:ea typeface="PT Sans" pitchFamily="34" charset="-122"/>
                <a:cs typeface="PT Sans" pitchFamily="34" charset="-120"/>
              </a:rPr>
              <a:t>nominadas</a:t>
            </a:r>
            <a:r>
              <a:rPr lang="en-US" dirty="0">
                <a:solidFill>
                  <a:srgbClr val="FFFFFF"/>
                </a:solidFill>
                <a:latin typeface="PT Sans" pitchFamily="34" charset="0"/>
                <a:ea typeface="PT Sans" pitchFamily="34" charset="-122"/>
                <a:cs typeface="PT Sans" pitchFamily="34" charset="-120"/>
              </a:rPr>
              <a:t> con </a:t>
            </a:r>
            <a:r>
              <a:rPr lang="en-US" dirty="0" err="1">
                <a:solidFill>
                  <a:srgbClr val="FFFFFF"/>
                </a:solidFill>
                <a:latin typeface="PT Sans" pitchFamily="34" charset="0"/>
                <a:ea typeface="PT Sans" pitchFamily="34" charset="-122"/>
                <a:cs typeface="PT Sans" pitchFamily="34" charset="-120"/>
              </a:rPr>
              <a:t>presupuestos</a:t>
            </a:r>
            <a:r>
              <a:rPr lang="en-US" dirty="0">
                <a:solidFill>
                  <a:srgbClr val="FFFFFF"/>
                </a:solidFill>
                <a:latin typeface="PT Sans" pitchFamily="34" charset="0"/>
                <a:ea typeface="PT Sans" pitchFamily="34" charset="-122"/>
                <a:cs typeface="PT Sans" pitchFamily="34" charset="-120"/>
              </a:rPr>
              <a:t> altos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FFFFFF"/>
                </a:solidFill>
                <a:latin typeface="PT Sans" pitchFamily="34" charset="0"/>
              </a:rPr>
              <a:t>El dinero </a:t>
            </a:r>
            <a:r>
              <a:rPr lang="en-US" dirty="0" err="1">
                <a:solidFill>
                  <a:srgbClr val="FFFFFF"/>
                </a:solidFill>
                <a:latin typeface="PT Sans" pitchFamily="34" charset="0"/>
              </a:rPr>
              <a:t>ayuda</a:t>
            </a:r>
            <a:r>
              <a:rPr lang="en-US" dirty="0">
                <a:solidFill>
                  <a:srgbClr val="FFFFFF"/>
                </a:solidFill>
                <a:latin typeface="PT Sans" pitchFamily="34" charset="0"/>
              </a:rPr>
              <a:t> a </a:t>
            </a:r>
            <a:r>
              <a:rPr lang="en-US" dirty="0" err="1">
                <a:solidFill>
                  <a:srgbClr val="FFFFFF"/>
                </a:solidFill>
                <a:latin typeface="PT Sans" pitchFamily="34" charset="0"/>
              </a:rPr>
              <a:t>llegar</a:t>
            </a:r>
            <a:r>
              <a:rPr lang="en-US" dirty="0">
                <a:solidFill>
                  <a:srgbClr val="FFFFFF"/>
                </a:solidFill>
                <a:latin typeface="PT Sans" pitchFamily="34" charset="0"/>
              </a:rPr>
              <a:t> al </a:t>
            </a:r>
            <a:r>
              <a:rPr lang="en-US" dirty="0" err="1">
                <a:solidFill>
                  <a:srgbClr val="FFFFFF"/>
                </a:solidFill>
                <a:latin typeface="PT Sans" pitchFamily="34" charset="0"/>
              </a:rPr>
              <a:t>público</a:t>
            </a:r>
            <a:r>
              <a:rPr lang="en-US" dirty="0">
                <a:solidFill>
                  <a:srgbClr val="FFFFFF"/>
                </a:solidFill>
                <a:latin typeface="PT Sans" pitchFamily="34" charset="0"/>
              </a:rPr>
              <a:t> y no tan </a:t>
            </a:r>
            <a:r>
              <a:rPr lang="en-US" dirty="0" err="1">
                <a:solidFill>
                  <a:srgbClr val="FFFFFF"/>
                </a:solidFill>
                <a:latin typeface="PT Sans" pitchFamily="34" charset="0"/>
              </a:rPr>
              <a:t>claramente</a:t>
            </a:r>
            <a:r>
              <a:rPr lang="en-US" dirty="0">
                <a:solidFill>
                  <a:srgbClr val="FFFFFF"/>
                </a:solidFill>
                <a:latin typeface="PT Sans" pitchFamily="34" charset="0"/>
              </a:rPr>
              <a:t> a </a:t>
            </a:r>
            <a:r>
              <a:rPr lang="en-US" dirty="0" err="1">
                <a:solidFill>
                  <a:srgbClr val="FFFFFF"/>
                </a:solidFill>
                <a:latin typeface="PT Sans" pitchFamily="34" charset="0"/>
              </a:rPr>
              <a:t>los</a:t>
            </a:r>
            <a:r>
              <a:rPr lang="en-US" dirty="0">
                <a:solidFill>
                  <a:srgbClr val="FFFFFF"/>
                </a:solidFill>
                <a:latin typeface="PT Sans" pitchFamily="34" charset="0"/>
              </a:rPr>
              <a:t> </a:t>
            </a:r>
            <a:r>
              <a:rPr lang="en-US" dirty="0" err="1">
                <a:solidFill>
                  <a:srgbClr val="FFFFFF"/>
                </a:solidFill>
                <a:latin typeface="PT Sans" pitchFamily="34" charset="0"/>
              </a:rPr>
              <a:t>premios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Para ver si hay diferencias significativas respecto a género he comprobado por una parte el número de películas con </a:t>
            </a:r>
            <a:r>
              <a:rPr lang="es-ES" dirty="0" err="1"/>
              <a:t>nominciones</a:t>
            </a:r>
            <a:r>
              <a:rPr lang="es-ES" dirty="0"/>
              <a:t> a los </a:t>
            </a:r>
            <a:r>
              <a:rPr lang="es-ES" dirty="0" err="1"/>
              <a:t>oscar</a:t>
            </a:r>
            <a:r>
              <a:rPr lang="es-ES" dirty="0"/>
              <a:t> vs las que no. Es el gráfico de la izquierda.</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En el de la derecha tenemos esos números convertidos en porcentaje. Quiero mostrar los dos para poner en contexto algunos porcentajes.</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Porque vemos que en porcentaje Western e Histórico lideran con más de un 25% de éxito en nominaciones (1 de cada 4 pelis de esos géneros obtiene una nominación) Pero es un dato más llamativo que relevante dado que </a:t>
            </a:r>
            <a:r>
              <a:rPr lang="es-ES" sz="1200" b="0" kern="1200" dirty="0">
                <a:solidFill>
                  <a:schemeClr val="tx1"/>
                </a:solidFill>
                <a:effectLst/>
                <a:latin typeface="+mn-lt"/>
                <a:ea typeface="+mn-ea"/>
                <a:cs typeface="+mn-cs"/>
              </a:rPr>
              <a:t>el número de películas es muy bajo (lo vemos en la otra gráfica). Mirar números</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kern="1200" dirty="0">
                <a:solidFill>
                  <a:schemeClr val="tx1"/>
                </a:solidFill>
                <a:effectLst/>
                <a:latin typeface="+mn-lt"/>
                <a:ea typeface="+mn-ea"/>
                <a:cs typeface="+mn-cs"/>
              </a:rPr>
              <a:t>Por eso, teniendo en cuenta ambas gráficas hay dos datos que creo que son los más significativos</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kern="1200" dirty="0">
                <a:solidFill>
                  <a:schemeClr val="tx1"/>
                </a:solidFill>
                <a:effectLst/>
                <a:latin typeface="+mn-lt"/>
                <a:ea typeface="+mn-ea"/>
                <a:cs typeface="+mn-cs"/>
              </a:rPr>
              <a:t>Drama (~23%) está muy por encima de la media haciéndose muchísimas películas de ese género. Está claro que nos gusta un drama: tanto para hacer la peli como para nominarla.</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kern="1200" dirty="0">
                <a:solidFill>
                  <a:schemeClr val="tx1"/>
                </a:solidFill>
                <a:effectLst/>
                <a:latin typeface="+mn-lt"/>
                <a:ea typeface="+mn-ea"/>
                <a:cs typeface="+mn-cs"/>
              </a:rPr>
              <a:t>Y la comedia es el otro lado: se hacen muchas películas y se nominan muy por debajo de la media</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kern="1200" dirty="0">
                <a:solidFill>
                  <a:schemeClr val="tx1"/>
                </a:solidFill>
                <a:effectLst/>
                <a:latin typeface="+mn-lt"/>
                <a:ea typeface="+mn-ea"/>
                <a:cs typeface="+mn-cs"/>
              </a:rPr>
              <a:t>Sí es muy destacable que aunque hay muchas películas el género de terror está claramente </a:t>
            </a:r>
            <a:r>
              <a:rPr lang="es-ES" sz="1200" b="0" kern="1200" dirty="0" err="1">
                <a:solidFill>
                  <a:schemeClr val="tx1"/>
                </a:solidFill>
                <a:effectLst/>
                <a:latin typeface="+mn-lt"/>
                <a:ea typeface="+mn-ea"/>
                <a:cs typeface="+mn-cs"/>
              </a:rPr>
              <a:t>infra-nominado</a:t>
            </a:r>
            <a:r>
              <a:rPr lang="es-ES" sz="1200" b="0" kern="1200" dirty="0">
                <a:solidFill>
                  <a:schemeClr val="tx1"/>
                </a:solidFill>
                <a:effectLst/>
                <a:latin typeface="+mn-lt"/>
                <a:ea typeface="+mn-ea"/>
                <a:cs typeface="+mn-cs"/>
              </a:rPr>
              <a:t> en los premios </a:t>
            </a:r>
            <a:r>
              <a:rPr lang="es-ES" sz="1200" b="0" kern="1200" dirty="0" err="1">
                <a:solidFill>
                  <a:schemeClr val="tx1"/>
                </a:solidFill>
                <a:effectLst/>
                <a:latin typeface="+mn-lt"/>
                <a:ea typeface="+mn-ea"/>
                <a:cs typeface="+mn-cs"/>
              </a:rPr>
              <a:t>oscar</a:t>
            </a:r>
            <a:r>
              <a:rPr lang="es-ES" sz="1200" b="0" kern="1200" dirty="0">
                <a:solidFill>
                  <a:schemeClr val="tx1"/>
                </a:solidFill>
                <a:effectLst/>
                <a:latin typeface="+mn-lt"/>
                <a:ea typeface="+mn-ea"/>
                <a:cs typeface="+mn-cs"/>
              </a:rPr>
              <a:t>. Sólo un 1,5% de las películas de media reciben una nominación</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kern="1200" dirty="0">
                <a:solidFill>
                  <a:schemeClr val="tx1"/>
                </a:solidFill>
                <a:effectLst/>
                <a:latin typeface="+mn-lt"/>
                <a:ea typeface="+mn-ea"/>
                <a:cs typeface="+mn-cs"/>
              </a:rPr>
              <a:t>Sin embargo, como curiosidad si haces la rentabilidad media por género es el Terror el que sale con diferencia más rentable y muy por encima de la media y además </a:t>
            </a:r>
            <a:r>
              <a:rPr lang="es-ES" sz="1200" kern="1200" dirty="0">
                <a:solidFill>
                  <a:schemeClr val="tx1"/>
                </a:solidFill>
                <a:effectLst/>
                <a:latin typeface="+mn-lt"/>
                <a:ea typeface="+mn-ea"/>
                <a:cs typeface="+mn-cs"/>
              </a:rPr>
              <a:t>las películas no nominadas son más rentables que las que sí. Aunque la incertidumbre es muy alta por la variabilidad de los casos, por eso no lo he incluido. </a:t>
            </a:r>
            <a:endParaRPr lang="es-E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s-E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89118-9A15-7C95-5E4D-2E7693FE73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84282D-63DD-15CB-7774-0847E020E2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4163E-E243-29E3-4067-2945D7217A89}"/>
              </a:ext>
            </a:extLst>
          </p:cNvPr>
          <p:cNvSpPr>
            <a:spLocks noGrp="1"/>
          </p:cNvSpPr>
          <p:nvPr>
            <p:ph type="body" idx="1"/>
          </p:nvPr>
        </p:nvSpPr>
        <p:spPr/>
        <p:txBody>
          <a:bodyPr/>
          <a:lstStyle/>
          <a:p>
            <a:r>
              <a:rPr lang="en-US" dirty="0"/>
              <a:t>En </a:t>
            </a:r>
            <a:r>
              <a:rPr lang="en-US" dirty="0" err="1"/>
              <a:t>este</a:t>
            </a:r>
            <a:r>
              <a:rPr lang="en-US" dirty="0"/>
              <a:t> </a:t>
            </a:r>
            <a:r>
              <a:rPr lang="en-US" dirty="0" err="1"/>
              <a:t>caso</a:t>
            </a:r>
            <a:r>
              <a:rPr lang="en-US" dirty="0"/>
              <a:t> la </a:t>
            </a:r>
            <a:r>
              <a:rPr lang="en-US" dirty="0" err="1"/>
              <a:t>concentración</a:t>
            </a:r>
            <a:r>
              <a:rPr lang="en-US" dirty="0"/>
              <a:t> de las </a:t>
            </a:r>
            <a:r>
              <a:rPr lang="en-US" dirty="0" err="1"/>
              <a:t>películas</a:t>
            </a:r>
            <a:r>
              <a:rPr lang="en-US" dirty="0"/>
              <a:t> </a:t>
            </a:r>
            <a:r>
              <a:rPr lang="en-US" dirty="0" err="1"/>
              <a:t>nominadas</a:t>
            </a:r>
            <a:r>
              <a:rPr lang="en-US" dirty="0"/>
              <a:t> en la </a:t>
            </a:r>
            <a:r>
              <a:rPr lang="en-US" dirty="0" err="1"/>
              <a:t>parte</a:t>
            </a:r>
            <a:r>
              <a:rPr lang="en-US" dirty="0"/>
              <a:t> superior </a:t>
            </a:r>
            <a:r>
              <a:rPr lang="en-US" dirty="0" err="1"/>
              <a:t>derecha</a:t>
            </a:r>
            <a:r>
              <a:rPr lang="en-US" dirty="0"/>
              <a:t> es </a:t>
            </a:r>
            <a:r>
              <a:rPr lang="en-US" dirty="0" err="1"/>
              <a:t>aun</a:t>
            </a:r>
            <a:r>
              <a:rPr lang="en-US" dirty="0"/>
              <a:t> </a:t>
            </a:r>
            <a:r>
              <a:rPr lang="en-US" dirty="0" err="1"/>
              <a:t>mucho</a:t>
            </a:r>
            <a:r>
              <a:rPr lang="en-US" dirty="0"/>
              <a:t> </a:t>
            </a:r>
            <a:r>
              <a:rPr lang="en-US" dirty="0" err="1"/>
              <a:t>más</a:t>
            </a:r>
            <a:r>
              <a:rPr lang="en-US" dirty="0"/>
              <a:t> </a:t>
            </a:r>
            <a:r>
              <a:rPr lang="en-US" dirty="0" err="1"/>
              <a:t>clara</a:t>
            </a:r>
            <a:r>
              <a:rPr lang="en-US" dirty="0"/>
              <a:t> </a:t>
            </a:r>
            <a:r>
              <a:rPr lang="en-US" dirty="0" err="1"/>
              <a:t>que</a:t>
            </a:r>
            <a:r>
              <a:rPr lang="en-US" dirty="0"/>
              <a:t> </a:t>
            </a:r>
            <a:r>
              <a:rPr lang="en-US" dirty="0" err="1"/>
              <a:t>cuando</a:t>
            </a:r>
            <a:r>
              <a:rPr lang="en-US" dirty="0"/>
              <a:t> </a:t>
            </a:r>
            <a:r>
              <a:rPr lang="en-US" dirty="0" err="1"/>
              <a:t>mirábamos</a:t>
            </a:r>
            <a:r>
              <a:rPr lang="en-US" dirty="0"/>
              <a:t> el </a:t>
            </a:r>
            <a:r>
              <a:rPr lang="en-US" dirty="0" err="1"/>
              <a:t>presupuesto</a:t>
            </a:r>
            <a:r>
              <a:rPr lang="en-US" dirty="0"/>
              <a:t>. </a:t>
            </a:r>
          </a:p>
          <a:p>
            <a:r>
              <a:rPr lang="es-ES" dirty="0"/>
              <a:t>Es un resultado estadísticamente significativo </a:t>
            </a:r>
            <a:r>
              <a:rPr lang="es-ES" b="1" dirty="0"/>
              <a:t>estadísticamente significativo</a:t>
            </a:r>
            <a:r>
              <a:rPr lang="es-ES" dirty="0"/>
              <a:t>, lo que quiere decir que es </a:t>
            </a:r>
            <a:r>
              <a:rPr lang="es-ES" b="1" dirty="0"/>
              <a:t>muy poco probable que esto sea una coincidencia</a:t>
            </a:r>
            <a:r>
              <a:rPr lang="es-ES" dirty="0"/>
              <a:t>. Los datos son tan claros que la probabilidad de que esta relación se deba simplemente al azar es casi nula </a:t>
            </a:r>
            <a:endParaRPr lang="en-US" dirty="0"/>
          </a:p>
        </p:txBody>
      </p:sp>
      <p:sp>
        <p:nvSpPr>
          <p:cNvPr id="4" name="Slide Number Placeholder 3">
            <a:extLst>
              <a:ext uri="{FF2B5EF4-FFF2-40B4-BE49-F238E27FC236}">
                <a16:creationId xmlns:a16="http://schemas.microsoft.com/office/drawing/2014/main" id="{661C8CC3-BE25-AAC3-798F-FB5E7C3CD576}"/>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8849890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Marcador de notas 2"/>
          <p:cNvSpPr>
            <a:spLocks noGrp="1"/>
          </p:cNvSpPr>
          <p:nvPr>
            <p:ph type="body" idx="1"/>
          </p:nvPr>
        </p:nvSpPr>
        <p:spPr>
          <a:xfrm>
            <a:off x="822325" y="7040563"/>
            <a:ext cx="6584950" cy="576103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El último análisis realizado ha sido en el sentido inverso. Analizar las películas más galardonadas y compararlas con el resto para ver si hay diferencias significativas y si tienen o no algo en común. He analizado comparativamente las películas que han ganado 3 </a:t>
            </a:r>
            <a:r>
              <a:rPr lang="es-ES" dirty="0" err="1"/>
              <a:t>oscars</a:t>
            </a:r>
            <a:r>
              <a:rPr lang="es-ES" dirty="0"/>
              <a:t> o más versus las demás y las diferencias encontradas son notables. </a:t>
            </a:r>
          </a:p>
          <a:p>
            <a:endParaRPr lang="es-ES" dirty="0"/>
          </a:p>
        </p:txBody>
      </p:sp>
    </p:spTree>
    <p:extLst>
      <p:ext uri="{BB962C8B-B14F-4D97-AF65-F5344CB8AC3E}">
        <p14:creationId xmlns:p14="http://schemas.microsoft.com/office/powerpoint/2010/main" val="15047826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Marcador de notas 2"/>
          <p:cNvSpPr>
            <a:spLocks noGrp="1"/>
          </p:cNvSpPr>
          <p:nvPr>
            <p:ph type="body" idx="1"/>
          </p:nvPr>
        </p:nvSpPr>
        <p:spPr>
          <a:xfrm>
            <a:off x="822325" y="7040563"/>
            <a:ext cx="6584950" cy="5761037"/>
          </a:xfrm>
          <a:prstGeom prst="rect">
            <a:avLst/>
          </a:prstGeom>
        </p:spPr>
        <p:txBody>
          <a:bodyPr/>
          <a:lstStyle/>
          <a:p>
            <a:r>
              <a:rPr lang="es-ES" sz="1200" b="0" kern="1200" dirty="0">
                <a:solidFill>
                  <a:schemeClr val="tx1"/>
                </a:solidFill>
                <a:effectLst/>
                <a:latin typeface="+mn-lt"/>
                <a:ea typeface="+mn-ea"/>
                <a:cs typeface="+mn-cs"/>
              </a:rPr>
              <a:t> - Big </a:t>
            </a:r>
            <a:r>
              <a:rPr lang="es-ES" sz="1200" b="0" kern="1200" dirty="0" err="1">
                <a:solidFill>
                  <a:schemeClr val="tx1"/>
                </a:solidFill>
                <a:effectLst/>
                <a:latin typeface="+mn-lt"/>
                <a:ea typeface="+mn-ea"/>
                <a:cs typeface="+mn-cs"/>
              </a:rPr>
              <a:t>ones</a:t>
            </a:r>
            <a:r>
              <a:rPr lang="es-ES" sz="1200" b="0" kern="1200" dirty="0">
                <a:solidFill>
                  <a:schemeClr val="tx1"/>
                </a:solidFill>
                <a:effectLst/>
                <a:latin typeface="+mn-lt"/>
                <a:ea typeface="+mn-ea"/>
                <a:cs typeface="+mn-cs"/>
              </a:rPr>
              <a:t> tienen de media casi el doble de presupuesto</a:t>
            </a:r>
          </a:p>
          <a:p>
            <a:r>
              <a:rPr lang="es-ES" sz="1200" b="0" kern="1200" dirty="0">
                <a:solidFill>
                  <a:schemeClr val="tx1"/>
                </a:solidFill>
                <a:effectLst/>
                <a:latin typeface="+mn-lt"/>
                <a:ea typeface="+mn-ea"/>
                <a:cs typeface="+mn-cs"/>
              </a:rPr>
              <a:t>- Pero también recaudan más: casi 5 veces más</a:t>
            </a:r>
          </a:p>
          <a:p>
            <a:r>
              <a:rPr lang="es-ES" sz="1200" b="0" kern="1200" dirty="0">
                <a:solidFill>
                  <a:schemeClr val="tx1"/>
                </a:solidFill>
                <a:effectLst/>
                <a:latin typeface="+mn-lt"/>
                <a:ea typeface="+mn-ea"/>
                <a:cs typeface="+mn-cs"/>
              </a:rPr>
              <a:t>- Son casi el doble de rentables</a:t>
            </a:r>
          </a:p>
          <a:p>
            <a:r>
              <a:rPr lang="es-ES" sz="1200" b="0" kern="1200" dirty="0">
                <a:solidFill>
                  <a:schemeClr val="tx1"/>
                </a:solidFill>
                <a:effectLst/>
                <a:latin typeface="+mn-lt"/>
                <a:ea typeface="+mn-ea"/>
                <a:cs typeface="+mn-cs"/>
              </a:rPr>
              <a:t>- Mucho mejor valoradas.  Big </a:t>
            </a:r>
            <a:r>
              <a:rPr lang="es-ES" sz="1200" b="0" kern="1200" dirty="0" err="1">
                <a:solidFill>
                  <a:schemeClr val="tx1"/>
                </a:solidFill>
                <a:effectLst/>
                <a:latin typeface="+mn-lt"/>
                <a:ea typeface="+mn-ea"/>
                <a:cs typeface="+mn-cs"/>
              </a:rPr>
              <a:t>ones</a:t>
            </a:r>
            <a:r>
              <a:rPr lang="es-ES" sz="1200" b="0" kern="1200" dirty="0">
                <a:solidFill>
                  <a:schemeClr val="tx1"/>
                </a:solidFill>
                <a:effectLst/>
                <a:latin typeface="+mn-lt"/>
                <a:ea typeface="+mn-ea"/>
                <a:cs typeface="+mn-cs"/>
              </a:rPr>
              <a:t> tienen de media el doble de presupuesto</a:t>
            </a:r>
          </a:p>
          <a:p>
            <a:r>
              <a:rPr lang="es-ES" sz="1200" b="0" kern="1200" dirty="0">
                <a:solidFill>
                  <a:schemeClr val="tx1"/>
                </a:solidFill>
                <a:effectLst/>
                <a:latin typeface="+mn-lt"/>
                <a:ea typeface="+mn-ea"/>
                <a:cs typeface="+mn-cs"/>
              </a:rPr>
              <a:t>- Pero también recaudan más: casi 5 veces más</a:t>
            </a:r>
          </a:p>
          <a:p>
            <a:r>
              <a:rPr lang="es-ES" sz="1200" b="0" kern="1200" dirty="0">
                <a:solidFill>
                  <a:schemeClr val="tx1"/>
                </a:solidFill>
                <a:effectLst/>
                <a:latin typeface="+mn-lt"/>
                <a:ea typeface="+mn-ea"/>
                <a:cs typeface="+mn-cs"/>
              </a:rPr>
              <a:t>- Son casi el doble de rentables</a:t>
            </a:r>
          </a:p>
          <a:p>
            <a:pPr marL="171450" indent="-171450">
              <a:buFontTx/>
              <a:buChar char="-"/>
            </a:pPr>
            <a:r>
              <a:rPr lang="es-ES" sz="1200" b="0" kern="1200" dirty="0">
                <a:solidFill>
                  <a:schemeClr val="tx1"/>
                </a:solidFill>
                <a:effectLst/>
                <a:latin typeface="+mn-lt"/>
                <a:ea typeface="+mn-ea"/>
                <a:cs typeface="+mn-cs"/>
              </a:rPr>
              <a:t>Mucho mejor valoradas. Esto ya lo habíamos visto anteriormente en otro gráfico. El dato numérico es un 79/100 vs 63, 16 puntos de diferencia</a:t>
            </a:r>
          </a:p>
          <a:p>
            <a:pPr marL="171450" indent="-171450">
              <a:buFontTx/>
              <a:buChar char="-"/>
            </a:pPr>
            <a:r>
              <a:rPr lang="es-ES" sz="1200" b="0" kern="1200" dirty="0">
                <a:solidFill>
                  <a:schemeClr val="tx1"/>
                </a:solidFill>
                <a:effectLst/>
                <a:latin typeface="+mn-lt"/>
                <a:ea typeface="+mn-ea"/>
                <a:cs typeface="+mn-cs"/>
              </a:rPr>
              <a:t>Por otra parte son de media 32 minutos más largas </a:t>
            </a:r>
          </a:p>
          <a:p>
            <a:endParaRPr lang="es-ES" dirty="0"/>
          </a:p>
          <a:p>
            <a:r>
              <a:rPr lang="es-ES" dirty="0"/>
              <a:t>Metrajes más largos se asocian a más épica y pueden dar lugar a más desarrollo de personajes o tramas más complejas y más del gusto de los académicos. </a:t>
            </a:r>
            <a:r>
              <a:rPr lang="es-ES" sz="1200" b="1" kern="1200" dirty="0">
                <a:solidFill>
                  <a:schemeClr val="tx1"/>
                </a:solidFill>
                <a:effectLst/>
                <a:latin typeface="+mn-lt"/>
                <a:ea typeface="+mn-ea"/>
                <a:cs typeface="+mn-cs"/>
              </a:rPr>
              <a:t>¿Es antes el huevo o la gallina? </a:t>
            </a:r>
            <a:r>
              <a:rPr lang="es-ES" sz="1200" b="0" kern="1200" dirty="0">
                <a:solidFill>
                  <a:schemeClr val="tx1"/>
                </a:solidFill>
                <a:effectLst/>
                <a:latin typeface="+mn-lt"/>
                <a:ea typeface="+mn-ea"/>
                <a:cs typeface="+mn-cs"/>
              </a:rPr>
              <a:t>La variable presupuesto aunque no sea determinante está claro que </a:t>
            </a:r>
            <a:r>
              <a:rPr lang="es-ES" sz="1200" kern="1200" dirty="0" err="1">
                <a:solidFill>
                  <a:schemeClr val="tx1"/>
                </a:solidFill>
                <a:effectLst/>
                <a:latin typeface="+mn-lt"/>
                <a:ea typeface="+mn-ea"/>
                <a:cs typeface="+mn-cs"/>
              </a:rPr>
              <a:t>que</a:t>
            </a:r>
            <a:r>
              <a:rPr lang="es-ES" sz="1200" kern="1200" dirty="0">
                <a:solidFill>
                  <a:schemeClr val="tx1"/>
                </a:solidFill>
                <a:effectLst/>
                <a:latin typeface="+mn-lt"/>
                <a:ea typeface="+mn-ea"/>
                <a:cs typeface="+mn-cs"/>
              </a:rPr>
              <a:t> permite película larga</a:t>
            </a:r>
            <a:endParaRPr lang="es-ES" dirty="0"/>
          </a:p>
        </p:txBody>
      </p:sp>
    </p:spTree>
    <p:extLst>
      <p:ext uri="{BB962C8B-B14F-4D97-AF65-F5344CB8AC3E}">
        <p14:creationId xmlns:p14="http://schemas.microsoft.com/office/powerpoint/2010/main" val="15592683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 </a:t>
            </a:r>
            <a:r>
              <a:rPr lang="en-US" dirty="0" err="1"/>
              <a:t>aplicado</a:t>
            </a:r>
            <a:r>
              <a:rPr lang="en-US" dirty="0"/>
              <a:t> la </a:t>
            </a:r>
            <a:r>
              <a:rPr lang="en-US" dirty="0" err="1"/>
              <a:t>misma</a:t>
            </a:r>
            <a:r>
              <a:rPr lang="en-US" dirty="0"/>
              <a:t> </a:t>
            </a:r>
            <a:r>
              <a:rPr lang="en-US" dirty="0" err="1"/>
              <a:t>comparativa</a:t>
            </a:r>
            <a:r>
              <a:rPr lang="en-US" dirty="0"/>
              <a:t> entre las </a:t>
            </a:r>
            <a:r>
              <a:rPr lang="en-US" dirty="0" err="1"/>
              <a:t>grandes</a:t>
            </a:r>
            <a:r>
              <a:rPr lang="en-US" dirty="0"/>
              <a:t> </a:t>
            </a:r>
            <a:r>
              <a:rPr lang="en-US" dirty="0" err="1"/>
              <a:t>ganadoras</a:t>
            </a:r>
            <a:r>
              <a:rPr lang="en-US" dirty="0"/>
              <a:t> y el resto en </a:t>
            </a:r>
            <a:r>
              <a:rPr lang="en-US" dirty="0" err="1"/>
              <a:t>cuanto</a:t>
            </a:r>
            <a:r>
              <a:rPr lang="en-US" dirty="0"/>
              <a:t> a </a:t>
            </a:r>
            <a:r>
              <a:rPr lang="en-US" dirty="0" err="1"/>
              <a:t>género</a:t>
            </a:r>
            <a:r>
              <a:rPr lang="en-US" dirty="0"/>
              <a:t>. Ya </a:t>
            </a:r>
            <a:r>
              <a:rPr lang="en-US" dirty="0" err="1"/>
              <a:t>hemos</a:t>
            </a:r>
            <a:r>
              <a:rPr lang="en-US" dirty="0"/>
              <a:t> visto antes </a:t>
            </a:r>
            <a:r>
              <a:rPr lang="en-US" dirty="0" err="1"/>
              <a:t>los</a:t>
            </a:r>
            <a:r>
              <a:rPr lang="en-US" dirty="0"/>
              <a:t> </a:t>
            </a:r>
            <a:r>
              <a:rPr lang="en-US" dirty="0" err="1"/>
              <a:t>gráficos</a:t>
            </a:r>
            <a:r>
              <a:rPr lang="en-US" dirty="0"/>
              <a:t> </a:t>
            </a:r>
            <a:r>
              <a:rPr lang="en-US" dirty="0" err="1"/>
              <a:t>respecto</a:t>
            </a:r>
            <a:r>
              <a:rPr lang="en-US" dirty="0"/>
              <a:t> a las </a:t>
            </a:r>
            <a:r>
              <a:rPr lang="en-US" dirty="0" err="1"/>
              <a:t>nominaciones</a:t>
            </a:r>
            <a:r>
              <a:rPr lang="en-US" dirty="0"/>
              <a:t>. No he </a:t>
            </a:r>
            <a:r>
              <a:rPr lang="en-US" dirty="0" err="1"/>
              <a:t>puesto</a:t>
            </a:r>
            <a:r>
              <a:rPr lang="en-US" dirty="0"/>
              <a:t> el </a:t>
            </a:r>
            <a:r>
              <a:rPr lang="en-US" dirty="0" err="1"/>
              <a:t>gráfico</a:t>
            </a:r>
            <a:r>
              <a:rPr lang="en-US" dirty="0"/>
              <a:t> </a:t>
            </a:r>
            <a:r>
              <a:rPr lang="en-US" dirty="0" err="1"/>
              <a:t>por</a:t>
            </a:r>
            <a:r>
              <a:rPr lang="en-US" dirty="0"/>
              <a:t> no ser </a:t>
            </a:r>
            <a:r>
              <a:rPr lang="en-US" dirty="0" err="1"/>
              <a:t>repetitiva</a:t>
            </a:r>
            <a:r>
              <a:rPr lang="en-US" dirty="0"/>
              <a:t>. </a:t>
            </a:r>
            <a:r>
              <a:rPr lang="en-US" dirty="0" err="1"/>
              <a:t>Simplemente</a:t>
            </a:r>
            <a:r>
              <a:rPr lang="en-US" dirty="0"/>
              <a:t> </a:t>
            </a:r>
            <a:r>
              <a:rPr lang="en-US" dirty="0" err="1"/>
              <a:t>quería</a:t>
            </a:r>
            <a:r>
              <a:rPr lang="en-US" dirty="0"/>
              <a:t> </a:t>
            </a:r>
            <a:r>
              <a:rPr lang="en-US" dirty="0" err="1"/>
              <a:t>resaltar</a:t>
            </a:r>
            <a:r>
              <a:rPr lang="en-US" dirty="0"/>
              <a:t> </a:t>
            </a:r>
            <a:r>
              <a:rPr lang="en-US" dirty="0" err="1"/>
              <a:t>algunas</a:t>
            </a:r>
            <a:r>
              <a:rPr lang="en-US" dirty="0"/>
              <a:t> </a:t>
            </a:r>
            <a:r>
              <a:rPr lang="en-US" dirty="0" err="1"/>
              <a:t>cosas</a:t>
            </a:r>
            <a:endParaRPr lang="en-US" dirty="0"/>
          </a:p>
          <a:p>
            <a:r>
              <a:rPr lang="en-US" dirty="0" err="1"/>
              <a:t>Fundamentalmente</a:t>
            </a:r>
            <a:r>
              <a:rPr lang="en-US" dirty="0"/>
              <a:t> es </a:t>
            </a:r>
            <a:r>
              <a:rPr lang="en-US" dirty="0" err="1"/>
              <a:t>tremendamente</a:t>
            </a:r>
            <a:r>
              <a:rPr lang="en-US" dirty="0"/>
              <a:t> </a:t>
            </a:r>
            <a:r>
              <a:rPr lang="en-US" dirty="0" err="1"/>
              <a:t>llamativo</a:t>
            </a:r>
            <a:r>
              <a:rPr lang="en-US" dirty="0"/>
              <a:t> </a:t>
            </a:r>
            <a:r>
              <a:rPr lang="en-US" dirty="0" err="1"/>
              <a:t>que</a:t>
            </a:r>
            <a:r>
              <a:rPr lang="en-US" dirty="0"/>
              <a:t> 1 de </a:t>
            </a:r>
            <a:r>
              <a:rPr lang="en-US" dirty="0" err="1"/>
              <a:t>cada</a:t>
            </a:r>
            <a:r>
              <a:rPr lang="en-US" dirty="0"/>
              <a:t> dos </a:t>
            </a:r>
            <a:r>
              <a:rPr lang="en-US" dirty="0" err="1"/>
              <a:t>grandes</a:t>
            </a:r>
            <a:r>
              <a:rPr lang="en-US" dirty="0"/>
              <a:t> </a:t>
            </a:r>
            <a:r>
              <a:rPr lang="en-US" dirty="0" err="1"/>
              <a:t>ganadoras</a:t>
            </a:r>
            <a:r>
              <a:rPr lang="en-US" dirty="0"/>
              <a:t> es un drama</a:t>
            </a:r>
          </a:p>
          <a:p>
            <a:r>
              <a:rPr lang="en-US" dirty="0" err="1"/>
              <a:t>Sólo</a:t>
            </a:r>
            <a:r>
              <a:rPr lang="en-US" dirty="0"/>
              <a:t> hay un 9% de comedias (</a:t>
            </a:r>
            <a:r>
              <a:rPr lang="en-US" dirty="0" err="1"/>
              <a:t>frente</a:t>
            </a:r>
            <a:r>
              <a:rPr lang="en-US" dirty="0"/>
              <a:t> al son el 22% del total de resto)</a:t>
            </a:r>
          </a:p>
          <a:p>
            <a:r>
              <a:rPr lang="en-US" dirty="0"/>
              <a:t>El terror </a:t>
            </a:r>
            <a:r>
              <a:rPr lang="en-US" dirty="0" err="1"/>
              <a:t>directamente</a:t>
            </a:r>
            <a:r>
              <a:rPr lang="en-US" dirty="0"/>
              <a:t> </a:t>
            </a:r>
            <a:r>
              <a:rPr lang="en-US" dirty="0" err="1"/>
              <a:t>desaparece</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err="1">
                <a:solidFill>
                  <a:srgbClr val="FFFFFF"/>
                </a:solidFill>
                <a:latin typeface="PT Sans" pitchFamily="34" charset="0"/>
                <a:ea typeface="PT Sans" pitchFamily="34" charset="-122"/>
                <a:cs typeface="PT Sans" pitchFamily="34" charset="-120"/>
              </a:rPr>
              <a:t>Después</a:t>
            </a:r>
            <a:r>
              <a:rPr lang="en-US" sz="1200" dirty="0">
                <a:solidFill>
                  <a:srgbClr val="FFFFFF"/>
                </a:solidFill>
                <a:latin typeface="PT Sans" pitchFamily="34" charset="0"/>
                <a:ea typeface="PT Sans" pitchFamily="34" charset="-122"/>
                <a:cs typeface="PT Sans" pitchFamily="34" charset="-120"/>
              </a:rPr>
              <a:t> de </a:t>
            </a:r>
            <a:r>
              <a:rPr lang="en-US" sz="1200" dirty="0" err="1">
                <a:solidFill>
                  <a:srgbClr val="FFFFFF"/>
                </a:solidFill>
                <a:latin typeface="PT Sans" pitchFamily="34" charset="0"/>
                <a:ea typeface="PT Sans" pitchFamily="34" charset="-122"/>
                <a:cs typeface="PT Sans" pitchFamily="34" charset="-120"/>
              </a:rPr>
              <a:t>hacer</a:t>
            </a:r>
            <a:r>
              <a:rPr lang="en-US" sz="1200" dirty="0">
                <a:solidFill>
                  <a:srgbClr val="FFFFFF"/>
                </a:solidFill>
                <a:latin typeface="PT Sans" pitchFamily="34" charset="0"/>
                <a:ea typeface="PT Sans" pitchFamily="34" charset="-122"/>
                <a:cs typeface="PT Sans" pitchFamily="34" charset="-120"/>
              </a:rPr>
              <a:t> el </a:t>
            </a:r>
            <a:r>
              <a:rPr lang="en-US" sz="1200" dirty="0" err="1">
                <a:solidFill>
                  <a:srgbClr val="FFFFFF"/>
                </a:solidFill>
                <a:latin typeface="PT Sans" pitchFamily="34" charset="0"/>
                <a:ea typeface="PT Sans" pitchFamily="34" charset="-122"/>
                <a:cs typeface="PT Sans" pitchFamily="34" charset="-120"/>
              </a:rPr>
              <a:t>análisis</a:t>
            </a:r>
            <a:r>
              <a:rPr lang="en-US" sz="1200" dirty="0">
                <a:solidFill>
                  <a:srgbClr val="FFFFFF"/>
                </a:solidFill>
                <a:latin typeface="PT Sans" pitchFamily="34" charset="0"/>
                <a:ea typeface="PT Sans" pitchFamily="34" charset="-122"/>
                <a:cs typeface="PT Sans" pitchFamily="34" charset="-120"/>
              </a:rPr>
              <a:t> hasta </a:t>
            </a:r>
            <a:r>
              <a:rPr lang="en-US" sz="1200" dirty="0" err="1">
                <a:solidFill>
                  <a:srgbClr val="FFFFFF"/>
                </a:solidFill>
                <a:latin typeface="PT Sans" pitchFamily="34" charset="0"/>
                <a:ea typeface="PT Sans" pitchFamily="34" charset="-122"/>
                <a:cs typeface="PT Sans" pitchFamily="34" charset="-120"/>
              </a:rPr>
              <a:t>aquí</a:t>
            </a:r>
            <a:r>
              <a:rPr lang="en-US" sz="1200" dirty="0">
                <a:solidFill>
                  <a:srgbClr val="FFFFFF"/>
                </a:solidFill>
                <a:latin typeface="PT Sans" pitchFamily="34" charset="0"/>
                <a:ea typeface="PT Sans" pitchFamily="34" charset="-122"/>
                <a:cs typeface="PT Sans" pitchFamily="34" charset="-120"/>
              </a:rPr>
              <a:t> no me </a:t>
            </a:r>
            <a:r>
              <a:rPr lang="en-US" sz="1200" dirty="0" err="1">
                <a:solidFill>
                  <a:srgbClr val="FFFFFF"/>
                </a:solidFill>
                <a:latin typeface="PT Sans" pitchFamily="34" charset="0"/>
                <a:ea typeface="PT Sans" pitchFamily="34" charset="-122"/>
                <a:cs typeface="PT Sans" pitchFamily="34" charset="-120"/>
              </a:rPr>
              <a:t>resisti</a:t>
            </a:r>
            <a:r>
              <a:rPr lang="en-US" sz="1200" dirty="0">
                <a:solidFill>
                  <a:srgbClr val="FFFFFF"/>
                </a:solidFill>
                <a:latin typeface="PT Sans" pitchFamily="34" charset="0"/>
                <a:ea typeface="PT Sans" pitchFamily="34" charset="-122"/>
                <a:cs typeface="PT Sans" pitchFamily="34" charset="-120"/>
              </a:rPr>
              <a:t> a </a:t>
            </a:r>
            <a:r>
              <a:rPr lang="en-US" sz="1200" dirty="0" err="1">
                <a:solidFill>
                  <a:srgbClr val="FFFFFF"/>
                </a:solidFill>
                <a:latin typeface="PT Sans" pitchFamily="34" charset="0"/>
                <a:ea typeface="PT Sans" pitchFamily="34" charset="-122"/>
                <a:cs typeface="PT Sans" pitchFamily="34" charset="-120"/>
              </a:rPr>
              <a:t>comprobar</a:t>
            </a:r>
            <a:r>
              <a:rPr lang="en-US" sz="1200" dirty="0">
                <a:solidFill>
                  <a:srgbClr val="FFFFFF"/>
                </a:solidFill>
                <a:latin typeface="PT Sans" pitchFamily="34" charset="0"/>
                <a:ea typeface="PT Sans" pitchFamily="34" charset="-122"/>
                <a:cs typeface="PT Sans" pitchFamily="34" charset="-120"/>
              </a:rPr>
              <a:t> la </a:t>
            </a:r>
            <a:r>
              <a:rPr lang="en-US" sz="1200" dirty="0" err="1">
                <a:solidFill>
                  <a:srgbClr val="FFFFFF"/>
                </a:solidFill>
                <a:latin typeface="PT Sans" pitchFamily="34" charset="0"/>
                <a:ea typeface="PT Sans" pitchFamily="34" charset="-122"/>
                <a:cs typeface="PT Sans" pitchFamily="34" charset="-120"/>
              </a:rPr>
              <a:t>primera</a:t>
            </a:r>
            <a:r>
              <a:rPr lang="en-US" sz="1200" dirty="0">
                <a:solidFill>
                  <a:srgbClr val="FFFFFF"/>
                </a:solidFill>
                <a:latin typeface="PT Sans" pitchFamily="34" charset="0"/>
                <a:ea typeface="PT Sans" pitchFamily="34" charset="-122"/>
                <a:cs typeface="PT Sans" pitchFamily="34" charset="-120"/>
              </a:rPr>
              <a:t> </a:t>
            </a:r>
            <a:r>
              <a:rPr lang="en-US" sz="1200" dirty="0" err="1">
                <a:solidFill>
                  <a:srgbClr val="FFFFFF"/>
                </a:solidFill>
                <a:latin typeface="PT Sans" pitchFamily="34" charset="0"/>
                <a:ea typeface="PT Sans" pitchFamily="34" charset="-122"/>
                <a:cs typeface="PT Sans" pitchFamily="34" charset="-120"/>
              </a:rPr>
              <a:t>hipótesis</a:t>
            </a:r>
            <a:r>
              <a:rPr lang="en-US" sz="1200" dirty="0">
                <a:solidFill>
                  <a:srgbClr val="FFFFFF"/>
                </a:solidFill>
                <a:latin typeface="PT Sans" pitchFamily="34" charset="0"/>
                <a:ea typeface="PT Sans" pitchFamily="34" charset="-122"/>
                <a:cs typeface="PT Sans" pitchFamily="34" charset="-120"/>
              </a:rPr>
              <a:t> </a:t>
            </a:r>
            <a:r>
              <a:rPr lang="en-US" sz="1200" dirty="0" err="1">
                <a:solidFill>
                  <a:srgbClr val="FFFFFF"/>
                </a:solidFill>
                <a:latin typeface="PT Sans" pitchFamily="34" charset="0"/>
                <a:ea typeface="PT Sans" pitchFamily="34" charset="-122"/>
                <a:cs typeface="PT Sans" pitchFamily="34" charset="-120"/>
              </a:rPr>
              <a:t>que</a:t>
            </a:r>
            <a:r>
              <a:rPr lang="en-US" sz="1200" dirty="0">
                <a:solidFill>
                  <a:srgbClr val="FFFFFF"/>
                </a:solidFill>
                <a:latin typeface="PT Sans" pitchFamily="34" charset="0"/>
                <a:ea typeface="PT Sans" pitchFamily="34" charset="-122"/>
                <a:cs typeface="PT Sans" pitchFamily="34" charset="-120"/>
              </a:rPr>
              <a:t> me </a:t>
            </a:r>
            <a:r>
              <a:rPr lang="en-US" sz="1200" dirty="0" err="1">
                <a:solidFill>
                  <a:srgbClr val="FFFFFF"/>
                </a:solidFill>
                <a:latin typeface="PT Sans" pitchFamily="34" charset="0"/>
                <a:ea typeface="PT Sans" pitchFamily="34" charset="-122"/>
                <a:cs typeface="PT Sans" pitchFamily="34" charset="-120"/>
              </a:rPr>
              <a:t>motivo</a:t>
            </a:r>
            <a:r>
              <a:rPr lang="en-US" sz="1200" dirty="0">
                <a:solidFill>
                  <a:srgbClr val="FFFFFF"/>
                </a:solidFill>
                <a:latin typeface="PT Sans" pitchFamily="34" charset="0"/>
                <a:ea typeface="PT Sans" pitchFamily="34" charset="-122"/>
                <a:cs typeface="PT Sans" pitchFamily="34" charset="-120"/>
              </a:rPr>
              <a:t> a </a:t>
            </a:r>
            <a:r>
              <a:rPr lang="en-US" sz="1200" dirty="0" err="1">
                <a:solidFill>
                  <a:srgbClr val="FFFFFF"/>
                </a:solidFill>
                <a:latin typeface="PT Sans" pitchFamily="34" charset="0"/>
                <a:ea typeface="PT Sans" pitchFamily="34" charset="-122"/>
                <a:cs typeface="PT Sans" pitchFamily="34" charset="-120"/>
              </a:rPr>
              <a:t>este</a:t>
            </a:r>
            <a:r>
              <a:rPr lang="en-US" sz="1200" dirty="0">
                <a:solidFill>
                  <a:srgbClr val="FFFFFF"/>
                </a:solidFill>
                <a:latin typeface="PT Sans" pitchFamily="34" charset="0"/>
                <a:ea typeface="PT Sans" pitchFamily="34" charset="-122"/>
                <a:cs typeface="PT Sans" pitchFamily="34" charset="-120"/>
              </a:rPr>
              <a:t> </a:t>
            </a:r>
            <a:r>
              <a:rPr lang="en-US" sz="1200" dirty="0" err="1">
                <a:solidFill>
                  <a:srgbClr val="FFFFFF"/>
                </a:solidFill>
                <a:latin typeface="PT Sans" pitchFamily="34" charset="0"/>
                <a:ea typeface="PT Sans" pitchFamily="34" charset="-122"/>
                <a:cs typeface="PT Sans" pitchFamily="34" charset="-120"/>
              </a:rPr>
              <a:t>trabajo</a:t>
            </a:r>
            <a:r>
              <a:rPr lang="en-US" sz="1200" dirty="0">
                <a:solidFill>
                  <a:srgbClr val="FFFFFF"/>
                </a:solidFill>
                <a:latin typeface="PT Sans" pitchFamily="34" charset="0"/>
                <a:ea typeface="PT Sans" pitchFamily="34" charset="-122"/>
                <a:cs typeface="PT Sans" pitchFamily="34" charset="-120"/>
              </a:rPr>
              <a:t>. </a:t>
            </a:r>
            <a:r>
              <a:rPr lang="en-US" sz="1200" dirty="0" err="1">
                <a:solidFill>
                  <a:srgbClr val="FFFFFF"/>
                </a:solidFill>
                <a:latin typeface="PT Sans" pitchFamily="34" charset="0"/>
                <a:ea typeface="PT Sans" pitchFamily="34" charset="-122"/>
                <a:cs typeface="PT Sans" pitchFamily="34" charset="-120"/>
              </a:rPr>
              <a:t>Así</a:t>
            </a:r>
            <a:r>
              <a:rPr lang="en-US" sz="1200" dirty="0">
                <a:solidFill>
                  <a:srgbClr val="FFFFFF"/>
                </a:solidFill>
                <a:latin typeface="PT Sans" pitchFamily="34" charset="0"/>
                <a:ea typeface="PT Sans" pitchFamily="34" charset="-122"/>
                <a:cs typeface="PT Sans" pitchFamily="34" charset="-120"/>
              </a:rPr>
              <a:t> </a:t>
            </a:r>
            <a:r>
              <a:rPr lang="en-US" sz="1200" dirty="0" err="1">
                <a:solidFill>
                  <a:srgbClr val="FFFFFF"/>
                </a:solidFill>
                <a:latin typeface="PT Sans" pitchFamily="34" charset="0"/>
                <a:ea typeface="PT Sans" pitchFamily="34" charset="-122"/>
                <a:cs typeface="PT Sans" pitchFamily="34" charset="-120"/>
              </a:rPr>
              <a:t>que</a:t>
            </a:r>
            <a:r>
              <a:rPr lang="en-US" sz="1200" dirty="0">
                <a:solidFill>
                  <a:srgbClr val="FFFFFF"/>
                </a:solidFill>
                <a:latin typeface="PT Sans" pitchFamily="34" charset="0"/>
                <a:ea typeface="PT Sans" pitchFamily="34" charset="-122"/>
                <a:cs typeface="PT Sans" pitchFamily="34" charset="-120"/>
              </a:rPr>
              <a:t> me </a:t>
            </a:r>
            <a:r>
              <a:rPr lang="en-US" sz="1200" dirty="0" err="1">
                <a:solidFill>
                  <a:srgbClr val="FFFFFF"/>
                </a:solidFill>
                <a:latin typeface="PT Sans" pitchFamily="34" charset="0"/>
                <a:ea typeface="PT Sans" pitchFamily="34" charset="-122"/>
                <a:cs typeface="PT Sans" pitchFamily="34" charset="-120"/>
              </a:rPr>
              <a:t>centré</a:t>
            </a:r>
            <a:r>
              <a:rPr lang="en-US" sz="1200" dirty="0">
                <a:solidFill>
                  <a:srgbClr val="FFFFFF"/>
                </a:solidFill>
                <a:latin typeface="PT Sans" pitchFamily="34" charset="0"/>
                <a:ea typeface="PT Sans" pitchFamily="34" charset="-122"/>
                <a:cs typeface="PT Sans" pitchFamily="34" charset="-120"/>
              </a:rPr>
              <a:t> en el </a:t>
            </a:r>
            <a:r>
              <a:rPr lang="en-US" sz="1200" dirty="0" err="1">
                <a:solidFill>
                  <a:srgbClr val="FFFFFF"/>
                </a:solidFill>
                <a:latin typeface="PT Sans" pitchFamily="34" charset="0"/>
                <a:ea typeface="PT Sans" pitchFamily="34" charset="-122"/>
                <a:cs typeface="PT Sans" pitchFamily="34" charset="-120"/>
              </a:rPr>
              <a:t>único</a:t>
            </a:r>
            <a:r>
              <a:rPr lang="en-US" sz="1200" dirty="0">
                <a:solidFill>
                  <a:srgbClr val="FFFFFF"/>
                </a:solidFill>
                <a:latin typeface="PT Sans" pitchFamily="34" charset="0"/>
                <a:ea typeface="PT Sans" pitchFamily="34" charset="-122"/>
                <a:cs typeface="PT Sans" pitchFamily="34" charset="-120"/>
              </a:rPr>
              <a:t> </a:t>
            </a:r>
            <a:r>
              <a:rPr lang="en-US" sz="1200" dirty="0" err="1">
                <a:solidFill>
                  <a:srgbClr val="FFFFFF"/>
                </a:solidFill>
                <a:latin typeface="PT Sans" pitchFamily="34" charset="0"/>
                <a:ea typeface="PT Sans" pitchFamily="34" charset="-122"/>
                <a:cs typeface="PT Sans" pitchFamily="34" charset="-120"/>
              </a:rPr>
              <a:t>dato</a:t>
            </a:r>
            <a:r>
              <a:rPr lang="en-US" sz="1200" dirty="0">
                <a:solidFill>
                  <a:srgbClr val="FFFFFF"/>
                </a:solidFill>
                <a:latin typeface="PT Sans" pitchFamily="34" charset="0"/>
                <a:ea typeface="PT Sans" pitchFamily="34" charset="-122"/>
                <a:cs typeface="PT Sans" pitchFamily="34" charset="-120"/>
              </a:rPr>
              <a:t> </a:t>
            </a:r>
            <a:r>
              <a:rPr lang="en-US" sz="1200" dirty="0" err="1">
                <a:solidFill>
                  <a:srgbClr val="FFFFFF"/>
                </a:solidFill>
                <a:latin typeface="PT Sans" pitchFamily="34" charset="0"/>
                <a:ea typeface="PT Sans" pitchFamily="34" charset="-122"/>
                <a:cs typeface="PT Sans" pitchFamily="34" charset="-120"/>
              </a:rPr>
              <a:t>objetivo</a:t>
            </a:r>
            <a:r>
              <a:rPr lang="en-US" sz="1200" dirty="0">
                <a:solidFill>
                  <a:srgbClr val="FFFFFF"/>
                </a:solidFill>
                <a:latin typeface="PT Sans" pitchFamily="34" charset="0"/>
                <a:ea typeface="PT Sans" pitchFamily="34" charset="-122"/>
                <a:cs typeface="PT Sans" pitchFamily="34" charset="-120"/>
              </a:rPr>
              <a:t> del </a:t>
            </a:r>
            <a:r>
              <a:rPr lang="en-US" sz="1200" dirty="0" err="1">
                <a:solidFill>
                  <a:srgbClr val="FFFFFF"/>
                </a:solidFill>
                <a:latin typeface="PT Sans" pitchFamily="34" charset="0"/>
                <a:ea typeface="PT Sans" pitchFamily="34" charset="-122"/>
                <a:cs typeface="PT Sans" pitchFamily="34" charset="-120"/>
              </a:rPr>
              <a:t>que</a:t>
            </a:r>
            <a:r>
              <a:rPr lang="en-US" sz="1200" dirty="0">
                <a:solidFill>
                  <a:srgbClr val="FFFFFF"/>
                </a:solidFill>
                <a:latin typeface="PT Sans" pitchFamily="34" charset="0"/>
                <a:ea typeface="PT Sans" pitchFamily="34" charset="-122"/>
                <a:cs typeface="PT Sans" pitchFamily="34" charset="-120"/>
              </a:rPr>
              <a:t> </a:t>
            </a:r>
            <a:r>
              <a:rPr lang="en-US" sz="1200" dirty="0" err="1">
                <a:solidFill>
                  <a:srgbClr val="FFFFFF"/>
                </a:solidFill>
                <a:latin typeface="PT Sans" pitchFamily="34" charset="0"/>
                <a:ea typeface="PT Sans" pitchFamily="34" charset="-122"/>
                <a:cs typeface="PT Sans" pitchFamily="34" charset="-120"/>
              </a:rPr>
              <a:t>disponía</a:t>
            </a:r>
            <a:r>
              <a:rPr lang="en-US" sz="1200" dirty="0">
                <a:solidFill>
                  <a:srgbClr val="FFFFFF"/>
                </a:solidFill>
                <a:latin typeface="PT Sans" pitchFamily="34" charset="0"/>
                <a:ea typeface="PT Sans" pitchFamily="34" charset="-122"/>
                <a:cs typeface="PT Sans" pitchFamily="34" charset="-120"/>
              </a:rPr>
              <a:t> de forma </a:t>
            </a:r>
            <a:r>
              <a:rPr lang="en-US" sz="1200" dirty="0" err="1">
                <a:solidFill>
                  <a:srgbClr val="FFFFFF"/>
                </a:solidFill>
                <a:latin typeface="PT Sans" pitchFamily="34" charset="0"/>
                <a:ea typeface="PT Sans" pitchFamily="34" charset="-122"/>
                <a:cs typeface="PT Sans" pitchFamily="34" charset="-120"/>
              </a:rPr>
              <a:t>relativamente</a:t>
            </a:r>
            <a:r>
              <a:rPr lang="en-US" sz="1200" dirty="0">
                <a:solidFill>
                  <a:srgbClr val="FFFFFF"/>
                </a:solidFill>
                <a:latin typeface="PT Sans" pitchFamily="34" charset="0"/>
                <a:ea typeface="PT Sans" pitchFamily="34" charset="-122"/>
                <a:cs typeface="PT Sans" pitchFamily="34" charset="-120"/>
              </a:rPr>
              <a:t> </a:t>
            </a:r>
            <a:r>
              <a:rPr lang="en-US" sz="1200" dirty="0" err="1">
                <a:solidFill>
                  <a:srgbClr val="FFFFFF"/>
                </a:solidFill>
                <a:latin typeface="PT Sans" pitchFamily="34" charset="0"/>
                <a:ea typeface="PT Sans" pitchFamily="34" charset="-122"/>
                <a:cs typeface="PT Sans" pitchFamily="34" charset="-120"/>
              </a:rPr>
              <a:t>fácil</a:t>
            </a:r>
            <a:r>
              <a:rPr lang="en-US" sz="1200" dirty="0">
                <a:solidFill>
                  <a:srgbClr val="FFFFFF"/>
                </a:solidFill>
                <a:latin typeface="PT Sans" pitchFamily="34" charset="0"/>
                <a:ea typeface="PT Sans" pitchFamily="34" charset="-122"/>
                <a:cs typeface="PT Sans" pitchFamily="34" charset="-120"/>
              </a:rPr>
              <a:t> </a:t>
            </a:r>
            <a:r>
              <a:rPr lang="en-US" sz="1200" dirty="0" err="1">
                <a:solidFill>
                  <a:srgbClr val="FFFFFF"/>
                </a:solidFill>
                <a:latin typeface="PT Sans" pitchFamily="34" charset="0"/>
                <a:ea typeface="PT Sans" pitchFamily="34" charset="-122"/>
                <a:cs typeface="PT Sans" pitchFamily="34" charset="-120"/>
              </a:rPr>
              <a:t>que</a:t>
            </a:r>
            <a:r>
              <a:rPr lang="en-US" sz="1200" dirty="0">
                <a:solidFill>
                  <a:srgbClr val="FFFFFF"/>
                </a:solidFill>
                <a:latin typeface="PT Sans" pitchFamily="34" charset="0"/>
                <a:ea typeface="PT Sans" pitchFamily="34" charset="-122"/>
                <a:cs typeface="PT Sans" pitchFamily="34" charset="-120"/>
              </a:rPr>
              <a:t> era la </a:t>
            </a:r>
            <a:r>
              <a:rPr lang="en-US" sz="1200" dirty="0" err="1">
                <a:solidFill>
                  <a:srgbClr val="FFFFFF"/>
                </a:solidFill>
                <a:latin typeface="PT Sans" pitchFamily="34" charset="0"/>
                <a:ea typeface="PT Sans" pitchFamily="34" charset="-122"/>
                <a:cs typeface="PT Sans" pitchFamily="34" charset="-120"/>
              </a:rPr>
              <a:t>edad</a:t>
            </a:r>
            <a:r>
              <a:rPr lang="en-US" sz="1200" dirty="0">
                <a:solidFill>
                  <a:srgbClr val="FFFFFF"/>
                </a:solidFill>
                <a:latin typeface="PT Sans" pitchFamily="34" charset="0"/>
                <a:ea typeface="PT Sans" pitchFamily="34" charset="-122"/>
                <a:cs typeface="PT Sans" pitchFamily="34" charset="-120"/>
              </a:rPr>
              <a:t>. </a:t>
            </a:r>
            <a:r>
              <a:rPr lang="en-US" sz="1200" dirty="0" err="1">
                <a:solidFill>
                  <a:srgbClr val="FFFFFF"/>
                </a:solidFill>
                <a:latin typeface="PT Sans" pitchFamily="34" charset="0"/>
                <a:ea typeface="PT Sans" pitchFamily="34" charset="-122"/>
                <a:cs typeface="PT Sans" pitchFamily="34" charset="-120"/>
              </a:rPr>
              <a:t>Partimos</a:t>
            </a:r>
            <a:r>
              <a:rPr lang="en-US" sz="1200" dirty="0">
                <a:solidFill>
                  <a:srgbClr val="FFFFFF"/>
                </a:solidFill>
                <a:latin typeface="PT Sans" pitchFamily="34" charset="0"/>
                <a:ea typeface="PT Sans" pitchFamily="34" charset="-122"/>
                <a:cs typeface="PT Sans" pitchFamily="34" charset="-120"/>
              </a:rPr>
              <a:t> de la base de </a:t>
            </a:r>
            <a:r>
              <a:rPr lang="en-US" sz="1200" dirty="0" err="1">
                <a:solidFill>
                  <a:srgbClr val="FFFFFF"/>
                </a:solidFill>
                <a:latin typeface="PT Sans" pitchFamily="34" charset="0"/>
                <a:ea typeface="PT Sans" pitchFamily="34" charset="-122"/>
                <a:cs typeface="PT Sans" pitchFamily="34" charset="-120"/>
              </a:rPr>
              <a:t>que</a:t>
            </a:r>
            <a:r>
              <a:rPr lang="en-US" sz="1200" dirty="0">
                <a:solidFill>
                  <a:srgbClr val="FFFFFF"/>
                </a:solidFill>
                <a:latin typeface="PT Sans" pitchFamily="34" charset="0"/>
                <a:ea typeface="PT Sans" pitchFamily="34" charset="-122"/>
                <a:cs typeface="PT Sans" pitchFamily="34" charset="-120"/>
              </a:rPr>
              <a:t> la </a:t>
            </a:r>
            <a:r>
              <a:rPr lang="en-US" sz="1200" dirty="0" err="1">
                <a:solidFill>
                  <a:srgbClr val="FFFFFF"/>
                </a:solidFill>
                <a:latin typeface="PT Sans" pitchFamily="34" charset="0"/>
                <a:ea typeface="PT Sans" pitchFamily="34" charset="-122"/>
                <a:cs typeface="PT Sans" pitchFamily="34" charset="-120"/>
              </a:rPr>
              <a:t>hipótesis</a:t>
            </a:r>
            <a:r>
              <a:rPr lang="en-US" sz="1200" dirty="0">
                <a:solidFill>
                  <a:srgbClr val="FFFFFF"/>
                </a:solidFill>
                <a:latin typeface="PT Sans" pitchFamily="34" charset="0"/>
                <a:ea typeface="PT Sans" pitchFamily="34" charset="-122"/>
                <a:cs typeface="PT Sans" pitchFamily="34" charset="-120"/>
              </a:rPr>
              <a:t> se </a:t>
            </a:r>
            <a:r>
              <a:rPr lang="en-US" sz="1200" dirty="0" err="1">
                <a:solidFill>
                  <a:srgbClr val="FFFFFF"/>
                </a:solidFill>
                <a:latin typeface="PT Sans" pitchFamily="34" charset="0"/>
                <a:ea typeface="PT Sans" pitchFamily="34" charset="-122"/>
                <a:cs typeface="PT Sans" pitchFamily="34" charset="-120"/>
              </a:rPr>
              <a:t>contesta</a:t>
            </a:r>
            <a:r>
              <a:rPr lang="en-US" sz="1200" dirty="0">
                <a:solidFill>
                  <a:srgbClr val="FFFFFF"/>
                </a:solidFill>
                <a:latin typeface="PT Sans" pitchFamily="34" charset="0"/>
                <a:ea typeface="PT Sans" pitchFamily="34" charset="-122"/>
                <a:cs typeface="PT Sans" pitchFamily="34" charset="-120"/>
              </a:rPr>
              <a:t> </a:t>
            </a:r>
            <a:r>
              <a:rPr lang="en-US" sz="1200" dirty="0" err="1">
                <a:solidFill>
                  <a:srgbClr val="FFFFFF"/>
                </a:solidFill>
                <a:latin typeface="PT Sans" pitchFamily="34" charset="0"/>
                <a:ea typeface="PT Sans" pitchFamily="34" charset="-122"/>
                <a:cs typeface="PT Sans" pitchFamily="34" charset="-120"/>
              </a:rPr>
              <a:t>sóla</a:t>
            </a:r>
            <a:r>
              <a:rPr lang="en-US" sz="1200" dirty="0">
                <a:solidFill>
                  <a:srgbClr val="FFFFFF"/>
                </a:solidFill>
                <a:latin typeface="PT Sans" pitchFamily="34" charset="0"/>
                <a:ea typeface="PT Sans" pitchFamily="34" charset="-122"/>
                <a:cs typeface="PT Sans" pitchFamily="34" charset="-120"/>
              </a:rPr>
              <a:t> </a:t>
            </a:r>
            <a:r>
              <a:rPr lang="en-US" sz="1200" dirty="0" err="1">
                <a:solidFill>
                  <a:srgbClr val="FFFFFF"/>
                </a:solidFill>
                <a:latin typeface="PT Sans" pitchFamily="34" charset="0"/>
                <a:ea typeface="PT Sans" pitchFamily="34" charset="-122"/>
                <a:cs typeface="PT Sans" pitchFamily="34" charset="-120"/>
              </a:rPr>
              <a:t>desde</a:t>
            </a:r>
            <a:r>
              <a:rPr lang="en-US" sz="1200" dirty="0">
                <a:solidFill>
                  <a:srgbClr val="FFFFFF"/>
                </a:solidFill>
                <a:latin typeface="PT Sans" pitchFamily="34" charset="0"/>
                <a:ea typeface="PT Sans" pitchFamily="34" charset="-122"/>
                <a:cs typeface="PT Sans" pitchFamily="34" charset="-120"/>
              </a:rPr>
              <a:t> el </a:t>
            </a:r>
            <a:r>
              <a:rPr lang="en-US" sz="1200" dirty="0" err="1">
                <a:solidFill>
                  <a:srgbClr val="FFFFFF"/>
                </a:solidFill>
                <a:latin typeface="PT Sans" pitchFamily="34" charset="0"/>
                <a:ea typeface="PT Sans" pitchFamily="34" charset="-122"/>
                <a:cs typeface="PT Sans" pitchFamily="34" charset="-120"/>
              </a:rPr>
              <a:t>momento</a:t>
            </a:r>
            <a:r>
              <a:rPr lang="en-US" sz="1200" dirty="0">
                <a:solidFill>
                  <a:srgbClr val="FFFFFF"/>
                </a:solidFill>
                <a:latin typeface="PT Sans" pitchFamily="34" charset="0"/>
                <a:ea typeface="PT Sans" pitchFamily="34" charset="-122"/>
                <a:cs typeface="PT Sans" pitchFamily="34" charset="-120"/>
              </a:rPr>
              <a:t> en </a:t>
            </a:r>
            <a:r>
              <a:rPr lang="en-US" sz="1200" dirty="0" err="1">
                <a:solidFill>
                  <a:srgbClr val="FFFFFF"/>
                </a:solidFill>
                <a:latin typeface="PT Sans" pitchFamily="34" charset="0"/>
                <a:ea typeface="PT Sans" pitchFamily="34" charset="-122"/>
                <a:cs typeface="PT Sans" pitchFamily="34" charset="-120"/>
              </a:rPr>
              <a:t>que</a:t>
            </a:r>
            <a:r>
              <a:rPr lang="en-US" sz="1200" dirty="0">
                <a:solidFill>
                  <a:srgbClr val="FFFFFF"/>
                </a:solidFill>
                <a:latin typeface="PT Sans" pitchFamily="34" charset="0"/>
                <a:ea typeface="PT Sans" pitchFamily="34" charset="-122"/>
                <a:cs typeface="PT Sans" pitchFamily="34" charset="-120"/>
              </a:rPr>
              <a:t> solo se </a:t>
            </a:r>
            <a:r>
              <a:rPr lang="en-US" sz="1200" dirty="0" err="1">
                <a:solidFill>
                  <a:srgbClr val="FFFFFF"/>
                </a:solidFill>
                <a:latin typeface="PT Sans" pitchFamily="34" charset="0"/>
                <a:ea typeface="PT Sans" pitchFamily="34" charset="-122"/>
                <a:cs typeface="PT Sans" pitchFamily="34" charset="-120"/>
              </a:rPr>
              <a:t>puede</a:t>
            </a:r>
            <a:r>
              <a:rPr lang="en-US" sz="1200" dirty="0">
                <a:solidFill>
                  <a:srgbClr val="FFFFFF"/>
                </a:solidFill>
                <a:latin typeface="PT Sans" pitchFamily="34" charset="0"/>
                <a:ea typeface="PT Sans" pitchFamily="34" charset="-122"/>
                <a:cs typeface="PT Sans" pitchFamily="34" charset="-120"/>
              </a:rPr>
              <a:t> </a:t>
            </a:r>
            <a:r>
              <a:rPr lang="en-US" sz="1200" dirty="0" err="1">
                <a:solidFill>
                  <a:srgbClr val="FFFFFF"/>
                </a:solidFill>
                <a:latin typeface="PT Sans" pitchFamily="34" charset="0"/>
                <a:ea typeface="PT Sans" pitchFamily="34" charset="-122"/>
                <a:cs typeface="PT Sans" pitchFamily="34" charset="-120"/>
              </a:rPr>
              <a:t>hacer</a:t>
            </a:r>
            <a:r>
              <a:rPr lang="en-US" sz="1200" dirty="0">
                <a:solidFill>
                  <a:srgbClr val="FFFFFF"/>
                </a:solidFill>
                <a:latin typeface="PT Sans" pitchFamily="34" charset="0"/>
                <a:ea typeface="PT Sans" pitchFamily="34" charset="-122"/>
                <a:cs typeface="PT Sans" pitchFamily="34" charset="-120"/>
              </a:rPr>
              <a:t> </a:t>
            </a:r>
            <a:r>
              <a:rPr lang="en-US" sz="1200" dirty="0" err="1">
                <a:solidFill>
                  <a:srgbClr val="FFFFFF"/>
                </a:solidFill>
                <a:latin typeface="PT Sans" pitchFamily="34" charset="0"/>
                <a:ea typeface="PT Sans" pitchFamily="34" charset="-122"/>
                <a:cs typeface="PT Sans" pitchFamily="34" charset="-120"/>
              </a:rPr>
              <a:t>una</a:t>
            </a:r>
            <a:r>
              <a:rPr lang="en-US" sz="1200" dirty="0">
                <a:solidFill>
                  <a:srgbClr val="FFFFFF"/>
                </a:solidFill>
                <a:latin typeface="PT Sans" pitchFamily="34" charset="0"/>
                <a:ea typeface="PT Sans" pitchFamily="34" charset="-122"/>
                <a:cs typeface="PT Sans" pitchFamily="34" charset="-120"/>
              </a:rPr>
              <a:t> </a:t>
            </a:r>
            <a:r>
              <a:rPr lang="en-US" sz="1200" dirty="0" err="1">
                <a:solidFill>
                  <a:srgbClr val="FFFFFF"/>
                </a:solidFill>
                <a:latin typeface="PT Sans" pitchFamily="34" charset="0"/>
                <a:ea typeface="PT Sans" pitchFamily="34" charset="-122"/>
                <a:cs typeface="PT Sans" pitchFamily="34" charset="-120"/>
              </a:rPr>
              <a:t>comparativa</a:t>
            </a:r>
            <a:r>
              <a:rPr lang="en-US" sz="1200" dirty="0">
                <a:solidFill>
                  <a:srgbClr val="FFFFFF"/>
                </a:solidFill>
                <a:latin typeface="PT Sans" pitchFamily="34" charset="0"/>
                <a:ea typeface="PT Sans" pitchFamily="34" charset="-122"/>
                <a:cs typeface="PT Sans" pitchFamily="34" charset="-120"/>
              </a:rPr>
              <a:t> en la </a:t>
            </a:r>
            <a:r>
              <a:rPr lang="en-US" sz="1200" dirty="0" err="1">
                <a:solidFill>
                  <a:srgbClr val="FFFFFF"/>
                </a:solidFill>
                <a:latin typeface="PT Sans" pitchFamily="34" charset="0"/>
                <a:ea typeface="PT Sans" pitchFamily="34" charset="-122"/>
                <a:cs typeface="PT Sans" pitchFamily="34" charset="-120"/>
              </a:rPr>
              <a:t>única</a:t>
            </a:r>
            <a:r>
              <a:rPr lang="en-US" sz="1200" dirty="0">
                <a:solidFill>
                  <a:srgbClr val="FFFFFF"/>
                </a:solidFill>
                <a:latin typeface="PT Sans" pitchFamily="34" charset="0"/>
                <a:ea typeface="PT Sans" pitchFamily="34" charset="-122"/>
                <a:cs typeface="PT Sans" pitchFamily="34" charset="-120"/>
              </a:rPr>
              <a:t> </a:t>
            </a:r>
            <a:r>
              <a:rPr lang="en-US" sz="1200" dirty="0" err="1">
                <a:solidFill>
                  <a:srgbClr val="FFFFFF"/>
                </a:solidFill>
                <a:latin typeface="PT Sans" pitchFamily="34" charset="0"/>
                <a:ea typeface="PT Sans" pitchFamily="34" charset="-122"/>
                <a:cs typeface="PT Sans" pitchFamily="34" charset="-120"/>
              </a:rPr>
              <a:t>categoría</a:t>
            </a:r>
            <a:r>
              <a:rPr lang="en-US" sz="1200" dirty="0">
                <a:solidFill>
                  <a:srgbClr val="FFFFFF"/>
                </a:solidFill>
                <a:latin typeface="PT Sans" pitchFamily="34" charset="0"/>
                <a:ea typeface="PT Sans" pitchFamily="34" charset="-122"/>
                <a:cs typeface="PT Sans" pitchFamily="34" charset="-120"/>
              </a:rPr>
              <a:t> en la </a:t>
            </a:r>
            <a:r>
              <a:rPr lang="en-US" sz="1200" dirty="0" err="1">
                <a:solidFill>
                  <a:srgbClr val="FFFFFF"/>
                </a:solidFill>
                <a:latin typeface="PT Sans" pitchFamily="34" charset="0"/>
                <a:ea typeface="PT Sans" pitchFamily="34" charset="-122"/>
                <a:cs typeface="PT Sans" pitchFamily="34" charset="-120"/>
              </a:rPr>
              <a:t>que</a:t>
            </a:r>
            <a:r>
              <a:rPr lang="en-US" sz="1200" dirty="0">
                <a:solidFill>
                  <a:srgbClr val="FFFFFF"/>
                </a:solidFill>
                <a:latin typeface="PT Sans" pitchFamily="34" charset="0"/>
                <a:ea typeface="PT Sans" pitchFamily="34" charset="-122"/>
                <a:cs typeface="PT Sans" pitchFamily="34" charset="-120"/>
              </a:rPr>
              <a:t> hay </a:t>
            </a:r>
            <a:r>
              <a:rPr lang="en-US" sz="1200" dirty="0" err="1">
                <a:solidFill>
                  <a:srgbClr val="FFFFFF"/>
                </a:solidFill>
                <a:latin typeface="PT Sans" pitchFamily="34" charset="0"/>
                <a:ea typeface="PT Sans" pitchFamily="34" charset="-122"/>
                <a:cs typeface="PT Sans" pitchFamily="34" charset="-120"/>
              </a:rPr>
              <a:t>igual</a:t>
            </a:r>
            <a:r>
              <a:rPr lang="en-US" sz="1200" dirty="0">
                <a:solidFill>
                  <a:srgbClr val="FFFFFF"/>
                </a:solidFill>
                <a:latin typeface="PT Sans" pitchFamily="34" charset="0"/>
                <a:ea typeface="PT Sans" pitchFamily="34" charset="-122"/>
                <a:cs typeface="PT Sans" pitchFamily="34" charset="-120"/>
              </a:rPr>
              <a:t> </a:t>
            </a:r>
            <a:r>
              <a:rPr lang="en-US" sz="1200" dirty="0" err="1">
                <a:solidFill>
                  <a:srgbClr val="FFFFFF"/>
                </a:solidFill>
                <a:latin typeface="PT Sans" pitchFamily="34" charset="0"/>
                <a:ea typeface="PT Sans" pitchFamily="34" charset="-122"/>
                <a:cs typeface="PT Sans" pitchFamily="34" charset="-120"/>
              </a:rPr>
              <a:t>número</a:t>
            </a:r>
            <a:r>
              <a:rPr lang="en-US" sz="1200" dirty="0">
                <a:solidFill>
                  <a:srgbClr val="FFFFFF"/>
                </a:solidFill>
                <a:latin typeface="PT Sans" pitchFamily="34" charset="0"/>
                <a:ea typeface="PT Sans" pitchFamily="34" charset="-122"/>
                <a:cs typeface="PT Sans" pitchFamily="34" charset="-120"/>
              </a:rPr>
              <a:t> de </a:t>
            </a:r>
            <a:r>
              <a:rPr lang="en-US" sz="1200" dirty="0" err="1">
                <a:solidFill>
                  <a:srgbClr val="FFFFFF"/>
                </a:solidFill>
                <a:latin typeface="PT Sans" pitchFamily="34" charset="0"/>
                <a:ea typeface="PT Sans" pitchFamily="34" charset="-122"/>
                <a:cs typeface="PT Sans" pitchFamily="34" charset="-120"/>
              </a:rPr>
              <a:t>ganadores</a:t>
            </a:r>
            <a:r>
              <a:rPr lang="en-US" sz="1200" dirty="0">
                <a:solidFill>
                  <a:srgbClr val="FFFFFF"/>
                </a:solidFill>
                <a:latin typeface="PT Sans" pitchFamily="34" charset="0"/>
                <a:ea typeface="PT Sans" pitchFamily="34" charset="-122"/>
                <a:cs typeface="PT Sans" pitchFamily="34" charset="-120"/>
              </a:rPr>
              <a:t> en hombres y en </a:t>
            </a:r>
            <a:r>
              <a:rPr lang="en-US" sz="1200" dirty="0" err="1">
                <a:solidFill>
                  <a:srgbClr val="FFFFFF"/>
                </a:solidFill>
                <a:latin typeface="PT Sans" pitchFamily="34" charset="0"/>
                <a:ea typeface="PT Sans" pitchFamily="34" charset="-122"/>
                <a:cs typeface="PT Sans" pitchFamily="34" charset="-120"/>
              </a:rPr>
              <a:t>mujeres</a:t>
            </a:r>
            <a:r>
              <a:rPr lang="en-US" sz="1200" dirty="0">
                <a:solidFill>
                  <a:srgbClr val="FFFFFF"/>
                </a:solidFill>
                <a:latin typeface="PT Sans" pitchFamily="34" charset="0"/>
                <a:ea typeface="PT Sans" pitchFamily="34" charset="-122"/>
                <a:cs typeface="PT Sans" pitchFamily="34" charset="-120"/>
              </a:rPr>
              <a:t> (</a:t>
            </a:r>
            <a:r>
              <a:rPr lang="en-US" sz="1200" dirty="0" err="1">
                <a:solidFill>
                  <a:srgbClr val="FFFFFF"/>
                </a:solidFill>
                <a:latin typeface="PT Sans" pitchFamily="34" charset="0"/>
                <a:ea typeface="PT Sans" pitchFamily="34" charset="-122"/>
                <a:cs typeface="PT Sans" pitchFamily="34" charset="-120"/>
              </a:rPr>
              <a:t>porque</a:t>
            </a:r>
            <a:r>
              <a:rPr lang="en-US" sz="1200" dirty="0">
                <a:solidFill>
                  <a:srgbClr val="FFFFFF"/>
                </a:solidFill>
                <a:latin typeface="PT Sans" pitchFamily="34" charset="0"/>
                <a:ea typeface="PT Sans" pitchFamily="34" charset="-122"/>
                <a:cs typeface="PT Sans" pitchFamily="34" charset="-120"/>
              </a:rPr>
              <a:t> no </a:t>
            </a:r>
            <a:r>
              <a:rPr lang="en-US" sz="1200" dirty="0" err="1">
                <a:solidFill>
                  <a:srgbClr val="FFFFFF"/>
                </a:solidFill>
                <a:latin typeface="PT Sans" pitchFamily="34" charset="0"/>
                <a:ea typeface="PT Sans" pitchFamily="34" charset="-122"/>
                <a:cs typeface="PT Sans" pitchFamily="34" charset="-120"/>
              </a:rPr>
              <a:t>queda</a:t>
            </a:r>
            <a:r>
              <a:rPr lang="en-US" sz="1200" dirty="0">
                <a:solidFill>
                  <a:srgbClr val="FFFFFF"/>
                </a:solidFill>
                <a:latin typeface="PT Sans" pitchFamily="34" charset="0"/>
                <a:ea typeface="PT Sans" pitchFamily="34" charset="-122"/>
                <a:cs typeface="PT Sans" pitchFamily="34" charset="-120"/>
              </a:rPr>
              <a:t> </a:t>
            </a:r>
            <a:r>
              <a:rPr lang="en-US" sz="1200" dirty="0" err="1">
                <a:solidFill>
                  <a:srgbClr val="FFFFFF"/>
                </a:solidFill>
                <a:latin typeface="PT Sans" pitchFamily="34" charset="0"/>
                <a:ea typeface="PT Sans" pitchFamily="34" charset="-122"/>
                <a:cs typeface="PT Sans" pitchFamily="34" charset="-120"/>
              </a:rPr>
              <a:t>otro</a:t>
            </a:r>
            <a:r>
              <a:rPr lang="en-US" sz="1200" dirty="0">
                <a:solidFill>
                  <a:srgbClr val="FFFFFF"/>
                </a:solidFill>
                <a:latin typeface="PT Sans" pitchFamily="34" charset="0"/>
                <a:ea typeface="PT Sans" pitchFamily="34" charset="-122"/>
                <a:cs typeface="PT Sans" pitchFamily="34" charset="-120"/>
              </a:rPr>
              <a:t> </a:t>
            </a:r>
            <a:r>
              <a:rPr lang="en-US" sz="1200" dirty="0" err="1">
                <a:solidFill>
                  <a:srgbClr val="FFFFFF"/>
                </a:solidFill>
                <a:latin typeface="PT Sans" pitchFamily="34" charset="0"/>
                <a:ea typeface="PT Sans" pitchFamily="34" charset="-122"/>
                <a:cs typeface="PT Sans" pitchFamily="34" charset="-120"/>
              </a:rPr>
              <a:t>remedio</a:t>
            </a:r>
            <a:r>
              <a:rPr lang="en-US" sz="1200" dirty="0">
                <a:solidFill>
                  <a:srgbClr val="FFFFFF"/>
                </a:solidFill>
                <a:latin typeface="PT Sans" pitchFamily="34" charset="0"/>
                <a:ea typeface="PT Sans" pitchFamily="34" charset="-122"/>
                <a:cs typeface="PT Sans" pitchFamily="34" charset="-120"/>
              </a:rPr>
              <a:t>). </a:t>
            </a:r>
            <a:r>
              <a:rPr lang="en-US" sz="1200" dirty="0" err="1">
                <a:solidFill>
                  <a:srgbClr val="FFFFFF"/>
                </a:solidFill>
                <a:latin typeface="PT Sans" pitchFamily="34" charset="0"/>
                <a:ea typeface="PT Sans" pitchFamily="34" charset="-122"/>
                <a:cs typeface="PT Sans" pitchFamily="34" charset="-120"/>
              </a:rPr>
              <a:t>Sólo</a:t>
            </a:r>
            <a:r>
              <a:rPr lang="en-US" sz="1200" dirty="0">
                <a:solidFill>
                  <a:srgbClr val="FFFFFF"/>
                </a:solidFill>
                <a:latin typeface="PT Sans" pitchFamily="34" charset="0"/>
                <a:ea typeface="PT Sans" pitchFamily="34" charset="-122"/>
                <a:cs typeface="PT Sans" pitchFamily="34" charset="-120"/>
              </a:rPr>
              <a:t> </a:t>
            </a:r>
            <a:r>
              <a:rPr lang="en-US" sz="1200" dirty="0" err="1">
                <a:solidFill>
                  <a:srgbClr val="FFFFFF"/>
                </a:solidFill>
                <a:latin typeface="PT Sans" pitchFamily="34" charset="0"/>
                <a:ea typeface="PT Sans" pitchFamily="34" charset="-122"/>
                <a:cs typeface="PT Sans" pitchFamily="34" charset="-120"/>
              </a:rPr>
              <a:t>tres</a:t>
            </a:r>
            <a:r>
              <a:rPr lang="en-US" sz="1200" dirty="0">
                <a:solidFill>
                  <a:srgbClr val="FFFFFF"/>
                </a:solidFill>
                <a:latin typeface="PT Sans" pitchFamily="34" charset="0"/>
                <a:ea typeface="PT Sans" pitchFamily="34" charset="-122"/>
                <a:cs typeface="PT Sans" pitchFamily="34" charset="-120"/>
              </a:rPr>
              <a:t> </a:t>
            </a:r>
            <a:r>
              <a:rPr lang="en-US" sz="1200" dirty="0" err="1">
                <a:solidFill>
                  <a:srgbClr val="FFFFFF"/>
                </a:solidFill>
                <a:latin typeface="PT Sans" pitchFamily="34" charset="0"/>
                <a:ea typeface="PT Sans" pitchFamily="34" charset="-122"/>
                <a:cs typeface="PT Sans" pitchFamily="34" charset="-120"/>
              </a:rPr>
              <a:t>directoraS</a:t>
            </a:r>
            <a:r>
              <a:rPr lang="en-US" sz="1200" dirty="0">
                <a:solidFill>
                  <a:srgbClr val="FFFFFF"/>
                </a:solidFill>
                <a:latin typeface="PT Sans" pitchFamily="34" charset="0"/>
                <a:ea typeface="PT Sans" pitchFamily="34" charset="-122"/>
                <a:cs typeface="PT Sans" pitchFamily="34" charset="-120"/>
              </a:rPr>
              <a:t> lo </a:t>
            </a:r>
            <a:r>
              <a:rPr lang="en-US" sz="1200" dirty="0" err="1">
                <a:solidFill>
                  <a:srgbClr val="FFFFFF"/>
                </a:solidFill>
                <a:latin typeface="PT Sans" pitchFamily="34" charset="0"/>
                <a:ea typeface="PT Sans" pitchFamily="34" charset="-122"/>
                <a:cs typeface="PT Sans" pitchFamily="34" charset="-120"/>
              </a:rPr>
              <a:t>han</a:t>
            </a:r>
            <a:r>
              <a:rPr lang="en-US" sz="1200" dirty="0">
                <a:solidFill>
                  <a:srgbClr val="FFFFFF"/>
                </a:solidFill>
                <a:latin typeface="PT Sans" pitchFamily="34" charset="0"/>
                <a:ea typeface="PT Sans" pitchFamily="34" charset="-122"/>
                <a:cs typeface="PT Sans" pitchFamily="34" charset="-120"/>
              </a:rPr>
              <a:t> Ganado en la </a:t>
            </a:r>
            <a:r>
              <a:rPr lang="en-US" sz="1200" dirty="0" err="1">
                <a:solidFill>
                  <a:srgbClr val="FFFFFF"/>
                </a:solidFill>
                <a:latin typeface="PT Sans" pitchFamily="34" charset="0"/>
                <a:ea typeface="PT Sans" pitchFamily="34" charset="-122"/>
                <a:cs typeface="PT Sans" pitchFamily="34" charset="-120"/>
              </a:rPr>
              <a:t>historia</a:t>
            </a:r>
            <a:r>
              <a:rPr lang="en-US" sz="1200" dirty="0">
                <a:solidFill>
                  <a:srgbClr val="FFFFFF"/>
                </a:solidFill>
                <a:latin typeface="PT Sans" pitchFamily="34" charset="0"/>
                <a:ea typeface="PT Sans" pitchFamily="34" charset="-122"/>
                <a:cs typeface="PT Sans" pitchFamily="34" charset="-120"/>
              </a:rPr>
              <a:t> y en </a:t>
            </a:r>
            <a:r>
              <a:rPr lang="en-US" sz="1200" dirty="0" err="1">
                <a:solidFill>
                  <a:srgbClr val="FFFFFF"/>
                </a:solidFill>
                <a:latin typeface="PT Sans" pitchFamily="34" charset="0"/>
                <a:ea typeface="PT Sans" pitchFamily="34" charset="-122"/>
                <a:cs typeface="PT Sans" pitchFamily="34" charset="-120"/>
              </a:rPr>
              <a:t>fotografía</a:t>
            </a:r>
            <a:r>
              <a:rPr lang="en-US" sz="1200" dirty="0">
                <a:solidFill>
                  <a:srgbClr val="FFFFFF"/>
                </a:solidFill>
                <a:latin typeface="PT Sans" pitchFamily="34" charset="0"/>
                <a:ea typeface="PT Sans" pitchFamily="34" charset="-122"/>
                <a:cs typeface="PT Sans" pitchFamily="34" charset="-120"/>
              </a:rPr>
              <a:t> la </a:t>
            </a:r>
            <a:r>
              <a:rPr lang="en-US" sz="1200" dirty="0" err="1">
                <a:solidFill>
                  <a:srgbClr val="FFFFFF"/>
                </a:solidFill>
                <a:latin typeface="PT Sans" pitchFamily="34" charset="0"/>
                <a:ea typeface="PT Sans" pitchFamily="34" charset="-122"/>
                <a:cs typeface="PT Sans" pitchFamily="34" charset="-120"/>
              </a:rPr>
              <a:t>primera</a:t>
            </a:r>
            <a:r>
              <a:rPr lang="en-US" sz="1200" dirty="0">
                <a:solidFill>
                  <a:srgbClr val="FFFFFF"/>
                </a:solidFill>
                <a:latin typeface="PT Sans" pitchFamily="34" charset="0"/>
                <a:ea typeface="PT Sans" pitchFamily="34" charset="-122"/>
                <a:cs typeface="PT Sans" pitchFamily="34" charset="-120"/>
              </a:rPr>
              <a:t> ha </a:t>
            </a:r>
            <a:r>
              <a:rPr lang="en-US" sz="1200" dirty="0" err="1">
                <a:solidFill>
                  <a:srgbClr val="FFFFFF"/>
                </a:solidFill>
                <a:latin typeface="PT Sans" pitchFamily="34" charset="0"/>
                <a:ea typeface="PT Sans" pitchFamily="34" charset="-122"/>
                <a:cs typeface="PT Sans" pitchFamily="34" charset="-120"/>
              </a:rPr>
              <a:t>sido</a:t>
            </a:r>
            <a:r>
              <a:rPr lang="en-US" sz="1200" dirty="0">
                <a:solidFill>
                  <a:srgbClr val="FFFFFF"/>
                </a:solidFill>
                <a:latin typeface="PT Sans" pitchFamily="34" charset="0"/>
                <a:ea typeface="PT Sans" pitchFamily="34" charset="-122"/>
                <a:cs typeface="PT Sans" pitchFamily="34" charset="-120"/>
              </a:rPr>
              <a:t> </a:t>
            </a:r>
            <a:r>
              <a:rPr lang="en-US" sz="1200" dirty="0" err="1">
                <a:solidFill>
                  <a:srgbClr val="FFFFFF"/>
                </a:solidFill>
                <a:latin typeface="PT Sans" pitchFamily="34" charset="0"/>
                <a:ea typeface="PT Sans" pitchFamily="34" charset="-122"/>
                <a:cs typeface="PT Sans" pitchFamily="34" charset="-120"/>
              </a:rPr>
              <a:t>este</a:t>
            </a:r>
            <a:r>
              <a:rPr lang="en-US" sz="1200" dirty="0">
                <a:solidFill>
                  <a:srgbClr val="FFFFFF"/>
                </a:solidFill>
                <a:latin typeface="PT Sans" pitchFamily="34" charset="0"/>
                <a:ea typeface="PT Sans" pitchFamily="34" charset="-122"/>
                <a:cs typeface="PT Sans" pitchFamily="34" charset="-120"/>
              </a:rPr>
              <a:t> </a:t>
            </a:r>
            <a:r>
              <a:rPr lang="en-US" sz="1200" dirty="0" err="1">
                <a:solidFill>
                  <a:srgbClr val="FFFFFF"/>
                </a:solidFill>
                <a:latin typeface="PT Sans" pitchFamily="34" charset="0"/>
                <a:ea typeface="PT Sans" pitchFamily="34" charset="-122"/>
                <a:cs typeface="PT Sans" pitchFamily="34" charset="-120"/>
              </a:rPr>
              <a:t>año</a:t>
            </a:r>
            <a:r>
              <a:rPr lang="en-US" sz="1200" dirty="0">
                <a:solidFill>
                  <a:srgbClr val="FFFFFF"/>
                </a:solidFill>
                <a:latin typeface="PT Sans" pitchFamily="34" charset="0"/>
                <a:ea typeface="PT Sans" pitchFamily="34" charset="-122"/>
                <a:cs typeface="PT Sans" pitchFamily="34" charset="-120"/>
              </a:rPr>
              <a:t>.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Vemos</a:t>
            </a:r>
            <a:r>
              <a:rPr lang="en-US" dirty="0"/>
              <a:t> la </a:t>
            </a:r>
            <a:r>
              <a:rPr lang="en-US" dirty="0" err="1"/>
              <a:t>función</a:t>
            </a:r>
            <a:r>
              <a:rPr lang="en-US" dirty="0"/>
              <a:t> de </a:t>
            </a:r>
            <a:r>
              <a:rPr lang="en-US" dirty="0" err="1"/>
              <a:t>densidad</a:t>
            </a:r>
            <a:r>
              <a:rPr lang="en-US" dirty="0"/>
              <a:t> de </a:t>
            </a:r>
            <a:r>
              <a:rPr lang="en-US" dirty="0" err="1"/>
              <a:t>probabilidad</a:t>
            </a:r>
            <a:r>
              <a:rPr lang="en-US" dirty="0"/>
              <a:t> </a:t>
            </a:r>
          </a:p>
          <a:p>
            <a:r>
              <a:rPr lang="en-US" dirty="0"/>
              <a:t>La </a:t>
            </a:r>
            <a:r>
              <a:rPr lang="en-US" dirty="0" err="1"/>
              <a:t>edad</a:t>
            </a:r>
            <a:r>
              <a:rPr lang="en-US" dirty="0"/>
              <a:t> </a:t>
            </a:r>
            <a:r>
              <a:rPr lang="en-US" dirty="0" err="1"/>
              <a:t>más</a:t>
            </a:r>
            <a:r>
              <a:rPr lang="en-US" dirty="0"/>
              <a:t> probable para </a:t>
            </a:r>
            <a:r>
              <a:rPr lang="en-US" dirty="0" err="1"/>
              <a:t>ganar</a:t>
            </a:r>
            <a:r>
              <a:rPr lang="en-US" dirty="0"/>
              <a:t> un Oscar </a:t>
            </a:r>
            <a:r>
              <a:rPr lang="en-US" dirty="0" err="1"/>
              <a:t>siendo</a:t>
            </a:r>
            <a:r>
              <a:rPr lang="en-US" dirty="0"/>
              <a:t> </a:t>
            </a:r>
            <a:r>
              <a:rPr lang="en-US" dirty="0" err="1"/>
              <a:t>mujer</a:t>
            </a:r>
            <a:r>
              <a:rPr lang="en-US" dirty="0"/>
              <a:t> son 31 y para  un hombre 42 </a:t>
            </a:r>
          </a:p>
          <a:p>
            <a:r>
              <a:rPr lang="en-US" dirty="0" err="1"/>
              <a:t>Además</a:t>
            </a:r>
            <a:r>
              <a:rPr lang="en-US" dirty="0"/>
              <a:t> el 75% </a:t>
            </a:r>
            <a:r>
              <a:rPr lang="en-US" dirty="0" err="1"/>
              <a:t>blablabla</a:t>
            </a:r>
            <a:r>
              <a:rPr lang="en-US" dirty="0"/>
              <a:t>… la Ventana de </a:t>
            </a:r>
            <a:r>
              <a:rPr lang="en-US" dirty="0" err="1"/>
              <a:t>oportunidad</a:t>
            </a:r>
            <a:r>
              <a:rPr lang="en-US" dirty="0"/>
              <a:t> se Cierra antes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solidFill>
                  <a:srgbClr val="FFFFFF"/>
                </a:solidFill>
                <a:latin typeface="PT Sans" pitchFamily="34" charset="0"/>
                <a:ea typeface="PT Sans" pitchFamily="34" charset="-122"/>
                <a:cs typeface="PT Sans" pitchFamily="34" charset="-120"/>
              </a:rPr>
              <a:t>Finalmente</a:t>
            </a:r>
            <a:r>
              <a:rPr lang="en-US" sz="1200" dirty="0">
                <a:solidFill>
                  <a:srgbClr val="FFFFFF"/>
                </a:solidFill>
                <a:latin typeface="PT Sans" pitchFamily="34" charset="0"/>
                <a:ea typeface="PT Sans" pitchFamily="34" charset="-122"/>
                <a:cs typeface="PT Sans" pitchFamily="34" charset="-120"/>
              </a:rPr>
              <a:t> y </a:t>
            </a:r>
            <a:r>
              <a:rPr lang="en-US" sz="1200" dirty="0" err="1">
                <a:solidFill>
                  <a:srgbClr val="FFFFFF"/>
                </a:solidFill>
                <a:latin typeface="PT Sans" pitchFamily="34" charset="0"/>
                <a:ea typeface="PT Sans" pitchFamily="34" charset="-122"/>
                <a:cs typeface="PT Sans" pitchFamily="34" charset="-120"/>
              </a:rPr>
              <a:t>ya</a:t>
            </a:r>
            <a:r>
              <a:rPr lang="en-US" sz="1200" dirty="0">
                <a:solidFill>
                  <a:srgbClr val="FFFFFF"/>
                </a:solidFill>
                <a:latin typeface="PT Sans" pitchFamily="34" charset="0"/>
                <a:ea typeface="PT Sans" pitchFamily="34" charset="-122"/>
                <a:cs typeface="PT Sans" pitchFamily="34" charset="-120"/>
              </a:rPr>
              <a:t> </a:t>
            </a:r>
            <a:r>
              <a:rPr lang="en-US" sz="1200" dirty="0" err="1">
                <a:solidFill>
                  <a:srgbClr val="FFFFFF"/>
                </a:solidFill>
                <a:latin typeface="PT Sans" pitchFamily="34" charset="0"/>
                <a:ea typeface="PT Sans" pitchFamily="34" charset="-122"/>
                <a:cs typeface="PT Sans" pitchFamily="34" charset="-120"/>
              </a:rPr>
              <a:t>que</a:t>
            </a:r>
            <a:r>
              <a:rPr lang="en-US" sz="1200" dirty="0">
                <a:solidFill>
                  <a:srgbClr val="FFFFFF"/>
                </a:solidFill>
                <a:latin typeface="PT Sans" pitchFamily="34" charset="0"/>
                <a:ea typeface="PT Sans" pitchFamily="34" charset="-122"/>
                <a:cs typeface="PT Sans" pitchFamily="34" charset="-120"/>
              </a:rPr>
              <a:t> Estaba </a:t>
            </a:r>
            <a:r>
              <a:rPr lang="en-US" sz="1200" dirty="0" err="1">
                <a:solidFill>
                  <a:srgbClr val="FFFFFF"/>
                </a:solidFill>
                <a:latin typeface="PT Sans" pitchFamily="34" charset="0"/>
                <a:ea typeface="PT Sans" pitchFamily="34" charset="-122"/>
                <a:cs typeface="PT Sans" pitchFamily="34" charset="-120"/>
              </a:rPr>
              <a:t>quise</a:t>
            </a:r>
            <a:r>
              <a:rPr lang="en-US" sz="1200" dirty="0">
                <a:solidFill>
                  <a:srgbClr val="FFFFFF"/>
                </a:solidFill>
                <a:latin typeface="PT Sans" pitchFamily="34" charset="0"/>
                <a:ea typeface="PT Sans" pitchFamily="34" charset="-122"/>
                <a:cs typeface="PT Sans" pitchFamily="34" charset="-120"/>
              </a:rPr>
              <a:t> </a:t>
            </a:r>
            <a:r>
              <a:rPr lang="en-US" sz="1200" dirty="0" err="1">
                <a:solidFill>
                  <a:srgbClr val="FFFFFF"/>
                </a:solidFill>
                <a:latin typeface="PT Sans" pitchFamily="34" charset="0"/>
                <a:ea typeface="PT Sans" pitchFamily="34" charset="-122"/>
                <a:cs typeface="PT Sans" pitchFamily="34" charset="-120"/>
              </a:rPr>
              <a:t>comprobar</a:t>
            </a:r>
            <a:r>
              <a:rPr lang="en-US" sz="1200" dirty="0">
                <a:solidFill>
                  <a:srgbClr val="FFFFFF"/>
                </a:solidFill>
                <a:latin typeface="PT Sans" pitchFamily="34" charset="0"/>
                <a:ea typeface="PT Sans" pitchFamily="34" charset="-122"/>
                <a:cs typeface="PT Sans" pitchFamily="34" charset="-120"/>
              </a:rPr>
              <a:t> </a:t>
            </a:r>
            <a:r>
              <a:rPr lang="en-US" sz="1200" dirty="0" err="1">
                <a:solidFill>
                  <a:srgbClr val="FFFFFF"/>
                </a:solidFill>
                <a:latin typeface="PT Sans" pitchFamily="34" charset="0"/>
                <a:ea typeface="PT Sans" pitchFamily="34" charset="-122"/>
                <a:cs typeface="PT Sans" pitchFamily="34" charset="-120"/>
              </a:rPr>
              <a:t>cómo</a:t>
            </a:r>
            <a:r>
              <a:rPr lang="en-US" sz="1200" dirty="0">
                <a:solidFill>
                  <a:srgbClr val="FFFFFF"/>
                </a:solidFill>
                <a:latin typeface="PT Sans" pitchFamily="34" charset="0"/>
                <a:ea typeface="PT Sans" pitchFamily="34" charset="-122"/>
                <a:cs typeface="PT Sans" pitchFamily="34" charset="-120"/>
              </a:rPr>
              <a:t> </a:t>
            </a:r>
            <a:r>
              <a:rPr lang="en-US" sz="1200" dirty="0" err="1">
                <a:solidFill>
                  <a:srgbClr val="FFFFFF"/>
                </a:solidFill>
                <a:latin typeface="PT Sans" pitchFamily="34" charset="0"/>
                <a:ea typeface="PT Sans" pitchFamily="34" charset="-122"/>
                <a:cs typeface="PT Sans" pitchFamily="34" charset="-120"/>
              </a:rPr>
              <a:t>si</a:t>
            </a:r>
            <a:r>
              <a:rPr lang="en-US" sz="1200" dirty="0">
                <a:solidFill>
                  <a:srgbClr val="FFFFFF"/>
                </a:solidFill>
                <a:latin typeface="PT Sans" pitchFamily="34" charset="0"/>
                <a:ea typeface="PT Sans" pitchFamily="34" charset="-122"/>
                <a:cs typeface="PT Sans" pitchFamily="34" charset="-120"/>
              </a:rPr>
              <a:t> ha </a:t>
            </a:r>
            <a:r>
              <a:rPr lang="en-US" sz="1200" dirty="0" err="1">
                <a:solidFill>
                  <a:srgbClr val="FFFFFF"/>
                </a:solidFill>
                <a:latin typeface="PT Sans" pitchFamily="34" charset="0"/>
                <a:ea typeface="PT Sans" pitchFamily="34" charset="-122"/>
                <a:cs typeface="PT Sans" pitchFamily="34" charset="-120"/>
              </a:rPr>
              <a:t>habido</a:t>
            </a:r>
            <a:r>
              <a:rPr lang="en-US" sz="1200" dirty="0">
                <a:solidFill>
                  <a:srgbClr val="FFFFFF"/>
                </a:solidFill>
                <a:latin typeface="PT Sans" pitchFamily="34" charset="0"/>
                <a:ea typeface="PT Sans" pitchFamily="34" charset="-122"/>
                <a:cs typeface="PT Sans" pitchFamily="34" charset="-120"/>
              </a:rPr>
              <a:t> </a:t>
            </a:r>
            <a:r>
              <a:rPr lang="en-US" sz="1200" dirty="0" err="1">
                <a:solidFill>
                  <a:srgbClr val="FFFFFF"/>
                </a:solidFill>
                <a:latin typeface="PT Sans" pitchFamily="34" charset="0"/>
                <a:ea typeface="PT Sans" pitchFamily="34" charset="-122"/>
                <a:cs typeface="PT Sans" pitchFamily="34" charset="-120"/>
              </a:rPr>
              <a:t>variaciones</a:t>
            </a:r>
            <a:r>
              <a:rPr lang="en-US" sz="1200" dirty="0">
                <a:solidFill>
                  <a:srgbClr val="FFFFFF"/>
                </a:solidFill>
                <a:latin typeface="PT Sans" pitchFamily="34" charset="0"/>
                <a:ea typeface="PT Sans" pitchFamily="34" charset="-122"/>
                <a:cs typeface="PT Sans" pitchFamily="34" charset="-120"/>
              </a:rPr>
              <a:t> en el </a:t>
            </a:r>
            <a:r>
              <a:rPr lang="en-US" sz="1200" dirty="0" err="1">
                <a:solidFill>
                  <a:srgbClr val="FFFFFF"/>
                </a:solidFill>
                <a:latin typeface="PT Sans" pitchFamily="34" charset="0"/>
                <a:ea typeface="PT Sans" pitchFamily="34" charset="-122"/>
                <a:cs typeface="PT Sans" pitchFamily="34" charset="-120"/>
              </a:rPr>
              <a:t>tiempo</a:t>
            </a:r>
            <a:r>
              <a:rPr lang="en-US" sz="1200" dirty="0">
                <a:solidFill>
                  <a:srgbClr val="FFFFFF"/>
                </a:solidFill>
                <a:latin typeface="PT Sans" pitchFamily="34" charset="0"/>
                <a:ea typeface="PT Sans" pitchFamily="34" charset="-122"/>
                <a:cs typeface="PT Sans" pitchFamily="34" charset="-120"/>
              </a:rPr>
              <a:t>. </a:t>
            </a:r>
            <a:r>
              <a:rPr lang="en-US" sz="1200" dirty="0" err="1">
                <a:solidFill>
                  <a:srgbClr val="FFFFFF"/>
                </a:solidFill>
                <a:latin typeface="PT Sans" pitchFamily="34" charset="0"/>
                <a:ea typeface="PT Sans" pitchFamily="34" charset="-122"/>
                <a:cs typeface="PT Sans" pitchFamily="34" charset="-120"/>
              </a:rPr>
              <a:t>Tomando</a:t>
            </a:r>
            <a:r>
              <a:rPr lang="en-US" sz="1200" dirty="0">
                <a:solidFill>
                  <a:srgbClr val="FFFFFF"/>
                </a:solidFill>
                <a:latin typeface="PT Sans" pitchFamily="34" charset="0"/>
                <a:ea typeface="PT Sans" pitchFamily="34" charset="-122"/>
                <a:cs typeface="PT Sans" pitchFamily="34" charset="-120"/>
              </a:rPr>
              <a:t> </a:t>
            </a:r>
            <a:r>
              <a:rPr lang="en-US" sz="1200" dirty="0" err="1">
                <a:solidFill>
                  <a:srgbClr val="FFFFFF"/>
                </a:solidFill>
                <a:latin typeface="PT Sans" pitchFamily="34" charset="0"/>
                <a:ea typeface="PT Sans" pitchFamily="34" charset="-122"/>
                <a:cs typeface="PT Sans" pitchFamily="34" charset="-120"/>
              </a:rPr>
              <a:t>como</a:t>
            </a:r>
            <a:r>
              <a:rPr lang="en-US" sz="1200" dirty="0">
                <a:solidFill>
                  <a:srgbClr val="FFFFFF"/>
                </a:solidFill>
                <a:latin typeface="PT Sans" pitchFamily="34" charset="0"/>
                <a:ea typeface="PT Sans" pitchFamily="34" charset="-122"/>
                <a:cs typeface="PT Sans" pitchFamily="34" charset="-120"/>
              </a:rPr>
              <a:t> </a:t>
            </a:r>
            <a:r>
              <a:rPr lang="en-US" sz="1200" dirty="0" err="1">
                <a:solidFill>
                  <a:srgbClr val="FFFFFF"/>
                </a:solidFill>
                <a:latin typeface="PT Sans" pitchFamily="34" charset="0"/>
                <a:ea typeface="PT Sans" pitchFamily="34" charset="-122"/>
                <a:cs typeface="PT Sans" pitchFamily="34" charset="-120"/>
              </a:rPr>
              <a:t>métrica</a:t>
            </a:r>
            <a:r>
              <a:rPr lang="en-US" sz="1200" dirty="0">
                <a:solidFill>
                  <a:srgbClr val="FFFFFF"/>
                </a:solidFill>
                <a:latin typeface="PT Sans" pitchFamily="34" charset="0"/>
                <a:ea typeface="PT Sans" pitchFamily="34" charset="-122"/>
                <a:cs typeface="PT Sans" pitchFamily="34" charset="-120"/>
              </a:rPr>
              <a:t> la </a:t>
            </a:r>
            <a:r>
              <a:rPr lang="en-US" sz="1200" b="1" dirty="0" err="1">
                <a:solidFill>
                  <a:srgbClr val="FFFFFF"/>
                </a:solidFill>
                <a:latin typeface="PT Sans" pitchFamily="34" charset="0"/>
                <a:ea typeface="PT Sans" pitchFamily="34" charset="-122"/>
                <a:cs typeface="PT Sans" pitchFamily="34" charset="-120"/>
              </a:rPr>
              <a:t>edad</a:t>
            </a:r>
            <a:r>
              <a:rPr lang="en-US" sz="1200" b="1" dirty="0">
                <a:solidFill>
                  <a:srgbClr val="FFFFFF"/>
                </a:solidFill>
                <a:latin typeface="PT Sans" pitchFamily="34" charset="0"/>
                <a:ea typeface="PT Sans" pitchFamily="34" charset="-122"/>
                <a:cs typeface="PT Sans" pitchFamily="34" charset="-120"/>
              </a:rPr>
              <a:t> media</a:t>
            </a:r>
            <a:r>
              <a:rPr lang="en-US" sz="1200" dirty="0">
                <a:solidFill>
                  <a:srgbClr val="FFFFFF"/>
                </a:solidFill>
                <a:latin typeface="PT Sans" pitchFamily="34" charset="0"/>
                <a:ea typeface="PT Sans" pitchFamily="34" charset="-122"/>
                <a:cs typeface="PT Sans" pitchFamily="34" charset="-120"/>
              </a:rPr>
              <a:t> de </a:t>
            </a:r>
            <a:r>
              <a:rPr lang="en-US" sz="1200" dirty="0" err="1">
                <a:solidFill>
                  <a:srgbClr val="FFFFFF"/>
                </a:solidFill>
                <a:latin typeface="PT Sans" pitchFamily="34" charset="0"/>
                <a:ea typeface="PT Sans" pitchFamily="34" charset="-122"/>
                <a:cs typeface="PT Sans" pitchFamily="34" charset="-120"/>
              </a:rPr>
              <a:t>los</a:t>
            </a:r>
            <a:r>
              <a:rPr lang="en-US" sz="1200" dirty="0">
                <a:solidFill>
                  <a:srgbClr val="FFFFFF"/>
                </a:solidFill>
                <a:latin typeface="PT Sans" pitchFamily="34" charset="0"/>
                <a:ea typeface="PT Sans" pitchFamily="34" charset="-122"/>
                <a:cs typeface="PT Sans" pitchFamily="34" charset="-120"/>
              </a:rPr>
              <a:t> </a:t>
            </a:r>
            <a:r>
              <a:rPr lang="en-US" sz="1200" dirty="0" err="1">
                <a:solidFill>
                  <a:srgbClr val="FFFFFF"/>
                </a:solidFill>
                <a:latin typeface="PT Sans" pitchFamily="34" charset="0"/>
                <a:ea typeface="PT Sans" pitchFamily="34" charset="-122"/>
                <a:cs typeface="PT Sans" pitchFamily="34" charset="-120"/>
              </a:rPr>
              <a:t>ganadores</a:t>
            </a:r>
            <a:r>
              <a:rPr lang="en-US" sz="1200" dirty="0">
                <a:solidFill>
                  <a:srgbClr val="FFFFFF"/>
                </a:solidFill>
                <a:latin typeface="PT Sans" pitchFamily="34" charset="0"/>
                <a:ea typeface="PT Sans" pitchFamily="34" charset="-122"/>
                <a:cs typeface="PT Sans" pitchFamily="34" charset="-120"/>
              </a:rPr>
              <a:t> </a:t>
            </a:r>
            <a:r>
              <a:rPr lang="en-US" sz="1200" dirty="0" err="1">
                <a:solidFill>
                  <a:srgbClr val="FFFFFF"/>
                </a:solidFill>
                <a:latin typeface="PT Sans" pitchFamily="34" charset="0"/>
                <a:ea typeface="PT Sans" pitchFamily="34" charset="-122"/>
                <a:cs typeface="PT Sans" pitchFamily="34" charset="-120"/>
              </a:rPr>
              <a:t>por</a:t>
            </a:r>
            <a:r>
              <a:rPr lang="en-US" sz="1200" dirty="0">
                <a:solidFill>
                  <a:srgbClr val="FFFFFF"/>
                </a:solidFill>
                <a:latin typeface="PT Sans" pitchFamily="34" charset="0"/>
                <a:ea typeface="PT Sans" pitchFamily="34" charset="-122"/>
                <a:cs typeface="PT Sans" pitchFamily="34" charset="-120"/>
              </a:rPr>
              <a:t> </a:t>
            </a:r>
            <a:r>
              <a:rPr lang="en-US" sz="1200" dirty="0" err="1">
                <a:solidFill>
                  <a:srgbClr val="FFFFFF"/>
                </a:solidFill>
                <a:latin typeface="PT Sans" pitchFamily="34" charset="0"/>
                <a:ea typeface="PT Sans" pitchFamily="34" charset="-122"/>
                <a:cs typeface="PT Sans" pitchFamily="34" charset="-120"/>
              </a:rPr>
              <a:t>década</a:t>
            </a:r>
            <a:r>
              <a:rPr lang="en-US" sz="1200" b="0" kern="1200" dirty="0">
                <a:solidFill>
                  <a:srgbClr val="FFFFFF"/>
                </a:solidFill>
                <a:effectLst/>
                <a:latin typeface="PT Sans" pitchFamily="34" charset="0"/>
                <a:ea typeface="PT Sans" pitchFamily="34" charset="-122"/>
                <a:cs typeface="PT Sans" pitchFamily="34" charset="-12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rgbClr val="FFFFFF"/>
                </a:solidFill>
                <a:effectLst/>
                <a:latin typeface="PT Sans" pitchFamily="34" charset="0"/>
                <a:ea typeface="+mn-ea"/>
                <a:cs typeface="+mn-cs"/>
              </a:rPr>
              <a:t>Se </a:t>
            </a:r>
            <a:r>
              <a:rPr lang="en-US" sz="1200" b="0" kern="1200" dirty="0" err="1">
                <a:solidFill>
                  <a:srgbClr val="FFFFFF"/>
                </a:solidFill>
                <a:effectLst/>
                <a:latin typeface="PT Sans" pitchFamily="34" charset="0"/>
                <a:ea typeface="+mn-ea"/>
                <a:cs typeface="+mn-cs"/>
              </a:rPr>
              <a:t>observa</a:t>
            </a:r>
            <a:r>
              <a:rPr lang="en-US" sz="1200" b="0" kern="1200" dirty="0">
                <a:solidFill>
                  <a:srgbClr val="FFFFFF"/>
                </a:solidFill>
                <a:effectLst/>
                <a:latin typeface="PT Sans" pitchFamily="34" charset="0"/>
                <a:ea typeface="+mn-ea"/>
                <a:cs typeface="+mn-cs"/>
              </a:rPr>
              <a:t>: </a:t>
            </a:r>
            <a:r>
              <a:rPr lang="en-US" sz="1200" b="0" kern="1200" dirty="0" err="1">
                <a:solidFill>
                  <a:srgbClr val="FFFFFF"/>
                </a:solidFill>
                <a:effectLst/>
                <a:latin typeface="PT Sans" pitchFamily="34" charset="0"/>
                <a:ea typeface="+mn-ea"/>
                <a:cs typeface="+mn-cs"/>
              </a:rPr>
              <a:t>blablabla</a:t>
            </a:r>
            <a:endParaRPr lang="es-E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kern="1200" dirty="0">
                <a:solidFill>
                  <a:schemeClr val="tx1"/>
                </a:solidFill>
                <a:effectLst/>
                <a:latin typeface="+mn-lt"/>
                <a:ea typeface="+mn-ea"/>
                <a:cs typeface="+mn-cs"/>
              </a:rPr>
              <a:t>Es cierto que son sólo 4 ganadores por año (40 por década </a:t>
            </a:r>
            <a:r>
              <a:rPr lang="es-ES" sz="1200" b="0" kern="1200" dirty="0" err="1">
                <a:solidFill>
                  <a:schemeClr val="tx1"/>
                </a:solidFill>
                <a:effectLst/>
                <a:latin typeface="+mn-lt"/>
                <a:ea typeface="+mn-ea"/>
                <a:cs typeface="+mn-cs"/>
              </a:rPr>
              <a:t>aprox</a:t>
            </a:r>
            <a:r>
              <a:rPr lang="es-ES" sz="1200" b="0" kern="1200" dirty="0">
                <a:solidFill>
                  <a:schemeClr val="tx1"/>
                </a:solidFill>
                <a:effectLst/>
                <a:latin typeface="+mn-lt"/>
                <a:ea typeface="+mn-ea"/>
                <a:cs typeface="+mn-cs"/>
              </a:rPr>
              <a:t>) con lo cual cualquier patrón extraño (ganador muy joven o muy mayor) altera bastante la media. Además sólo hay tres ediciones en los años 20.</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kern="1200" dirty="0">
                <a:solidFill>
                  <a:schemeClr val="tx1"/>
                </a:solidFill>
                <a:effectLst/>
                <a:latin typeface="+mn-lt"/>
                <a:ea typeface="+mn-ea"/>
                <a:cs typeface="+mn-cs"/>
              </a:rPr>
              <a:t>Por curiosidad hice el mismo análisis para los nominados (por tener más datos) y el patrón no variaba sustancialmente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s-ES" dirty="0"/>
              <a:t>Finalmente como conclusiones no diré tenemos la receta del éxito pero sí algunas cosas relevantes:</a:t>
            </a:r>
          </a:p>
          <a:p>
            <a:pPr marL="0" indent="0">
              <a:buFontTx/>
              <a:buNone/>
            </a:pPr>
            <a:r>
              <a:rPr lang="es-ES" dirty="0"/>
              <a:t>Las </a:t>
            </a:r>
            <a:r>
              <a:rPr lang="es-ES" dirty="0" err="1"/>
              <a:t>peliculas</a:t>
            </a:r>
            <a:r>
              <a:rPr lang="es-ES" dirty="0"/>
              <a:t> con mayor presupuesto y </a:t>
            </a:r>
            <a:r>
              <a:rPr lang="es-ES" dirty="0" err="1"/>
              <a:t>recaudacion</a:t>
            </a:r>
            <a:r>
              <a:rPr lang="es-ES" dirty="0"/>
              <a:t> tienen mas probabilidades de ser nominadas a los </a:t>
            </a:r>
            <a:r>
              <a:rPr lang="es-ES" dirty="0" err="1"/>
              <a:t>Oscars</a:t>
            </a:r>
            <a:r>
              <a:rPr lang="es-ES" dirty="0"/>
              <a:t>.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s-ES" dirty="0"/>
              <a:t>Ciertos </a:t>
            </a:r>
            <a:r>
              <a:rPr lang="es-ES" dirty="0" err="1"/>
              <a:t>generos</a:t>
            </a:r>
            <a:r>
              <a:rPr lang="es-ES" dirty="0"/>
              <a:t> </a:t>
            </a:r>
            <a:r>
              <a:rPr lang="es-ES" dirty="0" err="1"/>
              <a:t>cinematograficos</a:t>
            </a:r>
            <a:r>
              <a:rPr lang="es-ES" dirty="0"/>
              <a:t> </a:t>
            </a:r>
            <a:r>
              <a:rPr lang="es-ES" dirty="0" err="1"/>
              <a:t>estan</a:t>
            </a:r>
            <a:r>
              <a:rPr lang="es-ES" dirty="0"/>
              <a:t> favorecidos en los </a:t>
            </a:r>
            <a:r>
              <a:rPr lang="es-ES" dirty="0" err="1"/>
              <a:t>Oscars</a:t>
            </a:r>
            <a:r>
              <a:rPr lang="es-ES" dirty="0"/>
              <a:t> respecto a su </a:t>
            </a:r>
            <a:r>
              <a:rPr lang="es-ES" dirty="0" err="1"/>
              <a:t>representacion</a:t>
            </a:r>
            <a:r>
              <a:rPr lang="es-ES" dirty="0"/>
              <a:t> real en la industria.</a:t>
            </a:r>
          </a:p>
          <a:p>
            <a:r>
              <a:rPr lang="es-ES" dirty="0"/>
              <a:t>• Las </a:t>
            </a:r>
            <a:r>
              <a:rPr lang="es-ES" dirty="0" err="1"/>
              <a:t>peliculas</a:t>
            </a:r>
            <a:r>
              <a:rPr lang="es-ES" dirty="0"/>
              <a:t> mejor valoradas por el publico reciben mas nominaciones. </a:t>
            </a:r>
          </a:p>
          <a:p>
            <a:r>
              <a:rPr lang="es-ES" dirty="0"/>
              <a:t>- Las grandes ganadoras </a:t>
            </a:r>
          </a:p>
          <a:p>
            <a:r>
              <a:rPr lang="es-ES" dirty="0"/>
              <a:t>• Las actrices ganadoras son de media mas </a:t>
            </a:r>
            <a:r>
              <a:rPr lang="es-ES" dirty="0" err="1"/>
              <a:t>jovenes</a:t>
            </a:r>
            <a:r>
              <a:rPr lang="es-ES" dirty="0"/>
              <a:t> que los actores ganadores.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Género</a:t>
            </a:r>
            <a:r>
              <a:rPr lang="en-US" dirty="0"/>
              <a:t> -- </a:t>
            </a:r>
            <a:r>
              <a:rPr lang="es-ES" sz="1200" kern="1200" dirty="0">
                <a:solidFill>
                  <a:schemeClr val="tx1"/>
                </a:solidFill>
                <a:effectLst/>
                <a:latin typeface="+mn-lt"/>
                <a:ea typeface="+mn-ea"/>
                <a:cs typeface="+mn-cs"/>
              </a:rPr>
              <a:t>Algunos ejemplos podrían ser analizar las edades de protagonistas masculinos y femeninos y sus recaudaciones, analizar la relación entre tiempo en pantalla o longitud de diálogo y edad, analizar las diferencias entre las películas dirigidas y/o escritas por hombres y mujeres: presupuestos, recaudación, si presentan personajes protagonistas con mayor diversidad de género y edad, cruzar test de </a:t>
            </a:r>
            <a:r>
              <a:rPr lang="es-ES" sz="1200" kern="1200" dirty="0" err="1">
                <a:solidFill>
                  <a:schemeClr val="tx1"/>
                </a:solidFill>
                <a:effectLst/>
                <a:latin typeface="+mn-lt"/>
                <a:ea typeface="+mn-ea"/>
                <a:cs typeface="+mn-cs"/>
              </a:rPr>
              <a:t>bechdel</a:t>
            </a:r>
            <a:r>
              <a:rPr lang="es-ES" sz="1200" kern="1200" dirty="0">
                <a:solidFill>
                  <a:schemeClr val="tx1"/>
                </a:solidFill>
                <a:effectLst/>
                <a:latin typeface="+mn-lt"/>
                <a:ea typeface="+mn-ea"/>
                <a:cs typeface="+mn-cs"/>
              </a:rPr>
              <a:t> con datos de recaudación, incluir factores de diversidad corporal o racial, datos de redes sociales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Marcador de notas 2"/>
          <p:cNvSpPr>
            <a:spLocks noGrp="1"/>
          </p:cNvSpPr>
          <p:nvPr>
            <p:ph type="body" idx="1"/>
          </p:nvPr>
        </p:nvSpPr>
        <p:spPr>
          <a:xfrm>
            <a:off x="822325" y="7040563"/>
            <a:ext cx="6584950" cy="5761037"/>
          </a:xfrm>
          <a:prstGeom prst="rect">
            <a:avLst/>
          </a:prstGeom>
        </p:spPr>
        <p:txBody>
          <a:bodyPr/>
          <a:lstStyle/>
          <a:p>
            <a:endParaRPr lang="es-ES" dirty="0"/>
          </a:p>
        </p:txBody>
      </p:sp>
    </p:spTree>
    <p:extLst>
      <p:ext uri="{BB962C8B-B14F-4D97-AF65-F5344CB8AC3E}">
        <p14:creationId xmlns:p14="http://schemas.microsoft.com/office/powerpoint/2010/main" val="28242080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txBody>
          <a:bodyPr/>
          <a:lstStyle/>
          <a:p>
            <a:endParaRPr lang="es-E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txBody>
          <a:bodyPr/>
          <a:lstStyle/>
          <a:p>
            <a:endParaRPr lang="es-E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txBody>
          <a:bodyPr/>
          <a:lstStyle/>
          <a:p>
            <a:endParaRPr lang="es-E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txBody>
          <a:bodyPr/>
          <a:lstStyle/>
          <a:p>
            <a:endParaRPr lang="es-E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txBody>
          <a:bodyPr/>
          <a:lstStyle/>
          <a:p>
            <a:endParaRPr lang="es-E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txBody>
          <a:bodyPr/>
          <a:lstStyle/>
          <a:p>
            <a:endParaRPr lang="es-E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txBody>
          <a:bodyPr/>
          <a:lstStyle/>
          <a:p>
            <a:endParaRPr lang="es-E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txBody>
          <a:bodyPr/>
          <a:lstStyle/>
          <a:p>
            <a:endParaRPr lang="es-E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txBody>
          <a:bodyPr/>
          <a:lstStyle/>
          <a:p>
            <a:endParaRPr lang="es-E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txBody>
          <a:bodyPr/>
          <a:lstStyle/>
          <a:p>
            <a:endParaRPr lang="es-E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txBody>
          <a:bodyPr/>
          <a:lstStyle/>
          <a:p>
            <a:endParaRPr lang="es-E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txBody>
          <a:bodyPr/>
          <a:lstStyle/>
          <a:p>
            <a:endParaRPr lang="es-E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txBody>
          <a:bodyPr/>
          <a:lstStyle/>
          <a:p>
            <a:endParaRPr lang="es-E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7.sv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1.png"/><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31.svg"/><Relationship Id="rId7"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image" Target="../media/image5.svg"/><Relationship Id="rId5" Type="http://schemas.openxmlformats.org/officeDocument/2006/relationships/image" Target="../media/image33.svg"/><Relationship Id="rId4" Type="http://schemas.openxmlformats.org/officeDocument/2006/relationships/image" Target="../media/image32.sv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9144000" y="0"/>
            <a:ext cx="5486400" cy="8229600"/>
          </a:xfrm>
          <a:prstGeom prst="rect">
            <a:avLst/>
          </a:prstGeom>
          <a:solidFill>
            <a:srgbClr val="00002E"/>
          </a:solidFill>
          <a:ln/>
        </p:spPr>
        <p:txBody>
          <a:bodyPr/>
          <a:lstStyle/>
          <a:p>
            <a:endParaRPr lang="es-ES"/>
          </a:p>
        </p:txBody>
      </p:sp>
      <p:pic>
        <p:nvPicPr>
          <p:cNvPr id="3" name="Image 0" descr="preencoded.png"/>
          <p:cNvPicPr>
            <a:picLocks noChangeAspect="1"/>
          </p:cNvPicPr>
          <p:nvPr/>
        </p:nvPicPr>
        <p:blipFill>
          <a:blip r:embed="rId3"/>
          <a:stretch>
            <a:fillRect/>
          </a:stretch>
        </p:blipFill>
        <p:spPr>
          <a:xfrm>
            <a:off x="8789524" y="179486"/>
            <a:ext cx="5247084" cy="7870627"/>
          </a:xfrm>
          <a:prstGeom prst="rect">
            <a:avLst/>
          </a:prstGeom>
        </p:spPr>
      </p:pic>
      <p:sp>
        <p:nvSpPr>
          <p:cNvPr id="4" name="Text 1"/>
          <p:cNvSpPr/>
          <p:nvPr/>
        </p:nvSpPr>
        <p:spPr>
          <a:xfrm>
            <a:off x="837724" y="3010972"/>
            <a:ext cx="7468553" cy="1408033"/>
          </a:xfrm>
          <a:prstGeom prst="rect">
            <a:avLst/>
          </a:prstGeom>
          <a:noFill/>
          <a:ln/>
        </p:spPr>
        <p:txBody>
          <a:bodyPr wrap="square" lIns="0" tIns="0" rIns="0" bIns="0" rtlCol="0" anchor="t"/>
          <a:lstStyle/>
          <a:p>
            <a:pPr marL="0" indent="0" algn="l">
              <a:lnSpc>
                <a:spcPts val="5500"/>
              </a:lnSpc>
              <a:buNone/>
            </a:pPr>
            <a:r>
              <a:rPr lang="en-US" sz="4400" dirty="0">
                <a:solidFill>
                  <a:srgbClr val="FFFFFF"/>
                </a:solidFill>
                <a:latin typeface="Nunito Semi Bold" pitchFamily="34" charset="0"/>
                <a:ea typeface="Nunito Semi Bold" pitchFamily="34" charset="-122"/>
                <a:cs typeface="Nunito Semi Bold" pitchFamily="34" charset="-120"/>
              </a:rPr>
              <a:t>Descifrando el Éxito en la Gran Pantalla</a:t>
            </a:r>
            <a:endParaRPr lang="en-US" sz="4400" dirty="0"/>
          </a:p>
        </p:txBody>
      </p:sp>
      <p:sp>
        <p:nvSpPr>
          <p:cNvPr id="5" name="Text 2"/>
          <p:cNvSpPr/>
          <p:nvPr/>
        </p:nvSpPr>
        <p:spPr>
          <a:xfrm>
            <a:off x="837724" y="4514731"/>
            <a:ext cx="7468553" cy="703898"/>
          </a:xfrm>
          <a:prstGeom prst="rect">
            <a:avLst/>
          </a:prstGeom>
          <a:noFill/>
          <a:ln/>
        </p:spPr>
        <p:txBody>
          <a:bodyPr wrap="square" lIns="0" tIns="0" rIns="0" bIns="0" rtlCol="0" anchor="t"/>
          <a:lstStyle/>
          <a:p>
            <a:pPr marL="0" indent="0" algn="l">
              <a:lnSpc>
                <a:spcPts val="2750"/>
              </a:lnSpc>
              <a:buNone/>
            </a:pPr>
            <a:r>
              <a:rPr lang="en-US" sz="2200" dirty="0">
                <a:solidFill>
                  <a:srgbClr val="FFFFFF"/>
                </a:solidFill>
                <a:latin typeface="Nunito Semi Bold" pitchFamily="34" charset="0"/>
                <a:ea typeface="Nunito Semi Bold" pitchFamily="34" charset="-122"/>
                <a:cs typeface="Nunito Semi Bold" pitchFamily="34" charset="-120"/>
              </a:rPr>
              <a:t>Análisis Exploratorio de Datos </a:t>
            </a:r>
          </a:p>
          <a:p>
            <a:pPr>
              <a:lnSpc>
                <a:spcPts val="2750"/>
              </a:lnSpc>
            </a:pPr>
            <a:r>
              <a:rPr lang="es-ES" sz="2200" dirty="0">
                <a:solidFill>
                  <a:srgbClr val="FFFFFF"/>
                </a:solidFill>
                <a:latin typeface="Nunito Semi Bold" pitchFamily="34" charset="0"/>
              </a:rPr>
              <a:t>¿Hay factores que determinan el éxito en los Óscar?</a:t>
            </a:r>
            <a:endParaRPr lang="en-US" sz="2200" dirty="0">
              <a:solidFill>
                <a:srgbClr val="FFFFFF"/>
              </a:solidFill>
              <a:latin typeface="Nunito Semi Bold"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37724" y="1236702"/>
            <a:ext cx="8773597" cy="704017"/>
          </a:xfrm>
          <a:prstGeom prst="rect">
            <a:avLst/>
          </a:prstGeom>
          <a:noFill/>
          <a:ln/>
        </p:spPr>
        <p:txBody>
          <a:bodyPr wrap="none" lIns="0" tIns="0" rIns="0" bIns="0" rtlCol="0" anchor="t"/>
          <a:lstStyle/>
          <a:p>
            <a:pPr marL="0" indent="0" algn="l">
              <a:lnSpc>
                <a:spcPts val="5500"/>
              </a:lnSpc>
              <a:buNone/>
            </a:pPr>
            <a:r>
              <a:rPr lang="en-US" sz="4400" dirty="0">
                <a:solidFill>
                  <a:srgbClr val="FFFFFF"/>
                </a:solidFill>
                <a:latin typeface="Nunito Semi Bold" pitchFamily="34" charset="0"/>
                <a:ea typeface="Nunito Semi Bold" pitchFamily="34" charset="-122"/>
                <a:cs typeface="Nunito Semi Bold" pitchFamily="34" charset="-120"/>
              </a:rPr>
              <a:t>Idea del </a:t>
            </a:r>
            <a:r>
              <a:rPr lang="en-US" sz="4400" dirty="0" err="1">
                <a:solidFill>
                  <a:srgbClr val="FFFFFF"/>
                </a:solidFill>
                <a:latin typeface="Nunito Semi Bold" pitchFamily="34" charset="0"/>
                <a:ea typeface="Nunito Semi Bold" pitchFamily="34" charset="-122"/>
                <a:cs typeface="Nunito Semi Bold" pitchFamily="34" charset="-120"/>
              </a:rPr>
              <a:t>análisis</a:t>
            </a:r>
            <a:endParaRPr lang="en-US" sz="4400" dirty="0"/>
          </a:p>
        </p:txBody>
      </p:sp>
      <p:pic>
        <p:nvPicPr>
          <p:cNvPr id="3" name="Image 0" descr="preencoded.png"/>
          <p:cNvPicPr>
            <a:picLocks noChangeAspect="1"/>
          </p:cNvPicPr>
          <p:nvPr/>
        </p:nvPicPr>
        <p:blipFill>
          <a:blip r:embed="rId3"/>
          <a:stretch>
            <a:fillRect/>
          </a:stretch>
        </p:blipFill>
        <p:spPr>
          <a:xfrm>
            <a:off x="837724" y="2568893"/>
            <a:ext cx="4154686" cy="4154686"/>
          </a:xfrm>
          <a:prstGeom prst="rect">
            <a:avLst/>
          </a:prstGeom>
        </p:spPr>
      </p:pic>
      <p:sp>
        <p:nvSpPr>
          <p:cNvPr id="4" name="Text 1"/>
          <p:cNvSpPr/>
          <p:nvPr/>
        </p:nvSpPr>
        <p:spPr>
          <a:xfrm>
            <a:off x="5583912" y="2982516"/>
            <a:ext cx="8216265" cy="766048"/>
          </a:xfrm>
          <a:prstGeom prst="rect">
            <a:avLst/>
          </a:prstGeom>
          <a:noFill/>
          <a:ln/>
        </p:spPr>
        <p:txBody>
          <a:bodyPr wrap="square" lIns="0" tIns="0" rIns="0" bIns="0" rtlCol="0" anchor="t"/>
          <a:lstStyle/>
          <a:p>
            <a:pPr marL="0" indent="0" algn="l">
              <a:lnSpc>
                <a:spcPts val="3000"/>
              </a:lnSpc>
              <a:buNone/>
            </a:pPr>
            <a:r>
              <a:rPr lang="en-US" sz="2800" dirty="0">
                <a:solidFill>
                  <a:srgbClr val="FFFFFF"/>
                </a:solidFill>
                <a:latin typeface="PT Sans" pitchFamily="34" charset="0"/>
                <a:ea typeface="PT Sans" pitchFamily="34" charset="-122"/>
                <a:cs typeface="PT Sans" pitchFamily="34" charset="-120"/>
              </a:rPr>
              <a:t>¿Hay </a:t>
            </a:r>
            <a:r>
              <a:rPr lang="en-US" sz="2800" dirty="0" err="1">
                <a:solidFill>
                  <a:srgbClr val="FFFFFF"/>
                </a:solidFill>
                <a:latin typeface="PT Sans" pitchFamily="34" charset="0"/>
                <a:ea typeface="PT Sans" pitchFamily="34" charset="-122"/>
                <a:cs typeface="PT Sans" pitchFamily="34" charset="-120"/>
              </a:rPr>
              <a:t>una</a:t>
            </a:r>
            <a:r>
              <a:rPr lang="en-US" sz="2800" dirty="0">
                <a:solidFill>
                  <a:srgbClr val="FFFFFF"/>
                </a:solidFill>
                <a:latin typeface="PT Sans" pitchFamily="34" charset="0"/>
                <a:ea typeface="PT Sans" pitchFamily="34" charset="-122"/>
                <a:cs typeface="PT Sans" pitchFamily="34" charset="-120"/>
              </a:rPr>
              <a:t> </a:t>
            </a:r>
            <a:r>
              <a:rPr lang="en-US" sz="2800" dirty="0" err="1">
                <a:solidFill>
                  <a:srgbClr val="FFFFFF"/>
                </a:solidFill>
                <a:latin typeface="PT Sans" pitchFamily="34" charset="0"/>
                <a:ea typeface="PT Sans" pitchFamily="34" charset="-122"/>
                <a:cs typeface="PT Sans" pitchFamily="34" charset="-120"/>
              </a:rPr>
              <a:t>receta</a:t>
            </a:r>
            <a:r>
              <a:rPr lang="en-US" sz="2800" dirty="0">
                <a:solidFill>
                  <a:srgbClr val="FFFFFF"/>
                </a:solidFill>
                <a:latin typeface="PT Sans" pitchFamily="34" charset="0"/>
                <a:ea typeface="PT Sans" pitchFamily="34" charset="-122"/>
                <a:cs typeface="PT Sans" pitchFamily="34" charset="-120"/>
              </a:rPr>
              <a:t> para el </a:t>
            </a:r>
            <a:r>
              <a:rPr lang="en-US" sz="2800" dirty="0" err="1">
                <a:solidFill>
                  <a:srgbClr val="FFFFFF"/>
                </a:solidFill>
                <a:latin typeface="PT Sans" pitchFamily="34" charset="0"/>
                <a:ea typeface="PT Sans" pitchFamily="34" charset="-122"/>
                <a:cs typeface="PT Sans" pitchFamily="34" charset="-120"/>
              </a:rPr>
              <a:t>éxito</a:t>
            </a:r>
            <a:r>
              <a:rPr lang="en-US" sz="2800" dirty="0">
                <a:solidFill>
                  <a:srgbClr val="FFFFFF"/>
                </a:solidFill>
                <a:latin typeface="PT Sans" pitchFamily="34" charset="0"/>
                <a:ea typeface="PT Sans" pitchFamily="34" charset="-122"/>
                <a:cs typeface="PT Sans" pitchFamily="34" charset="-120"/>
              </a:rPr>
              <a:t>? </a:t>
            </a:r>
            <a:endParaRPr lang="en-US" sz="2800" dirty="0"/>
          </a:p>
        </p:txBody>
      </p:sp>
      <p:sp>
        <p:nvSpPr>
          <p:cNvPr id="5" name="Text 2"/>
          <p:cNvSpPr/>
          <p:nvPr/>
        </p:nvSpPr>
        <p:spPr>
          <a:xfrm>
            <a:off x="5583912" y="3963948"/>
            <a:ext cx="8216265" cy="766048"/>
          </a:xfrm>
          <a:prstGeom prst="rect">
            <a:avLst/>
          </a:prstGeom>
          <a:noFill/>
          <a:ln/>
        </p:spPr>
        <p:txBody>
          <a:bodyPr wrap="square" lIns="0" tIns="0" rIns="0" bIns="0" rtlCol="0" anchor="t"/>
          <a:lstStyle/>
          <a:p>
            <a:pPr>
              <a:lnSpc>
                <a:spcPts val="3000"/>
              </a:lnSpc>
            </a:pPr>
            <a:r>
              <a:rPr lang="en-US" sz="1850" dirty="0">
                <a:solidFill>
                  <a:srgbClr val="FFFFFF"/>
                </a:solidFill>
                <a:latin typeface="PT Sans" pitchFamily="34" charset="0"/>
                <a:ea typeface="PT Sans" pitchFamily="34" charset="-122"/>
                <a:cs typeface="PT Sans" pitchFamily="34" charset="-120"/>
              </a:rPr>
              <a:t> ¿Hay </a:t>
            </a:r>
            <a:r>
              <a:rPr lang="en-US" sz="1850" dirty="0" err="1">
                <a:solidFill>
                  <a:srgbClr val="FFFFFF"/>
                </a:solidFill>
                <a:latin typeface="PT Sans" pitchFamily="34" charset="0"/>
                <a:ea typeface="PT Sans" pitchFamily="34" charset="-122"/>
                <a:cs typeface="PT Sans" pitchFamily="34" charset="-120"/>
              </a:rPr>
              <a:t>factores</a:t>
            </a:r>
            <a:r>
              <a:rPr lang="en-US" sz="1850" dirty="0">
                <a:solidFill>
                  <a:srgbClr val="FFFFFF"/>
                </a:solidFill>
                <a:latin typeface="PT Sans" pitchFamily="34" charset="0"/>
                <a:ea typeface="PT Sans" pitchFamily="34" charset="-122"/>
                <a:cs typeface="PT Sans" pitchFamily="34" charset="-120"/>
              </a:rPr>
              <a:t> </a:t>
            </a:r>
            <a:r>
              <a:rPr lang="en-US" sz="1850" dirty="0" err="1">
                <a:solidFill>
                  <a:srgbClr val="FFFFFF"/>
                </a:solidFill>
                <a:latin typeface="PT Sans" pitchFamily="34" charset="0"/>
                <a:ea typeface="PT Sans" pitchFamily="34" charset="-122"/>
                <a:cs typeface="PT Sans" pitchFamily="34" charset="-120"/>
              </a:rPr>
              <a:t>comunes</a:t>
            </a:r>
            <a:r>
              <a:rPr lang="en-US" sz="1850" dirty="0">
                <a:solidFill>
                  <a:srgbClr val="FFFFFF"/>
                </a:solidFill>
                <a:latin typeface="PT Sans" pitchFamily="34" charset="0"/>
                <a:ea typeface="PT Sans" pitchFamily="34" charset="-122"/>
                <a:cs typeface="PT Sans" pitchFamily="34" charset="-120"/>
              </a:rPr>
              <a:t>? ¿Influye un presupuesto millonario, el género elegido, la calidad o algo intangible?</a:t>
            </a:r>
            <a:endParaRPr lang="en-US" sz="1850" dirty="0"/>
          </a:p>
        </p:txBody>
      </p:sp>
      <p:sp>
        <p:nvSpPr>
          <p:cNvPr id="6" name="Text 3"/>
          <p:cNvSpPr/>
          <p:nvPr/>
        </p:nvSpPr>
        <p:spPr>
          <a:xfrm>
            <a:off x="5583912" y="4945380"/>
            <a:ext cx="8216265" cy="383024"/>
          </a:xfrm>
          <a:prstGeom prst="rect">
            <a:avLst/>
          </a:prstGeom>
          <a:noFill/>
          <a:ln/>
        </p:spPr>
        <p:txBody>
          <a:bodyPr wrap="none" lIns="0" tIns="0" rIns="0" bIns="0" rtlCol="0" anchor="t"/>
          <a:lstStyle/>
          <a:p>
            <a:pPr marL="0" indent="0" algn="l">
              <a:lnSpc>
                <a:spcPts val="3000"/>
              </a:lnSpc>
              <a:buNone/>
            </a:pPr>
            <a:r>
              <a:rPr lang="en-US" sz="1850" dirty="0">
                <a:solidFill>
                  <a:srgbClr val="FFFFFF"/>
                </a:solidFill>
                <a:latin typeface="PT Sans" pitchFamily="34" charset="0"/>
                <a:ea typeface="PT Sans" pitchFamily="34" charset="-122"/>
                <a:cs typeface="PT Sans" pitchFamily="34" charset="-120"/>
              </a:rPr>
              <a:t>¿Qué es el éxito? Hablaremos de premios, nominaciones, recaudación…</a:t>
            </a:r>
            <a:endParaRPr lang="en-US" sz="1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72358" y="669012"/>
            <a:ext cx="5192435" cy="649010"/>
          </a:xfrm>
          <a:prstGeom prst="rect">
            <a:avLst/>
          </a:prstGeom>
          <a:noFill/>
          <a:ln/>
        </p:spPr>
        <p:txBody>
          <a:bodyPr wrap="none" lIns="0" tIns="0" rIns="0" bIns="0" rtlCol="0" anchor="t"/>
          <a:lstStyle/>
          <a:p>
            <a:pPr marL="0" indent="0" algn="l">
              <a:lnSpc>
                <a:spcPts val="5100"/>
              </a:lnSpc>
              <a:buNone/>
            </a:pPr>
            <a:r>
              <a:rPr lang="en-US" sz="4050" dirty="0">
                <a:solidFill>
                  <a:srgbClr val="FFFFFF"/>
                </a:solidFill>
                <a:latin typeface="Nunito Semi Bold" pitchFamily="34" charset="0"/>
                <a:ea typeface="Nunito Semi Bold" pitchFamily="34" charset="-122"/>
                <a:cs typeface="Nunito Semi Bold" pitchFamily="34" charset="-120"/>
              </a:rPr>
              <a:t>Datos y contexto</a:t>
            </a:r>
            <a:endParaRPr lang="en-US" sz="4050" dirty="0"/>
          </a:p>
        </p:txBody>
      </p:sp>
      <p:sp>
        <p:nvSpPr>
          <p:cNvPr id="3" name="Shape 1"/>
          <p:cNvSpPr/>
          <p:nvPr/>
        </p:nvSpPr>
        <p:spPr>
          <a:xfrm>
            <a:off x="772358" y="1724858"/>
            <a:ext cx="6441162" cy="3155275"/>
          </a:xfrm>
          <a:prstGeom prst="roundRect">
            <a:avLst>
              <a:gd name="adj" fmla="val 10491"/>
            </a:avLst>
          </a:prstGeom>
          <a:solidFill>
            <a:srgbClr val="00002E"/>
          </a:solidFill>
          <a:ln w="22860">
            <a:solidFill>
              <a:srgbClr val="F2B42D"/>
            </a:solidFill>
            <a:prstDash val="solid"/>
          </a:ln>
        </p:spPr>
        <p:txBody>
          <a:bodyPr/>
          <a:lstStyle/>
          <a:p>
            <a:endParaRPr lang="es-ES"/>
          </a:p>
        </p:txBody>
      </p:sp>
      <p:sp>
        <p:nvSpPr>
          <p:cNvPr id="4" name="Shape 2"/>
          <p:cNvSpPr/>
          <p:nvPr/>
        </p:nvSpPr>
        <p:spPr>
          <a:xfrm>
            <a:off x="1015841" y="1968341"/>
            <a:ext cx="661987" cy="661988"/>
          </a:xfrm>
          <a:prstGeom prst="roundRect">
            <a:avLst>
              <a:gd name="adj" fmla="val 13811579"/>
            </a:avLst>
          </a:prstGeom>
          <a:solidFill>
            <a:srgbClr val="F2B42D"/>
          </a:solidFill>
          <a:ln/>
        </p:spPr>
        <p:txBody>
          <a:bodyPr/>
          <a:lstStyle/>
          <a:p>
            <a:endParaRPr lang="es-ES"/>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97888" y="2150269"/>
            <a:ext cx="297894" cy="297894"/>
          </a:xfrm>
          <a:prstGeom prst="rect">
            <a:avLst/>
          </a:prstGeom>
        </p:spPr>
      </p:pic>
      <p:sp>
        <p:nvSpPr>
          <p:cNvPr id="6" name="Text 3"/>
          <p:cNvSpPr/>
          <p:nvPr/>
        </p:nvSpPr>
        <p:spPr>
          <a:xfrm>
            <a:off x="1015841" y="2833688"/>
            <a:ext cx="2596158" cy="324564"/>
          </a:xfrm>
          <a:prstGeom prst="rect">
            <a:avLst/>
          </a:prstGeom>
          <a:noFill/>
          <a:ln/>
        </p:spPr>
        <p:txBody>
          <a:bodyPr wrap="none" lIns="0" tIns="0" rIns="0" bIns="0" rtlCol="0" anchor="t"/>
          <a:lstStyle/>
          <a:p>
            <a:pPr marL="0" indent="0" algn="l">
              <a:lnSpc>
                <a:spcPts val="2550"/>
              </a:lnSpc>
              <a:buNone/>
            </a:pPr>
            <a:r>
              <a:rPr lang="en-US" sz="2000" dirty="0">
                <a:solidFill>
                  <a:srgbClr val="FFFFFF"/>
                </a:solidFill>
                <a:latin typeface="Nunito Semi Bold" pitchFamily="34" charset="0"/>
                <a:ea typeface="Nunito Semi Bold" pitchFamily="34" charset="-122"/>
                <a:cs typeface="Nunito Semi Bold" pitchFamily="34" charset="-120"/>
              </a:rPr>
              <a:t>Dataset de partida</a:t>
            </a:r>
            <a:endParaRPr lang="en-US" sz="2000" dirty="0"/>
          </a:p>
        </p:txBody>
      </p:sp>
      <p:sp>
        <p:nvSpPr>
          <p:cNvPr id="7" name="Text 4"/>
          <p:cNvSpPr/>
          <p:nvPr/>
        </p:nvSpPr>
        <p:spPr>
          <a:xfrm>
            <a:off x="1015841" y="3280291"/>
            <a:ext cx="5954197" cy="1356360"/>
          </a:xfrm>
          <a:prstGeom prst="rect">
            <a:avLst/>
          </a:prstGeom>
          <a:noFill/>
          <a:ln/>
        </p:spPr>
        <p:txBody>
          <a:bodyPr wrap="square" lIns="0" tIns="0" rIns="0" bIns="0" rtlCol="0" anchor="t"/>
          <a:lstStyle/>
          <a:p>
            <a:pPr marL="0" indent="0" algn="l">
              <a:lnSpc>
                <a:spcPts val="2650"/>
              </a:lnSpc>
              <a:buNone/>
            </a:pPr>
            <a:r>
              <a:rPr lang="en-US" sz="1700" dirty="0">
                <a:solidFill>
                  <a:srgbClr val="FFFFFF"/>
                </a:solidFill>
                <a:latin typeface="PT Sans" pitchFamily="34" charset="0"/>
                <a:ea typeface="PT Sans" pitchFamily="34" charset="-122"/>
                <a:cs typeface="PT Sans" pitchFamily="34" charset="-120"/>
              </a:rPr>
              <a:t>TMDb IMDb Movies Dataset 2024 con más de 430000 películas de partida complementado con Oscars Awards con todos los nominados y ganadores de premios </a:t>
            </a:r>
            <a:r>
              <a:rPr lang="en-US" sz="1700" dirty="0" err="1">
                <a:solidFill>
                  <a:srgbClr val="FFFFFF"/>
                </a:solidFill>
                <a:latin typeface="PT Sans" pitchFamily="34" charset="0"/>
                <a:ea typeface="PT Sans" pitchFamily="34" charset="-122"/>
                <a:cs typeface="PT Sans" pitchFamily="34" charset="-120"/>
              </a:rPr>
              <a:t>desde</a:t>
            </a:r>
            <a:r>
              <a:rPr lang="en-US" sz="1700" dirty="0">
                <a:solidFill>
                  <a:srgbClr val="FFFFFF"/>
                </a:solidFill>
                <a:latin typeface="PT Sans" pitchFamily="34" charset="0"/>
                <a:ea typeface="PT Sans" pitchFamily="34" charset="-122"/>
                <a:cs typeface="PT Sans" pitchFamily="34" charset="-120"/>
              </a:rPr>
              <a:t> 1927 hasta 2024.</a:t>
            </a:r>
            <a:endParaRPr lang="en-US" sz="1700" dirty="0"/>
          </a:p>
        </p:txBody>
      </p:sp>
      <p:sp>
        <p:nvSpPr>
          <p:cNvPr id="8" name="Shape 5"/>
          <p:cNvSpPr/>
          <p:nvPr/>
        </p:nvSpPr>
        <p:spPr>
          <a:xfrm>
            <a:off x="7416879" y="1724858"/>
            <a:ext cx="6441162" cy="3155275"/>
          </a:xfrm>
          <a:prstGeom prst="roundRect">
            <a:avLst>
              <a:gd name="adj" fmla="val 10491"/>
            </a:avLst>
          </a:prstGeom>
          <a:solidFill>
            <a:srgbClr val="00002E"/>
          </a:solidFill>
          <a:ln w="22860">
            <a:solidFill>
              <a:srgbClr val="D7425E"/>
            </a:solidFill>
            <a:prstDash val="solid"/>
          </a:ln>
        </p:spPr>
        <p:txBody>
          <a:bodyPr/>
          <a:lstStyle/>
          <a:p>
            <a:endParaRPr lang="es-ES"/>
          </a:p>
        </p:txBody>
      </p:sp>
      <p:sp>
        <p:nvSpPr>
          <p:cNvPr id="9" name="Shape 6"/>
          <p:cNvSpPr/>
          <p:nvPr/>
        </p:nvSpPr>
        <p:spPr>
          <a:xfrm>
            <a:off x="7660362" y="1968341"/>
            <a:ext cx="661987" cy="661988"/>
          </a:xfrm>
          <a:prstGeom prst="roundRect">
            <a:avLst>
              <a:gd name="adj" fmla="val 13811579"/>
            </a:avLst>
          </a:prstGeom>
          <a:solidFill>
            <a:srgbClr val="D7425E"/>
          </a:solidFill>
          <a:ln/>
        </p:spPr>
        <p:txBody>
          <a:bodyPr/>
          <a:lstStyle/>
          <a:p>
            <a:endParaRPr lang="es-ES"/>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42409" y="2150269"/>
            <a:ext cx="297894" cy="297894"/>
          </a:xfrm>
          <a:prstGeom prst="rect">
            <a:avLst/>
          </a:prstGeom>
        </p:spPr>
      </p:pic>
      <p:sp>
        <p:nvSpPr>
          <p:cNvPr id="11" name="Text 7"/>
          <p:cNvSpPr/>
          <p:nvPr/>
        </p:nvSpPr>
        <p:spPr>
          <a:xfrm>
            <a:off x="7660362" y="2833688"/>
            <a:ext cx="2596158" cy="324564"/>
          </a:xfrm>
          <a:prstGeom prst="rect">
            <a:avLst/>
          </a:prstGeom>
          <a:noFill/>
          <a:ln/>
        </p:spPr>
        <p:txBody>
          <a:bodyPr wrap="none" lIns="0" tIns="0" rIns="0" bIns="0" rtlCol="0" anchor="t"/>
          <a:lstStyle/>
          <a:p>
            <a:pPr marL="0" indent="0" algn="l">
              <a:lnSpc>
                <a:spcPts val="2550"/>
              </a:lnSpc>
              <a:buNone/>
            </a:pPr>
            <a:r>
              <a:rPr lang="en-US" sz="2000" dirty="0">
                <a:solidFill>
                  <a:srgbClr val="FFFFFF"/>
                </a:solidFill>
                <a:latin typeface="Nunito Semi Bold" pitchFamily="34" charset="0"/>
                <a:ea typeface="Nunito Semi Bold" pitchFamily="34" charset="-122"/>
                <a:cs typeface="Nunito Semi Bold" pitchFamily="34" charset="-120"/>
              </a:rPr>
              <a:t>Limpieza</a:t>
            </a:r>
            <a:endParaRPr lang="en-US" sz="2000" dirty="0"/>
          </a:p>
        </p:txBody>
      </p:sp>
      <p:sp>
        <p:nvSpPr>
          <p:cNvPr id="12" name="Text 8"/>
          <p:cNvSpPr/>
          <p:nvPr/>
        </p:nvSpPr>
        <p:spPr>
          <a:xfrm>
            <a:off x="7660362" y="3280291"/>
            <a:ext cx="5954197" cy="678180"/>
          </a:xfrm>
          <a:prstGeom prst="rect">
            <a:avLst/>
          </a:prstGeom>
          <a:noFill/>
          <a:ln/>
        </p:spPr>
        <p:txBody>
          <a:bodyPr wrap="square" lIns="0" tIns="0" rIns="0" bIns="0" rtlCol="0" anchor="t"/>
          <a:lstStyle/>
          <a:p>
            <a:pPr marL="0" indent="0" algn="l">
              <a:lnSpc>
                <a:spcPts val="2650"/>
              </a:lnSpc>
              <a:buNone/>
            </a:pPr>
            <a:r>
              <a:rPr lang="en-US" sz="1700" b="1" dirty="0">
                <a:solidFill>
                  <a:srgbClr val="FFFFFF"/>
                </a:solidFill>
                <a:latin typeface="PT Sans" pitchFamily="34" charset="0"/>
                <a:ea typeface="PT Sans" pitchFamily="34" charset="-122"/>
                <a:cs typeface="PT Sans" pitchFamily="34" charset="-120"/>
              </a:rPr>
              <a:t>PowerQuery</a:t>
            </a:r>
            <a:r>
              <a:rPr lang="en-US" sz="1700" dirty="0">
                <a:solidFill>
                  <a:srgbClr val="FFFFFF"/>
                </a:solidFill>
                <a:latin typeface="PT Sans" pitchFamily="34" charset="0"/>
                <a:ea typeface="PT Sans" pitchFamily="34" charset="-122"/>
                <a:cs typeface="PT Sans" pitchFamily="34" charset="-120"/>
              </a:rPr>
              <a:t> y </a:t>
            </a:r>
            <a:r>
              <a:rPr lang="en-US" sz="1700" b="1" dirty="0">
                <a:solidFill>
                  <a:srgbClr val="FFFFFF"/>
                </a:solidFill>
                <a:latin typeface="PT Sans" pitchFamily="34" charset="0"/>
                <a:ea typeface="PT Sans" pitchFamily="34" charset="-122"/>
                <a:cs typeface="PT Sans" pitchFamily="34" charset="-120"/>
              </a:rPr>
              <a:t>Pandas</a:t>
            </a:r>
            <a:r>
              <a:rPr lang="en-US" sz="1700" dirty="0">
                <a:solidFill>
                  <a:srgbClr val="FFFFFF"/>
                </a:solidFill>
                <a:latin typeface="PT Sans" pitchFamily="34" charset="0"/>
                <a:ea typeface="PT Sans" pitchFamily="34" charset="-122"/>
                <a:cs typeface="PT Sans" pitchFamily="34" charset="-120"/>
              </a:rPr>
              <a:t> para limpiar,  transformar y unificar los datos.  Limpio y filtrado quedan alrededor de 10.000 películas</a:t>
            </a:r>
            <a:endParaRPr lang="en-US" sz="1700" dirty="0"/>
          </a:p>
        </p:txBody>
      </p:sp>
      <p:sp>
        <p:nvSpPr>
          <p:cNvPr id="13" name="Shape 9"/>
          <p:cNvSpPr/>
          <p:nvPr/>
        </p:nvSpPr>
        <p:spPr>
          <a:xfrm>
            <a:off x="772358" y="5083493"/>
            <a:ext cx="13085683" cy="2477095"/>
          </a:xfrm>
          <a:prstGeom prst="roundRect">
            <a:avLst>
              <a:gd name="adj" fmla="val 13363"/>
            </a:avLst>
          </a:prstGeom>
          <a:solidFill>
            <a:srgbClr val="00002E"/>
          </a:solidFill>
          <a:ln w="22860">
            <a:solidFill>
              <a:srgbClr val="48A8E2"/>
            </a:solidFill>
            <a:prstDash val="solid"/>
          </a:ln>
        </p:spPr>
        <p:txBody>
          <a:bodyPr/>
          <a:lstStyle/>
          <a:p>
            <a:endParaRPr lang="es-ES" dirty="0"/>
          </a:p>
        </p:txBody>
      </p:sp>
      <p:sp>
        <p:nvSpPr>
          <p:cNvPr id="14" name="Shape 10"/>
          <p:cNvSpPr/>
          <p:nvPr/>
        </p:nvSpPr>
        <p:spPr>
          <a:xfrm>
            <a:off x="1015841" y="5326975"/>
            <a:ext cx="661987" cy="661988"/>
          </a:xfrm>
          <a:prstGeom prst="roundRect">
            <a:avLst>
              <a:gd name="adj" fmla="val 13811579"/>
            </a:avLst>
          </a:prstGeom>
          <a:solidFill>
            <a:srgbClr val="48A8E2"/>
          </a:solidFill>
          <a:ln/>
        </p:spPr>
        <p:txBody>
          <a:bodyPr/>
          <a:lstStyle/>
          <a:p>
            <a:endParaRPr lang="es-ES"/>
          </a:p>
        </p:txBody>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97888" y="5508903"/>
            <a:ext cx="297894" cy="297894"/>
          </a:xfrm>
          <a:prstGeom prst="rect">
            <a:avLst/>
          </a:prstGeom>
        </p:spPr>
      </p:pic>
      <p:sp>
        <p:nvSpPr>
          <p:cNvPr id="16" name="Text 11"/>
          <p:cNvSpPr/>
          <p:nvPr/>
        </p:nvSpPr>
        <p:spPr>
          <a:xfrm>
            <a:off x="1015841" y="6192322"/>
            <a:ext cx="2596158" cy="324564"/>
          </a:xfrm>
          <a:prstGeom prst="rect">
            <a:avLst/>
          </a:prstGeom>
          <a:noFill/>
          <a:ln/>
        </p:spPr>
        <p:txBody>
          <a:bodyPr wrap="none" lIns="0" tIns="0" rIns="0" bIns="0" rtlCol="0" anchor="t"/>
          <a:lstStyle/>
          <a:p>
            <a:pPr marL="0" indent="0" algn="l">
              <a:lnSpc>
                <a:spcPts val="2550"/>
              </a:lnSpc>
              <a:buNone/>
            </a:pPr>
            <a:r>
              <a:rPr lang="en-US" sz="2000" dirty="0">
                <a:solidFill>
                  <a:srgbClr val="FFFFFF"/>
                </a:solidFill>
                <a:latin typeface="Nunito Semi Bold" pitchFamily="34" charset="0"/>
                <a:ea typeface="Nunito Semi Bold" pitchFamily="34" charset="-122"/>
                <a:cs typeface="Nunito Semi Bold" pitchFamily="34" charset="-120"/>
              </a:rPr>
              <a:t>Alcance final</a:t>
            </a:r>
            <a:endParaRPr lang="en-US" sz="2000" dirty="0"/>
          </a:p>
        </p:txBody>
      </p:sp>
      <p:sp>
        <p:nvSpPr>
          <p:cNvPr id="17" name="Text 12"/>
          <p:cNvSpPr/>
          <p:nvPr/>
        </p:nvSpPr>
        <p:spPr>
          <a:xfrm>
            <a:off x="1015841" y="6638925"/>
            <a:ext cx="12598718" cy="678180"/>
          </a:xfrm>
          <a:prstGeom prst="rect">
            <a:avLst/>
          </a:prstGeom>
          <a:noFill/>
          <a:ln/>
        </p:spPr>
        <p:txBody>
          <a:bodyPr wrap="square" lIns="0" tIns="0" rIns="0" bIns="0" rtlCol="0" anchor="t"/>
          <a:lstStyle/>
          <a:p>
            <a:pPr marL="0" indent="0" algn="l">
              <a:lnSpc>
                <a:spcPts val="2650"/>
              </a:lnSpc>
              <a:buNone/>
            </a:pPr>
            <a:r>
              <a:rPr lang="en-US" sz="1700" dirty="0">
                <a:solidFill>
                  <a:srgbClr val="FFFFFF"/>
                </a:solidFill>
                <a:latin typeface="PT Sans" pitchFamily="34" charset="0"/>
                <a:ea typeface="PT Sans" pitchFamily="34" charset="-122"/>
                <a:cs typeface="PT Sans" pitchFamily="34" charset="-120"/>
              </a:rPr>
              <a:t>El dataset final es una muestra de las películas entre 1980-2019 (+ 8300) para las que se disponía de </a:t>
            </a:r>
            <a:r>
              <a:rPr lang="en-US" sz="1700" dirty="0" err="1">
                <a:solidFill>
                  <a:srgbClr val="FFFFFF"/>
                </a:solidFill>
                <a:latin typeface="PT Sans" pitchFamily="34" charset="0"/>
                <a:ea typeface="PT Sans" pitchFamily="34" charset="-122"/>
                <a:cs typeface="PT Sans" pitchFamily="34" charset="-120"/>
              </a:rPr>
              <a:t>datos</a:t>
            </a:r>
            <a:r>
              <a:rPr lang="en-US" sz="1700" dirty="0">
                <a:solidFill>
                  <a:srgbClr val="FFFFFF"/>
                </a:solidFill>
                <a:latin typeface="PT Sans" pitchFamily="34" charset="0"/>
                <a:ea typeface="PT Sans" pitchFamily="34" charset="-122"/>
                <a:cs typeface="PT Sans" pitchFamily="34" charset="-120"/>
              </a:rPr>
              <a:t> </a:t>
            </a:r>
            <a:r>
              <a:rPr lang="en-US" sz="1700" dirty="0" err="1">
                <a:solidFill>
                  <a:srgbClr val="FFFFFF"/>
                </a:solidFill>
                <a:latin typeface="PT Sans" pitchFamily="34" charset="0"/>
                <a:ea typeface="PT Sans" pitchFamily="34" charset="-122"/>
                <a:cs typeface="PT Sans" pitchFamily="34" charset="-120"/>
              </a:rPr>
              <a:t>completos</a:t>
            </a:r>
            <a:r>
              <a:rPr lang="en-US" sz="1700" dirty="0">
                <a:solidFill>
                  <a:srgbClr val="FFFFFF"/>
                </a:solidFill>
                <a:latin typeface="PT Sans" pitchFamily="34" charset="0"/>
                <a:ea typeface="PT Sans" pitchFamily="34" charset="-122"/>
                <a:cs typeface="PT Sans" pitchFamily="34" charset="-120"/>
              </a:rPr>
              <a:t>.</a:t>
            </a:r>
          </a:p>
          <a:p>
            <a:pPr marL="0" indent="0" algn="l">
              <a:lnSpc>
                <a:spcPts val="2650"/>
              </a:lnSpc>
              <a:buNone/>
            </a:pPr>
            <a:r>
              <a:rPr lang="en-US" sz="1700" dirty="0">
                <a:solidFill>
                  <a:srgbClr val="FFFFFF"/>
                </a:solidFill>
                <a:latin typeface="PT Sans" pitchFamily="34" charset="0"/>
                <a:ea typeface="PT Sans" pitchFamily="34" charset="-122"/>
                <a:cs typeface="PT Sans" pitchFamily="34" charset="-120"/>
              </a:rPr>
              <a:t>Las conclusiones se interpretan en ese </a:t>
            </a:r>
            <a:r>
              <a:rPr lang="en-US" sz="1700" dirty="0" err="1">
                <a:solidFill>
                  <a:srgbClr val="FFFFFF"/>
                </a:solidFill>
                <a:latin typeface="PT Sans" pitchFamily="34" charset="0"/>
                <a:ea typeface="PT Sans" pitchFamily="34" charset="-122"/>
                <a:cs typeface="PT Sans" pitchFamily="34" charset="-120"/>
              </a:rPr>
              <a:t>contexto</a:t>
            </a:r>
            <a:r>
              <a:rPr lang="en-US" sz="1700" dirty="0">
                <a:solidFill>
                  <a:srgbClr val="FFFFFF"/>
                </a:solidFill>
                <a:latin typeface="PT Sans" pitchFamily="34" charset="0"/>
                <a:ea typeface="PT Sans" pitchFamily="34" charset="-122"/>
                <a:cs typeface="PT Sans" pitchFamily="34" charset="-120"/>
              </a:rPr>
              <a:t>. </a:t>
            </a:r>
          </a:p>
          <a:p>
            <a:pPr marL="0" indent="0" algn="l">
              <a:lnSpc>
                <a:spcPts val="2650"/>
              </a:lnSpc>
              <a:buNone/>
            </a:pP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242655" y="735092"/>
            <a:ext cx="7555587" cy="550069"/>
          </a:xfrm>
          <a:prstGeom prst="rect">
            <a:avLst/>
          </a:prstGeom>
          <a:noFill/>
          <a:ln/>
        </p:spPr>
        <p:txBody>
          <a:bodyPr wrap="none" lIns="0" tIns="0" rIns="0" bIns="0" rtlCol="0" anchor="t"/>
          <a:lstStyle/>
          <a:p>
            <a:pPr marL="0" indent="0" algn="l">
              <a:lnSpc>
                <a:spcPts val="4300"/>
              </a:lnSpc>
              <a:buNone/>
            </a:pPr>
            <a:r>
              <a:rPr lang="en-US" sz="3450" dirty="0">
                <a:solidFill>
                  <a:srgbClr val="FFFFFF"/>
                </a:solidFill>
                <a:latin typeface="Nunito Semi Bold" pitchFamily="34" charset="0"/>
                <a:ea typeface="Nunito Semi Bold" pitchFamily="34" charset="-122"/>
                <a:cs typeface="Nunito Semi Bold" pitchFamily="34" charset="-120"/>
              </a:rPr>
              <a:t>¿Es el presupuesto un factor de éxito?</a:t>
            </a:r>
            <a:endParaRPr lang="en-US" sz="3450" dirty="0"/>
          </a:p>
        </p:txBody>
      </p:sp>
      <p:pic>
        <p:nvPicPr>
          <p:cNvPr id="3" name="Image 0" descr="preencoded.png"/>
          <p:cNvPicPr>
            <a:picLocks noChangeAspect="1"/>
          </p:cNvPicPr>
          <p:nvPr/>
        </p:nvPicPr>
        <p:blipFill>
          <a:blip r:embed="rId3"/>
          <a:stretch>
            <a:fillRect/>
          </a:stretch>
        </p:blipFill>
        <p:spPr>
          <a:xfrm>
            <a:off x="12280177" y="548520"/>
            <a:ext cx="1584127" cy="1199317"/>
          </a:xfrm>
          <a:prstGeom prst="rect">
            <a:avLst/>
          </a:prstGeom>
        </p:spPr>
      </p:pic>
      <p:sp>
        <p:nvSpPr>
          <p:cNvPr id="5" name="Text 1"/>
          <p:cNvSpPr/>
          <p:nvPr/>
        </p:nvSpPr>
        <p:spPr>
          <a:xfrm>
            <a:off x="1242655" y="7242572"/>
            <a:ext cx="9246632" cy="266462"/>
          </a:xfrm>
          <a:prstGeom prst="rect">
            <a:avLst/>
          </a:prstGeom>
          <a:noFill/>
          <a:ln/>
        </p:spPr>
        <p:txBody>
          <a:bodyPr wrap="none" lIns="0" tIns="0" rIns="0" bIns="0" rtlCol="0" anchor="t"/>
          <a:lstStyle/>
          <a:p>
            <a:pPr marL="0" indent="0" algn="l">
              <a:lnSpc>
                <a:spcPts val="2050"/>
              </a:lnSpc>
              <a:buNone/>
            </a:pPr>
            <a:endParaRPr lang="en-US" sz="1450" dirty="0"/>
          </a:p>
        </p:txBody>
      </p:sp>
      <p:sp>
        <p:nvSpPr>
          <p:cNvPr id="6" name="Text 2"/>
          <p:cNvSpPr/>
          <p:nvPr/>
        </p:nvSpPr>
        <p:spPr>
          <a:xfrm>
            <a:off x="12280177" y="6370876"/>
            <a:ext cx="2441972" cy="799386"/>
          </a:xfrm>
          <a:prstGeom prst="rect">
            <a:avLst/>
          </a:prstGeom>
          <a:noFill/>
          <a:ln/>
        </p:spPr>
        <p:txBody>
          <a:bodyPr wrap="square" lIns="0" tIns="0" rIns="0" bIns="0" rtlCol="0" anchor="t"/>
          <a:lstStyle/>
          <a:p>
            <a:pPr marL="0" indent="0" algn="l">
              <a:lnSpc>
                <a:spcPts val="2050"/>
              </a:lnSpc>
              <a:buNone/>
            </a:pPr>
            <a:endParaRPr lang="en-US" dirty="0"/>
          </a:p>
        </p:txBody>
      </p:sp>
      <p:sp>
        <p:nvSpPr>
          <p:cNvPr id="7" name="Text 3"/>
          <p:cNvSpPr/>
          <p:nvPr/>
        </p:nvSpPr>
        <p:spPr>
          <a:xfrm>
            <a:off x="11851254" y="3094685"/>
            <a:ext cx="2441972" cy="1065848"/>
          </a:xfrm>
          <a:prstGeom prst="rect">
            <a:avLst/>
          </a:prstGeom>
          <a:noFill/>
          <a:ln/>
        </p:spPr>
        <p:txBody>
          <a:bodyPr wrap="square" lIns="0" tIns="0" rIns="0" bIns="0" rtlCol="0" anchor="t"/>
          <a:lstStyle/>
          <a:p>
            <a:pPr marL="0" indent="0" algn="l">
              <a:lnSpc>
                <a:spcPts val="2050"/>
              </a:lnSpc>
              <a:buNone/>
            </a:pPr>
            <a:endParaRPr lang="en-US" dirty="0"/>
          </a:p>
        </p:txBody>
      </p:sp>
      <p:sp>
        <p:nvSpPr>
          <p:cNvPr id="8" name="Text 4"/>
          <p:cNvSpPr/>
          <p:nvPr/>
        </p:nvSpPr>
        <p:spPr>
          <a:xfrm>
            <a:off x="12403510" y="5196104"/>
            <a:ext cx="2441972" cy="799386"/>
          </a:xfrm>
          <a:prstGeom prst="rect">
            <a:avLst/>
          </a:prstGeom>
          <a:noFill/>
          <a:ln/>
        </p:spPr>
        <p:txBody>
          <a:bodyPr wrap="square" lIns="0" tIns="0" rIns="0" bIns="0" rtlCol="0" anchor="t"/>
          <a:lstStyle/>
          <a:p>
            <a:pPr marL="0" indent="0" algn="l">
              <a:lnSpc>
                <a:spcPts val="2050"/>
              </a:lnSpc>
              <a:buNone/>
            </a:pPr>
            <a:endParaRPr lang="en-US" dirty="0"/>
          </a:p>
        </p:txBody>
      </p:sp>
      <p:sp>
        <p:nvSpPr>
          <p:cNvPr id="9" name="Text 5"/>
          <p:cNvSpPr/>
          <p:nvPr/>
        </p:nvSpPr>
        <p:spPr>
          <a:xfrm>
            <a:off x="10953155" y="5471636"/>
            <a:ext cx="2441972" cy="266462"/>
          </a:xfrm>
          <a:prstGeom prst="rect">
            <a:avLst/>
          </a:prstGeom>
          <a:noFill/>
          <a:ln/>
        </p:spPr>
        <p:txBody>
          <a:bodyPr wrap="none" lIns="0" tIns="0" rIns="0" bIns="0" rtlCol="0" anchor="t"/>
          <a:lstStyle/>
          <a:p>
            <a:pPr marL="0" indent="0" algn="l">
              <a:lnSpc>
                <a:spcPts val="2050"/>
              </a:lnSpc>
              <a:buNone/>
            </a:pPr>
            <a:endParaRPr lang="en-US" sz="1450" dirty="0"/>
          </a:p>
        </p:txBody>
      </p:sp>
      <p:pic>
        <p:nvPicPr>
          <p:cNvPr id="17" name="Imagen 16">
            <a:extLst>
              <a:ext uri="{FF2B5EF4-FFF2-40B4-BE49-F238E27FC236}">
                <a16:creationId xmlns:a16="http://schemas.microsoft.com/office/drawing/2014/main" id="{A9EA61ED-31EA-9A2D-F9F3-DED4E4519705}"/>
              </a:ext>
            </a:extLst>
          </p:cNvPr>
          <p:cNvPicPr>
            <a:picLocks noChangeAspect="1"/>
          </p:cNvPicPr>
          <p:nvPr/>
        </p:nvPicPr>
        <p:blipFill>
          <a:blip r:embed="rId4"/>
          <a:stretch>
            <a:fillRect/>
          </a:stretch>
        </p:blipFill>
        <p:spPr>
          <a:xfrm>
            <a:off x="766096" y="1380087"/>
            <a:ext cx="10785158" cy="6500813"/>
          </a:xfrm>
          <a:prstGeom prst="rect">
            <a:avLst/>
          </a:prstGeom>
        </p:spPr>
      </p:pic>
      <p:pic>
        <p:nvPicPr>
          <p:cNvPr id="18" name="Image 0" descr="preencoded.png">
            <a:extLst>
              <a:ext uri="{FF2B5EF4-FFF2-40B4-BE49-F238E27FC236}">
                <a16:creationId xmlns:a16="http://schemas.microsoft.com/office/drawing/2014/main" id="{F3C0EF25-9F56-183E-A410-48D62C10BA90}"/>
              </a:ext>
            </a:extLst>
          </p:cNvPr>
          <p:cNvPicPr>
            <a:picLocks noChangeAspect="1"/>
          </p:cNvPicPr>
          <p:nvPr/>
        </p:nvPicPr>
        <p:blipFill>
          <a:blip r:embed="rId5"/>
          <a:stretch>
            <a:fillRect/>
          </a:stretch>
        </p:blipFill>
        <p:spPr>
          <a:xfrm>
            <a:off x="8441134" y="4222456"/>
            <a:ext cx="3474582" cy="3474582"/>
          </a:xfrm>
          <a:prstGeom prst="rect">
            <a:avLst/>
          </a:prstGeom>
        </p:spPr>
      </p:pic>
      <p:pic>
        <p:nvPicPr>
          <p:cNvPr id="19" name="Image 1" descr="preencoded.png">
            <a:extLst>
              <a:ext uri="{FF2B5EF4-FFF2-40B4-BE49-F238E27FC236}">
                <a16:creationId xmlns:a16="http://schemas.microsoft.com/office/drawing/2014/main" id="{191186CF-EAF8-C37C-D7B1-AC7E3A9BF6A4}"/>
              </a:ext>
            </a:extLst>
          </p:cNvPr>
          <p:cNvPicPr>
            <a:picLocks noChangeAspect="1"/>
          </p:cNvPicPr>
          <p:nvPr/>
        </p:nvPicPr>
        <p:blipFill>
          <a:blip r:embed="rId6"/>
          <a:stretch>
            <a:fillRect/>
          </a:stretch>
        </p:blipFill>
        <p:spPr>
          <a:xfrm rot="1872697">
            <a:off x="6927776" y="-631931"/>
            <a:ext cx="5363011" cy="536301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46165" y="822127"/>
            <a:ext cx="8960287" cy="626983"/>
          </a:xfrm>
          <a:prstGeom prst="rect">
            <a:avLst/>
          </a:prstGeom>
          <a:noFill/>
          <a:ln/>
        </p:spPr>
        <p:txBody>
          <a:bodyPr wrap="none" lIns="0" tIns="0" rIns="0" bIns="0" rtlCol="0" anchor="t"/>
          <a:lstStyle/>
          <a:p>
            <a:pPr marL="0" indent="0" algn="l">
              <a:lnSpc>
                <a:spcPts val="4900"/>
              </a:lnSpc>
              <a:buNone/>
            </a:pPr>
            <a:r>
              <a:rPr lang="en-US" sz="4400" dirty="0">
                <a:solidFill>
                  <a:srgbClr val="FFFFFF"/>
                </a:solidFill>
                <a:latin typeface="Nunito Semi Bold" pitchFamily="34" charset="0"/>
                <a:ea typeface="Nunito Semi Bold" pitchFamily="34" charset="-122"/>
                <a:cs typeface="Nunito Semi Bold" pitchFamily="34" charset="-120"/>
              </a:rPr>
              <a:t>¿Hay </a:t>
            </a:r>
            <a:r>
              <a:rPr lang="en-US" sz="4400" dirty="0" err="1">
                <a:solidFill>
                  <a:srgbClr val="FFFFFF"/>
                </a:solidFill>
                <a:latin typeface="Nunito Semi Bold" pitchFamily="34" charset="0"/>
                <a:ea typeface="Nunito Semi Bold" pitchFamily="34" charset="-122"/>
                <a:cs typeface="Nunito Semi Bold" pitchFamily="34" charset="-120"/>
              </a:rPr>
              <a:t>géneros</a:t>
            </a:r>
            <a:r>
              <a:rPr lang="en-US" sz="4400" dirty="0">
                <a:solidFill>
                  <a:srgbClr val="FFFFFF"/>
                </a:solidFill>
                <a:latin typeface="Nunito Semi Bold" pitchFamily="34" charset="0"/>
                <a:ea typeface="Nunito Semi Bold" pitchFamily="34" charset="-122"/>
                <a:cs typeface="Nunito Semi Bold" pitchFamily="34" charset="-120"/>
              </a:rPr>
              <a:t> más nominados?</a:t>
            </a:r>
            <a:endParaRPr lang="en-US" sz="4400" dirty="0"/>
          </a:p>
        </p:txBody>
      </p:sp>
      <p:sp>
        <p:nvSpPr>
          <p:cNvPr id="5" name="Text 1"/>
          <p:cNvSpPr/>
          <p:nvPr/>
        </p:nvSpPr>
        <p:spPr>
          <a:xfrm>
            <a:off x="746165" y="7274838"/>
            <a:ext cx="13138071" cy="322421"/>
          </a:xfrm>
          <a:prstGeom prst="rect">
            <a:avLst/>
          </a:prstGeom>
          <a:noFill/>
          <a:ln/>
        </p:spPr>
        <p:txBody>
          <a:bodyPr wrap="none" lIns="0" tIns="0" rIns="0" bIns="0" rtlCol="0" anchor="t"/>
          <a:lstStyle/>
          <a:p>
            <a:pPr marL="0" indent="0" algn="l">
              <a:lnSpc>
                <a:spcPts val="2500"/>
              </a:lnSpc>
              <a:buNone/>
            </a:pPr>
            <a:endParaRPr lang="en-US" sz="1650" dirty="0"/>
          </a:p>
        </p:txBody>
      </p:sp>
      <p:pic>
        <p:nvPicPr>
          <p:cNvPr id="10" name="Imagen 9">
            <a:extLst>
              <a:ext uri="{FF2B5EF4-FFF2-40B4-BE49-F238E27FC236}">
                <a16:creationId xmlns:a16="http://schemas.microsoft.com/office/drawing/2014/main" id="{99E5F87F-57EB-56FB-5AF8-5D4E110673EE}"/>
              </a:ext>
            </a:extLst>
          </p:cNvPr>
          <p:cNvPicPr>
            <a:picLocks noChangeAspect="1"/>
          </p:cNvPicPr>
          <p:nvPr/>
        </p:nvPicPr>
        <p:blipFill>
          <a:blip r:embed="rId3"/>
          <a:stretch>
            <a:fillRect/>
          </a:stretch>
        </p:blipFill>
        <p:spPr>
          <a:xfrm>
            <a:off x="208063" y="1679932"/>
            <a:ext cx="13632180" cy="6019800"/>
          </a:xfrm>
          <a:prstGeom prst="rect">
            <a:avLst/>
          </a:prstGeom>
        </p:spPr>
      </p:pic>
      <p:pic>
        <p:nvPicPr>
          <p:cNvPr id="12" name="Image 1" descr="preencoded.png">
            <a:extLst>
              <a:ext uri="{FF2B5EF4-FFF2-40B4-BE49-F238E27FC236}">
                <a16:creationId xmlns:a16="http://schemas.microsoft.com/office/drawing/2014/main" id="{A0388054-7A73-E68C-160A-540BFA6C5626}"/>
              </a:ext>
            </a:extLst>
          </p:cNvPr>
          <p:cNvPicPr>
            <a:picLocks noChangeAspect="1"/>
          </p:cNvPicPr>
          <p:nvPr/>
        </p:nvPicPr>
        <p:blipFill>
          <a:blip r:embed="rId4"/>
          <a:stretch>
            <a:fillRect/>
          </a:stretch>
        </p:blipFill>
        <p:spPr>
          <a:xfrm rot="1872697">
            <a:off x="6315212" y="636372"/>
            <a:ext cx="2972594" cy="2972594"/>
          </a:xfrm>
          <a:prstGeom prst="rect">
            <a:avLst/>
          </a:prstGeom>
        </p:spPr>
      </p:pic>
      <p:pic>
        <p:nvPicPr>
          <p:cNvPr id="8" name="Picture 10">
            <a:extLst>
              <a:ext uri="{FF2B5EF4-FFF2-40B4-BE49-F238E27FC236}">
                <a16:creationId xmlns:a16="http://schemas.microsoft.com/office/drawing/2014/main" id="{E48B84B0-A5BB-15C0-D3A8-190BB96CA4C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10174" y="3319025"/>
            <a:ext cx="2423696" cy="24236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EBB97096-0FD3-D756-DA17-072BE1BF359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69627" y="3276049"/>
            <a:ext cx="2481567" cy="2481567"/>
          </a:xfrm>
          <a:prstGeom prst="rect">
            <a:avLst/>
          </a:prstGeom>
          <a:noFill/>
          <a:extLst>
            <a:ext uri="{909E8E84-426E-40DD-AFC4-6F175D3DCCD1}">
              <a14:hiddenFill xmlns:a14="http://schemas.microsoft.com/office/drawing/2010/main">
                <a:solidFill>
                  <a:srgbClr val="FFFFFF"/>
                </a:solidFill>
              </a14:hiddenFill>
            </a:ext>
          </a:extLst>
        </p:spPr>
      </p:pic>
      <p:pic>
        <p:nvPicPr>
          <p:cNvPr id="15" name="Image 1" descr="preencoded.png">
            <a:extLst>
              <a:ext uri="{FF2B5EF4-FFF2-40B4-BE49-F238E27FC236}">
                <a16:creationId xmlns:a16="http://schemas.microsoft.com/office/drawing/2014/main" id="{1FE83B90-65F4-B551-DB43-B12E449D7F4B}"/>
              </a:ext>
            </a:extLst>
          </p:cNvPr>
          <p:cNvPicPr>
            <a:picLocks noChangeAspect="1"/>
          </p:cNvPicPr>
          <p:nvPr/>
        </p:nvPicPr>
        <p:blipFill>
          <a:blip r:embed="rId4"/>
          <a:stretch>
            <a:fillRect/>
          </a:stretch>
        </p:blipFill>
        <p:spPr>
          <a:xfrm rot="1872697">
            <a:off x="247829" y="5880787"/>
            <a:ext cx="2220073" cy="2220073"/>
          </a:xfrm>
          <a:prstGeom prst="rect">
            <a:avLst/>
          </a:prstGeom>
        </p:spPr>
      </p:pic>
      <p:pic>
        <p:nvPicPr>
          <p:cNvPr id="16" name="Image 3" descr="preencoded.png">
            <a:extLst>
              <a:ext uri="{FF2B5EF4-FFF2-40B4-BE49-F238E27FC236}">
                <a16:creationId xmlns:a16="http://schemas.microsoft.com/office/drawing/2014/main" id="{A102B403-B59E-725F-CA1C-D236C461BD51}"/>
              </a:ext>
            </a:extLst>
          </p:cNvPr>
          <p:cNvPicPr>
            <a:picLocks noChangeAspect="1"/>
          </p:cNvPicPr>
          <p:nvPr/>
        </p:nvPicPr>
        <p:blipFill>
          <a:blip r:embed="rId7"/>
          <a:stretch>
            <a:fillRect/>
          </a:stretch>
        </p:blipFill>
        <p:spPr>
          <a:xfrm>
            <a:off x="4442166" y="2954678"/>
            <a:ext cx="2638222" cy="2638222"/>
          </a:xfrm>
          <a:prstGeom prst="rect">
            <a:avLst/>
          </a:prstGeom>
        </p:spPr>
      </p:pic>
      <p:pic>
        <p:nvPicPr>
          <p:cNvPr id="17" name="Image 1" descr="preencoded.png">
            <a:extLst>
              <a:ext uri="{FF2B5EF4-FFF2-40B4-BE49-F238E27FC236}">
                <a16:creationId xmlns:a16="http://schemas.microsoft.com/office/drawing/2014/main" id="{8726590A-4911-9BA8-4C33-754EAEAEEF47}"/>
              </a:ext>
            </a:extLst>
          </p:cNvPr>
          <p:cNvPicPr>
            <a:picLocks noChangeAspect="1"/>
          </p:cNvPicPr>
          <p:nvPr/>
        </p:nvPicPr>
        <p:blipFill>
          <a:blip r:embed="rId4"/>
          <a:stretch>
            <a:fillRect/>
          </a:stretch>
        </p:blipFill>
        <p:spPr>
          <a:xfrm rot="1872697">
            <a:off x="6539755" y="2121182"/>
            <a:ext cx="2523506" cy="1622996"/>
          </a:xfrm>
          <a:prstGeom prst="rect">
            <a:avLst/>
          </a:prstGeom>
        </p:spPr>
      </p:pic>
      <p:sp>
        <p:nvSpPr>
          <p:cNvPr id="18" name="Rectángulo 17">
            <a:extLst>
              <a:ext uri="{FF2B5EF4-FFF2-40B4-BE49-F238E27FC236}">
                <a16:creationId xmlns:a16="http://schemas.microsoft.com/office/drawing/2014/main" id="{3E3165BB-B695-6441-791F-ECB1605B3002}"/>
              </a:ext>
            </a:extLst>
          </p:cNvPr>
          <p:cNvSpPr/>
          <p:nvPr/>
        </p:nvSpPr>
        <p:spPr>
          <a:xfrm>
            <a:off x="790157" y="1660260"/>
            <a:ext cx="5555698" cy="617710"/>
          </a:xfrm>
          <a:prstGeom prst="rect">
            <a:avLst/>
          </a:prstGeom>
          <a:solidFill>
            <a:schemeClr val="lt1">
              <a:alpha val="0"/>
            </a:schemeClr>
          </a:solidFill>
          <a:ln>
            <a:solidFill>
              <a:srgbClr val="EED392"/>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s-ES"/>
          </a:p>
        </p:txBody>
      </p:sp>
      <p:sp>
        <p:nvSpPr>
          <p:cNvPr id="24" name="Rectángulo 23">
            <a:extLst>
              <a:ext uri="{FF2B5EF4-FFF2-40B4-BE49-F238E27FC236}">
                <a16:creationId xmlns:a16="http://schemas.microsoft.com/office/drawing/2014/main" id="{76828804-9024-EF52-5188-5F27B85B9F21}"/>
              </a:ext>
            </a:extLst>
          </p:cNvPr>
          <p:cNvSpPr/>
          <p:nvPr/>
        </p:nvSpPr>
        <p:spPr>
          <a:xfrm>
            <a:off x="746165" y="2118936"/>
            <a:ext cx="5555698" cy="617710"/>
          </a:xfrm>
          <a:prstGeom prst="rect">
            <a:avLst/>
          </a:prstGeom>
          <a:solidFill>
            <a:schemeClr val="lt1">
              <a:alpha val="0"/>
            </a:schemeClr>
          </a:solidFill>
          <a:ln>
            <a:solidFill>
              <a:srgbClr val="EED392"/>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s-ES"/>
          </a:p>
        </p:txBody>
      </p:sp>
      <p:pic>
        <p:nvPicPr>
          <p:cNvPr id="25" name="Image 1" descr="preencoded.png">
            <a:extLst>
              <a:ext uri="{FF2B5EF4-FFF2-40B4-BE49-F238E27FC236}">
                <a16:creationId xmlns:a16="http://schemas.microsoft.com/office/drawing/2014/main" id="{6E231478-4CF1-A969-47F1-24FA7B3A3632}"/>
              </a:ext>
            </a:extLst>
          </p:cNvPr>
          <p:cNvPicPr>
            <a:picLocks noChangeAspect="1"/>
          </p:cNvPicPr>
          <p:nvPr/>
        </p:nvPicPr>
        <p:blipFill>
          <a:blip r:embed="rId4"/>
          <a:stretch>
            <a:fillRect/>
          </a:stretch>
        </p:blipFill>
        <p:spPr>
          <a:xfrm rot="1872697">
            <a:off x="6539754" y="5759853"/>
            <a:ext cx="2523506" cy="1622996"/>
          </a:xfrm>
          <a:prstGeom prst="rect">
            <a:avLst/>
          </a:prstGeom>
        </p:spPr>
      </p:pic>
      <p:pic>
        <p:nvPicPr>
          <p:cNvPr id="11" name="Picture 2">
            <a:extLst>
              <a:ext uri="{FF2B5EF4-FFF2-40B4-BE49-F238E27FC236}">
                <a16:creationId xmlns:a16="http://schemas.microsoft.com/office/drawing/2014/main" id="{26E81ACC-2345-C70C-08C3-C10B846B240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51090" y="2728933"/>
            <a:ext cx="3212690" cy="3212690"/>
          </a:xfrm>
          <a:prstGeom prst="rect">
            <a:avLst/>
          </a:prstGeom>
          <a:noFill/>
          <a:extLst>
            <a:ext uri="{909E8E84-426E-40DD-AFC4-6F175D3DCCD1}">
              <a14:hiddenFill xmlns:a14="http://schemas.microsoft.com/office/drawing/2010/main">
                <a:solidFill>
                  <a:srgbClr val="FFFFFF"/>
                </a:solidFill>
              </a14:hiddenFill>
            </a:ext>
          </a:extLst>
        </p:spPr>
      </p:pic>
      <p:pic>
        <p:nvPicPr>
          <p:cNvPr id="28" name="Image 1" descr="preencoded.png">
            <a:extLst>
              <a:ext uri="{FF2B5EF4-FFF2-40B4-BE49-F238E27FC236}">
                <a16:creationId xmlns:a16="http://schemas.microsoft.com/office/drawing/2014/main" id="{90306E79-4369-AF5A-3554-E745A789A671}"/>
              </a:ext>
            </a:extLst>
          </p:cNvPr>
          <p:cNvPicPr>
            <a:picLocks noChangeAspect="1"/>
          </p:cNvPicPr>
          <p:nvPr/>
        </p:nvPicPr>
        <p:blipFill>
          <a:blip r:embed="rId4"/>
          <a:stretch>
            <a:fillRect/>
          </a:stretch>
        </p:blipFill>
        <p:spPr>
          <a:xfrm rot="1872697">
            <a:off x="6496832" y="6572214"/>
            <a:ext cx="2523506" cy="1334637"/>
          </a:xfrm>
          <a:prstGeom prst="rect">
            <a:avLst/>
          </a:prstGeom>
        </p:spPr>
      </p:pic>
      <p:pic>
        <p:nvPicPr>
          <p:cNvPr id="9" name="Picture 4">
            <a:extLst>
              <a:ext uri="{FF2B5EF4-FFF2-40B4-BE49-F238E27FC236}">
                <a16:creationId xmlns:a16="http://schemas.microsoft.com/office/drawing/2014/main" id="{A42460B4-BF5C-4DE5-1F0F-FAFE8E309AB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59782" y="3597226"/>
            <a:ext cx="3645818" cy="3645818"/>
          </a:xfrm>
          <a:prstGeom prst="rect">
            <a:avLst/>
          </a:prstGeom>
          <a:noFill/>
          <a:extLst>
            <a:ext uri="{909E8E84-426E-40DD-AFC4-6F175D3DCCD1}">
              <a14:hiddenFill xmlns:a14="http://schemas.microsoft.com/office/drawing/2010/main">
                <a:solidFill>
                  <a:srgbClr val="FFFFFF"/>
                </a:solidFill>
              </a14:hiddenFill>
            </a:ext>
          </a:extLst>
        </p:spPr>
      </p:pic>
      <p:pic>
        <p:nvPicPr>
          <p:cNvPr id="31" name="Image 1" descr="preencoded.png">
            <a:extLst>
              <a:ext uri="{FF2B5EF4-FFF2-40B4-BE49-F238E27FC236}">
                <a16:creationId xmlns:a16="http://schemas.microsoft.com/office/drawing/2014/main" id="{E3933D20-900E-B229-C983-7504F90379BD}"/>
              </a:ext>
            </a:extLst>
          </p:cNvPr>
          <p:cNvPicPr>
            <a:picLocks noChangeAspect="1"/>
          </p:cNvPicPr>
          <p:nvPr/>
        </p:nvPicPr>
        <p:blipFill>
          <a:blip r:embed="rId4"/>
          <a:stretch>
            <a:fillRect/>
          </a:stretch>
        </p:blipFill>
        <p:spPr>
          <a:xfrm rot="4663243">
            <a:off x="294122" y="1897107"/>
            <a:ext cx="2220073" cy="222007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7"/>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8"/>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12"/>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15"/>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xit" presetSubtype="0" fill="hold" grpId="1" nodeType="withEffect">
                                  <p:stCondLst>
                                    <p:cond delay="0"/>
                                  </p:stCondLst>
                                  <p:childTnLst>
                                    <p:set>
                                      <p:cBhvr>
                                        <p:cTn id="34" dur="1" fill="hold">
                                          <p:stCondLst>
                                            <p:cond delay="0"/>
                                          </p:stCondLst>
                                        </p:cTn>
                                        <p:tgtEl>
                                          <p:spTgt spid="18"/>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16"/>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17"/>
                                        </p:tgtEl>
                                        <p:attrNameLst>
                                          <p:attrName>style.visibility</p:attrName>
                                        </p:attrNameLst>
                                      </p:cBhvr>
                                      <p:to>
                                        <p:strVal val="hidden"/>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9"/>
                                        </p:tgtEl>
                                        <p:attrNameLst>
                                          <p:attrName>style.visibility</p:attrName>
                                        </p:attrNameLst>
                                      </p:cBhvr>
                                      <p:to>
                                        <p:strVal val="visible"/>
                                      </p:to>
                                    </p:set>
                                  </p:childTnLst>
                                </p:cTn>
                              </p:par>
                              <p:par>
                                <p:cTn id="51" presetID="1" presetClass="exit" presetSubtype="0" fill="hold" nodeType="withEffect">
                                  <p:stCondLst>
                                    <p:cond delay="0"/>
                                  </p:stCondLst>
                                  <p:childTnLst>
                                    <p:set>
                                      <p:cBhvr>
                                        <p:cTn id="52" dur="1" fill="hold">
                                          <p:stCondLst>
                                            <p:cond delay="0"/>
                                          </p:stCondLst>
                                        </p:cTn>
                                        <p:tgtEl>
                                          <p:spTgt spid="25"/>
                                        </p:tgtEl>
                                        <p:attrNameLst>
                                          <p:attrName>style.visibility</p:attrName>
                                        </p:attrNameLst>
                                      </p:cBhvr>
                                      <p:to>
                                        <p:strVal val="hidden"/>
                                      </p:to>
                                    </p:set>
                                  </p:childTnLst>
                                </p:cTn>
                              </p:par>
                              <p:par>
                                <p:cTn id="53" presetID="1" presetClass="exit" presetSubtype="0" fill="hold" grpId="1" nodeType="withEffect">
                                  <p:stCondLst>
                                    <p:cond delay="0"/>
                                  </p:stCondLst>
                                  <p:childTnLst>
                                    <p:set>
                                      <p:cBhvr>
                                        <p:cTn id="54" dur="1" fill="hold">
                                          <p:stCondLst>
                                            <p:cond delay="0"/>
                                          </p:stCondLst>
                                        </p:cTn>
                                        <p:tgtEl>
                                          <p:spTgt spid="24"/>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P spid="24" grpId="0" animBg="1"/>
      <p:bldP spid="24"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69724-9315-18E3-4BA7-1FCE6B9C30D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CF15EBE-7190-6F15-002E-803FA1D7A540}"/>
              </a:ext>
            </a:extLst>
          </p:cNvPr>
          <p:cNvSpPr/>
          <p:nvPr/>
        </p:nvSpPr>
        <p:spPr>
          <a:xfrm>
            <a:off x="746165" y="822127"/>
            <a:ext cx="8960287" cy="626983"/>
          </a:xfrm>
          <a:prstGeom prst="rect">
            <a:avLst/>
          </a:prstGeom>
          <a:noFill/>
          <a:ln/>
        </p:spPr>
        <p:txBody>
          <a:bodyPr wrap="none" lIns="0" tIns="0" rIns="0" bIns="0" rtlCol="0" anchor="t"/>
          <a:lstStyle/>
          <a:p>
            <a:pPr marL="0" indent="0" algn="l">
              <a:lnSpc>
                <a:spcPts val="4900"/>
              </a:lnSpc>
              <a:buNone/>
            </a:pPr>
            <a:r>
              <a:rPr lang="en-US" sz="4400" dirty="0">
                <a:solidFill>
                  <a:srgbClr val="FFFFFF"/>
                </a:solidFill>
                <a:latin typeface="Nunito Semi Bold" pitchFamily="34" charset="0"/>
                <a:ea typeface="Nunito Semi Bold" pitchFamily="34" charset="-122"/>
                <a:cs typeface="Nunito Semi Bold" pitchFamily="34" charset="-120"/>
              </a:rPr>
              <a:t>Calidad: ¿</a:t>
            </a:r>
            <a:r>
              <a:rPr lang="en-US" sz="4400" dirty="0" err="1">
                <a:solidFill>
                  <a:srgbClr val="FFFFFF"/>
                </a:solidFill>
                <a:latin typeface="Nunito Semi Bold" pitchFamily="34" charset="0"/>
                <a:ea typeface="Nunito Semi Bold" pitchFamily="34" charset="-122"/>
                <a:cs typeface="Nunito Semi Bold" pitchFamily="34" charset="-120"/>
              </a:rPr>
              <a:t>concuerdan</a:t>
            </a:r>
            <a:r>
              <a:rPr lang="en-US" sz="4400" dirty="0">
                <a:solidFill>
                  <a:srgbClr val="FFFFFF"/>
                </a:solidFill>
                <a:latin typeface="Nunito Semi Bold" pitchFamily="34" charset="0"/>
                <a:ea typeface="Nunito Semi Bold" pitchFamily="34" charset="-122"/>
                <a:cs typeface="Nunito Semi Bold" pitchFamily="34" charset="-120"/>
              </a:rPr>
              <a:t> </a:t>
            </a:r>
            <a:r>
              <a:rPr lang="en-US" sz="4400" dirty="0" err="1">
                <a:solidFill>
                  <a:srgbClr val="FFFFFF"/>
                </a:solidFill>
                <a:latin typeface="Nunito Semi Bold" pitchFamily="34" charset="0"/>
                <a:ea typeface="Nunito Semi Bold" pitchFamily="34" charset="-122"/>
                <a:cs typeface="Nunito Semi Bold" pitchFamily="34" charset="-120"/>
              </a:rPr>
              <a:t>crítica</a:t>
            </a:r>
            <a:r>
              <a:rPr lang="en-US" sz="4400" dirty="0">
                <a:solidFill>
                  <a:srgbClr val="FFFFFF"/>
                </a:solidFill>
                <a:latin typeface="Nunito Semi Bold" pitchFamily="34" charset="0"/>
                <a:ea typeface="Nunito Semi Bold" pitchFamily="34" charset="-122"/>
                <a:cs typeface="Nunito Semi Bold" pitchFamily="34" charset="-120"/>
              </a:rPr>
              <a:t> y </a:t>
            </a:r>
            <a:r>
              <a:rPr lang="en-US" sz="4400" dirty="0" err="1">
                <a:solidFill>
                  <a:srgbClr val="FFFFFF"/>
                </a:solidFill>
                <a:latin typeface="Nunito Semi Bold" pitchFamily="34" charset="0"/>
                <a:ea typeface="Nunito Semi Bold" pitchFamily="34" charset="-122"/>
                <a:cs typeface="Nunito Semi Bold" pitchFamily="34" charset="-120"/>
              </a:rPr>
              <a:t>público</a:t>
            </a:r>
            <a:r>
              <a:rPr lang="en-US" sz="4400" dirty="0">
                <a:solidFill>
                  <a:srgbClr val="FFFFFF"/>
                </a:solidFill>
                <a:latin typeface="Nunito Semi Bold" pitchFamily="34" charset="0"/>
                <a:ea typeface="Nunito Semi Bold" pitchFamily="34" charset="-122"/>
                <a:cs typeface="Nunito Semi Bold" pitchFamily="34" charset="-120"/>
              </a:rPr>
              <a:t>?</a:t>
            </a:r>
            <a:endParaRPr lang="en-US" sz="4400" dirty="0"/>
          </a:p>
        </p:txBody>
      </p:sp>
      <p:pic>
        <p:nvPicPr>
          <p:cNvPr id="3" name="Image 0" descr="preencoded.png">
            <a:extLst>
              <a:ext uri="{FF2B5EF4-FFF2-40B4-BE49-F238E27FC236}">
                <a16:creationId xmlns:a16="http://schemas.microsoft.com/office/drawing/2014/main" id="{0BC801D2-B3B4-115C-28AD-F4223A959355}"/>
              </a:ext>
            </a:extLst>
          </p:cNvPr>
          <p:cNvPicPr>
            <a:picLocks noChangeAspect="1"/>
          </p:cNvPicPr>
          <p:nvPr/>
        </p:nvPicPr>
        <p:blipFill>
          <a:blip r:embed="rId3"/>
          <a:stretch>
            <a:fillRect/>
          </a:stretch>
        </p:blipFill>
        <p:spPr>
          <a:xfrm>
            <a:off x="12084094" y="178399"/>
            <a:ext cx="1914438" cy="1914438"/>
          </a:xfrm>
          <a:prstGeom prst="rect">
            <a:avLst/>
          </a:prstGeom>
        </p:spPr>
      </p:pic>
      <p:sp>
        <p:nvSpPr>
          <p:cNvPr id="5" name="Text 1">
            <a:extLst>
              <a:ext uri="{FF2B5EF4-FFF2-40B4-BE49-F238E27FC236}">
                <a16:creationId xmlns:a16="http://schemas.microsoft.com/office/drawing/2014/main" id="{5FDECEA5-583D-BD2C-A359-B7275455EB83}"/>
              </a:ext>
            </a:extLst>
          </p:cNvPr>
          <p:cNvSpPr/>
          <p:nvPr/>
        </p:nvSpPr>
        <p:spPr>
          <a:xfrm>
            <a:off x="746165" y="7274838"/>
            <a:ext cx="13138071" cy="322421"/>
          </a:xfrm>
          <a:prstGeom prst="rect">
            <a:avLst/>
          </a:prstGeom>
          <a:noFill/>
          <a:ln/>
        </p:spPr>
        <p:txBody>
          <a:bodyPr wrap="none" lIns="0" tIns="0" rIns="0" bIns="0" rtlCol="0" anchor="t"/>
          <a:lstStyle/>
          <a:p>
            <a:pPr marL="0" indent="0" algn="l">
              <a:lnSpc>
                <a:spcPts val="2500"/>
              </a:lnSpc>
              <a:buNone/>
            </a:pPr>
            <a:endParaRPr lang="en-US" sz="1650" dirty="0"/>
          </a:p>
        </p:txBody>
      </p:sp>
      <p:pic>
        <p:nvPicPr>
          <p:cNvPr id="11" name="Imagen 10">
            <a:extLst>
              <a:ext uri="{FF2B5EF4-FFF2-40B4-BE49-F238E27FC236}">
                <a16:creationId xmlns:a16="http://schemas.microsoft.com/office/drawing/2014/main" id="{C4D51CD9-587A-A05E-D571-124DEBA8A8F5}"/>
              </a:ext>
            </a:extLst>
          </p:cNvPr>
          <p:cNvPicPr>
            <a:picLocks noChangeAspect="1"/>
          </p:cNvPicPr>
          <p:nvPr/>
        </p:nvPicPr>
        <p:blipFill>
          <a:blip r:embed="rId4"/>
          <a:stretch>
            <a:fillRect/>
          </a:stretch>
        </p:blipFill>
        <p:spPr>
          <a:xfrm>
            <a:off x="1589087" y="1646744"/>
            <a:ext cx="9420225" cy="5619750"/>
          </a:xfrm>
          <a:prstGeom prst="rect">
            <a:avLst/>
          </a:prstGeom>
        </p:spPr>
      </p:pic>
      <p:pic>
        <p:nvPicPr>
          <p:cNvPr id="12" name="Image 1" descr="preencoded.png">
            <a:extLst>
              <a:ext uri="{FF2B5EF4-FFF2-40B4-BE49-F238E27FC236}">
                <a16:creationId xmlns:a16="http://schemas.microsoft.com/office/drawing/2014/main" id="{4A7ADD2A-BE68-16AE-1CB1-3F60A4ECBD35}"/>
              </a:ext>
            </a:extLst>
          </p:cNvPr>
          <p:cNvPicPr>
            <a:picLocks noChangeAspect="1"/>
          </p:cNvPicPr>
          <p:nvPr/>
        </p:nvPicPr>
        <p:blipFill>
          <a:blip r:embed="rId5"/>
          <a:stretch>
            <a:fillRect/>
          </a:stretch>
        </p:blipFill>
        <p:spPr>
          <a:xfrm rot="1872697">
            <a:off x="6277395" y="1202507"/>
            <a:ext cx="4479337" cy="3574422"/>
          </a:xfrm>
          <a:prstGeom prst="rect">
            <a:avLst/>
          </a:prstGeom>
        </p:spPr>
      </p:pic>
    </p:spTree>
    <p:extLst>
      <p:ext uri="{BB962C8B-B14F-4D97-AF65-F5344CB8AC3E}">
        <p14:creationId xmlns:p14="http://schemas.microsoft.com/office/powerpoint/2010/main" val="1629347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B7B8DDB0-88A1-D2F5-1264-F16708178D9D}"/>
              </a:ext>
            </a:extLst>
          </p:cNvPr>
          <p:cNvPicPr>
            <a:picLocks noChangeAspect="1"/>
          </p:cNvPicPr>
          <p:nvPr/>
        </p:nvPicPr>
        <p:blipFill>
          <a:blip r:embed="rId3"/>
          <a:stretch>
            <a:fillRect/>
          </a:stretch>
        </p:blipFill>
        <p:spPr>
          <a:xfrm>
            <a:off x="1104900" y="1067080"/>
            <a:ext cx="12014200" cy="6095440"/>
          </a:xfrm>
          <a:prstGeom prst="rect">
            <a:avLst/>
          </a:prstGeom>
        </p:spPr>
      </p:pic>
    </p:spTree>
    <p:extLst>
      <p:ext uri="{BB962C8B-B14F-4D97-AF65-F5344CB8AC3E}">
        <p14:creationId xmlns:p14="http://schemas.microsoft.com/office/powerpoint/2010/main" val="9321464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32D50C4A-158F-9239-C42A-A31DFA68CF05}"/>
              </a:ext>
            </a:extLst>
          </p:cNvPr>
          <p:cNvSpPr/>
          <p:nvPr/>
        </p:nvSpPr>
        <p:spPr>
          <a:xfrm>
            <a:off x="627632" y="491760"/>
            <a:ext cx="8960287" cy="626983"/>
          </a:xfrm>
          <a:prstGeom prst="rect">
            <a:avLst/>
          </a:prstGeom>
          <a:noFill/>
          <a:ln/>
        </p:spPr>
        <p:txBody>
          <a:bodyPr wrap="none" lIns="0" tIns="0" rIns="0" bIns="0" rtlCol="0" anchor="t"/>
          <a:lstStyle/>
          <a:p>
            <a:pPr>
              <a:lnSpc>
                <a:spcPts val="4900"/>
              </a:lnSpc>
            </a:pPr>
            <a:r>
              <a:rPr lang="en-US" sz="4400" dirty="0">
                <a:solidFill>
                  <a:srgbClr val="FFFFFF"/>
                </a:solidFill>
                <a:latin typeface="Nunito Semi Bold" pitchFamily="34" charset="0"/>
              </a:rPr>
              <a:t>Grandes </a:t>
            </a:r>
            <a:r>
              <a:rPr lang="en-US" sz="4400" dirty="0" err="1">
                <a:solidFill>
                  <a:srgbClr val="FFFFFF"/>
                </a:solidFill>
                <a:latin typeface="Nunito Semi Bold" pitchFamily="34" charset="0"/>
              </a:rPr>
              <a:t>ganadoras</a:t>
            </a:r>
            <a:r>
              <a:rPr lang="en-US" sz="4400" dirty="0">
                <a:solidFill>
                  <a:srgbClr val="FFFFFF"/>
                </a:solidFill>
                <a:latin typeface="Nunito Semi Bold" pitchFamily="34" charset="0"/>
              </a:rPr>
              <a:t> ¿hay </a:t>
            </a:r>
            <a:r>
              <a:rPr lang="en-US" sz="4400" dirty="0" err="1">
                <a:solidFill>
                  <a:srgbClr val="FFFFFF"/>
                </a:solidFill>
                <a:latin typeface="Nunito Semi Bold" pitchFamily="34" charset="0"/>
              </a:rPr>
              <a:t>una</a:t>
            </a:r>
            <a:r>
              <a:rPr lang="en-US" sz="4400" dirty="0">
                <a:solidFill>
                  <a:srgbClr val="FFFFFF"/>
                </a:solidFill>
                <a:latin typeface="Nunito Semi Bold" pitchFamily="34" charset="0"/>
              </a:rPr>
              <a:t> </a:t>
            </a:r>
            <a:r>
              <a:rPr lang="en-US" sz="4400" dirty="0" err="1">
                <a:solidFill>
                  <a:srgbClr val="FFFFFF"/>
                </a:solidFill>
                <a:latin typeface="Nunito Semi Bold" pitchFamily="34" charset="0"/>
              </a:rPr>
              <a:t>receta</a:t>
            </a:r>
            <a:r>
              <a:rPr lang="en-US" sz="4400" dirty="0">
                <a:solidFill>
                  <a:srgbClr val="FFFFFF"/>
                </a:solidFill>
                <a:latin typeface="Nunito Semi Bold" pitchFamily="34" charset="0"/>
              </a:rPr>
              <a:t> para el </a:t>
            </a:r>
            <a:r>
              <a:rPr lang="en-US" sz="4400" dirty="0" err="1">
                <a:solidFill>
                  <a:srgbClr val="FFFFFF"/>
                </a:solidFill>
                <a:latin typeface="Nunito Semi Bold" pitchFamily="34" charset="0"/>
              </a:rPr>
              <a:t>éxito</a:t>
            </a:r>
            <a:r>
              <a:rPr lang="en-US" sz="4400" dirty="0">
                <a:solidFill>
                  <a:srgbClr val="FFFFFF"/>
                </a:solidFill>
                <a:latin typeface="Nunito Semi Bold" pitchFamily="34" charset="0"/>
              </a:rPr>
              <a:t>?</a:t>
            </a:r>
            <a:endParaRPr lang="en-US" sz="4400" dirty="0"/>
          </a:p>
        </p:txBody>
      </p:sp>
      <p:sp>
        <p:nvSpPr>
          <p:cNvPr id="23" name="Text 3">
            <a:extLst>
              <a:ext uri="{FF2B5EF4-FFF2-40B4-BE49-F238E27FC236}">
                <a16:creationId xmlns:a16="http://schemas.microsoft.com/office/drawing/2014/main" id="{9331B87B-F28C-A498-92E4-C21F39156472}"/>
              </a:ext>
            </a:extLst>
          </p:cNvPr>
          <p:cNvSpPr>
            <a:spLocks noChangeAspect="1"/>
          </p:cNvSpPr>
          <p:nvPr/>
        </p:nvSpPr>
        <p:spPr>
          <a:xfrm>
            <a:off x="7737231" y="1456392"/>
            <a:ext cx="3180305" cy="576959"/>
          </a:xfrm>
          <a:prstGeom prst="rect">
            <a:avLst/>
          </a:prstGeom>
          <a:noFill/>
          <a:ln/>
        </p:spPr>
        <p:txBody>
          <a:bodyPr wrap="none" lIns="0" tIns="0" rIns="0" bIns="0" rtlCol="0" anchor="t"/>
          <a:lstStyle/>
          <a:p>
            <a:pPr marL="0" indent="0" algn="ctr">
              <a:lnSpc>
                <a:spcPts val="5300"/>
              </a:lnSpc>
              <a:buNone/>
            </a:pPr>
            <a:r>
              <a:rPr lang="en-US" sz="5300" dirty="0">
                <a:solidFill>
                  <a:srgbClr val="FFFFFF"/>
                </a:solidFill>
                <a:latin typeface="Nunito Semi Bold" pitchFamily="34" charset="0"/>
                <a:ea typeface="Nunito Semi Bold" pitchFamily="34" charset="-122"/>
                <a:cs typeface="Nunito Semi Bold" pitchFamily="34" charset="-120"/>
              </a:rPr>
              <a:t>1.9X</a:t>
            </a:r>
            <a:endParaRPr lang="en-US" sz="5300" dirty="0"/>
          </a:p>
        </p:txBody>
      </p:sp>
      <p:sp>
        <p:nvSpPr>
          <p:cNvPr id="24" name="Text 4">
            <a:extLst>
              <a:ext uri="{FF2B5EF4-FFF2-40B4-BE49-F238E27FC236}">
                <a16:creationId xmlns:a16="http://schemas.microsoft.com/office/drawing/2014/main" id="{DD1E55EC-2134-DB73-2960-2EEFF6F8CCBE}"/>
              </a:ext>
            </a:extLst>
          </p:cNvPr>
          <p:cNvSpPr>
            <a:spLocks noChangeAspect="1"/>
          </p:cNvSpPr>
          <p:nvPr/>
        </p:nvSpPr>
        <p:spPr>
          <a:xfrm>
            <a:off x="8397908" y="2370435"/>
            <a:ext cx="2057154" cy="257158"/>
          </a:xfrm>
          <a:prstGeom prst="rect">
            <a:avLst/>
          </a:prstGeom>
          <a:noFill/>
          <a:ln/>
        </p:spPr>
        <p:txBody>
          <a:bodyPr wrap="none" lIns="0" tIns="0" rIns="0" bIns="0" rtlCol="0" anchor="t"/>
          <a:lstStyle/>
          <a:p>
            <a:pPr marL="0" indent="0" algn="ctr">
              <a:lnSpc>
                <a:spcPts val="2350"/>
              </a:lnSpc>
              <a:buNone/>
            </a:pPr>
            <a:r>
              <a:rPr lang="en-US" sz="1900" dirty="0" err="1">
                <a:solidFill>
                  <a:srgbClr val="FFFFFF"/>
                </a:solidFill>
                <a:latin typeface="Nunito Semi Bold" pitchFamily="34" charset="0"/>
                <a:ea typeface="Nunito Semi Bold" pitchFamily="34" charset="-122"/>
                <a:cs typeface="Nunito Semi Bold" pitchFamily="34" charset="-120"/>
              </a:rPr>
              <a:t>Presupuesto</a:t>
            </a:r>
            <a:endParaRPr lang="en-US" sz="1900" dirty="0"/>
          </a:p>
        </p:txBody>
      </p:sp>
      <p:sp>
        <p:nvSpPr>
          <p:cNvPr id="25" name="Text 5">
            <a:extLst>
              <a:ext uri="{FF2B5EF4-FFF2-40B4-BE49-F238E27FC236}">
                <a16:creationId xmlns:a16="http://schemas.microsoft.com/office/drawing/2014/main" id="{D222CAC1-F11E-A23E-C03D-63625A9087ED}"/>
              </a:ext>
            </a:extLst>
          </p:cNvPr>
          <p:cNvSpPr>
            <a:spLocks noChangeAspect="1"/>
          </p:cNvSpPr>
          <p:nvPr/>
        </p:nvSpPr>
        <p:spPr>
          <a:xfrm>
            <a:off x="7693758" y="2778937"/>
            <a:ext cx="3180305" cy="520183"/>
          </a:xfrm>
          <a:prstGeom prst="rect">
            <a:avLst/>
          </a:prstGeom>
          <a:noFill/>
          <a:ln/>
        </p:spPr>
        <p:txBody>
          <a:bodyPr wrap="square" lIns="0" tIns="0" rIns="0" bIns="0" rtlCol="0" anchor="t"/>
          <a:lstStyle/>
          <a:p>
            <a:pPr marL="0" indent="0" algn="ctr">
              <a:lnSpc>
                <a:spcPts val="2400"/>
              </a:lnSpc>
              <a:buNone/>
            </a:pPr>
            <a:r>
              <a:rPr lang="en-US" sz="1600" dirty="0">
                <a:solidFill>
                  <a:srgbClr val="FFFFFF"/>
                </a:solidFill>
                <a:latin typeface="PT Sans" pitchFamily="34" charset="0"/>
              </a:rPr>
              <a:t>Las </a:t>
            </a:r>
            <a:r>
              <a:rPr lang="en-US" sz="1600" dirty="0" err="1">
                <a:solidFill>
                  <a:srgbClr val="FFFFFF"/>
                </a:solidFill>
                <a:latin typeface="PT Sans" pitchFamily="34" charset="0"/>
              </a:rPr>
              <a:t>películas</a:t>
            </a:r>
            <a:r>
              <a:rPr lang="en-US" sz="1600" dirty="0">
                <a:solidFill>
                  <a:srgbClr val="FFFFFF"/>
                </a:solidFill>
                <a:latin typeface="PT Sans" pitchFamily="34" charset="0"/>
              </a:rPr>
              <a:t> </a:t>
            </a:r>
            <a:r>
              <a:rPr lang="en-US" sz="1600" dirty="0" err="1">
                <a:solidFill>
                  <a:srgbClr val="FFFFFF"/>
                </a:solidFill>
                <a:latin typeface="PT Sans" pitchFamily="34" charset="0"/>
              </a:rPr>
              <a:t>exitosas</a:t>
            </a:r>
            <a:r>
              <a:rPr lang="en-US" sz="1600" dirty="0">
                <a:solidFill>
                  <a:srgbClr val="FFFFFF"/>
                </a:solidFill>
                <a:latin typeface="PT Sans" pitchFamily="34" charset="0"/>
              </a:rPr>
              <a:t> </a:t>
            </a:r>
            <a:r>
              <a:rPr lang="en-US" sz="1600" dirty="0" err="1">
                <a:solidFill>
                  <a:srgbClr val="FFFFFF"/>
                </a:solidFill>
                <a:latin typeface="PT Sans" pitchFamily="34" charset="0"/>
              </a:rPr>
              <a:t>invierten</a:t>
            </a:r>
            <a:r>
              <a:rPr lang="en-US" sz="1600" dirty="0">
                <a:solidFill>
                  <a:srgbClr val="FFFFFF"/>
                </a:solidFill>
                <a:latin typeface="PT Sans" pitchFamily="34" charset="0"/>
              </a:rPr>
              <a:t> </a:t>
            </a:r>
            <a:r>
              <a:rPr lang="en-US" sz="1600" dirty="0" err="1">
                <a:solidFill>
                  <a:srgbClr val="FFFFFF"/>
                </a:solidFill>
                <a:latin typeface="PT Sans" pitchFamily="34" charset="0"/>
              </a:rPr>
              <a:t>más</a:t>
            </a:r>
            <a:r>
              <a:rPr lang="en-US" sz="1600" dirty="0">
                <a:solidFill>
                  <a:srgbClr val="FFFFFF"/>
                </a:solidFill>
                <a:latin typeface="PT Sans" pitchFamily="34" charset="0"/>
              </a:rPr>
              <a:t>…</a:t>
            </a:r>
            <a:endParaRPr lang="en-US" sz="1600" dirty="0"/>
          </a:p>
        </p:txBody>
      </p:sp>
      <p:sp>
        <p:nvSpPr>
          <p:cNvPr id="26" name="Text 6">
            <a:extLst>
              <a:ext uri="{FF2B5EF4-FFF2-40B4-BE49-F238E27FC236}">
                <a16:creationId xmlns:a16="http://schemas.microsoft.com/office/drawing/2014/main" id="{1E1ACBC0-9A82-BE3B-6BC0-0A8E1A658482}"/>
              </a:ext>
            </a:extLst>
          </p:cNvPr>
          <p:cNvSpPr>
            <a:spLocks noChangeAspect="1"/>
          </p:cNvSpPr>
          <p:nvPr/>
        </p:nvSpPr>
        <p:spPr>
          <a:xfrm>
            <a:off x="7737231" y="3776427"/>
            <a:ext cx="3180305" cy="576959"/>
          </a:xfrm>
          <a:prstGeom prst="rect">
            <a:avLst/>
          </a:prstGeom>
          <a:noFill/>
          <a:ln/>
        </p:spPr>
        <p:txBody>
          <a:bodyPr wrap="none" lIns="0" tIns="0" rIns="0" bIns="0" rtlCol="0" anchor="t"/>
          <a:lstStyle/>
          <a:p>
            <a:pPr marL="0" indent="0" algn="ctr">
              <a:lnSpc>
                <a:spcPts val="5300"/>
              </a:lnSpc>
              <a:buNone/>
            </a:pPr>
            <a:r>
              <a:rPr lang="en-US" sz="5300" dirty="0">
                <a:solidFill>
                  <a:srgbClr val="FFFFFF"/>
                </a:solidFill>
                <a:latin typeface="Nunito Semi Bold" pitchFamily="34" charset="0"/>
                <a:ea typeface="Nunito Semi Bold" pitchFamily="34" charset="-122"/>
                <a:cs typeface="Nunito Semi Bold" pitchFamily="34" charset="-120"/>
              </a:rPr>
              <a:t>5.3X</a:t>
            </a:r>
            <a:endParaRPr lang="en-US" sz="5300" dirty="0"/>
          </a:p>
        </p:txBody>
      </p:sp>
      <p:sp>
        <p:nvSpPr>
          <p:cNvPr id="27" name="Text 7">
            <a:extLst>
              <a:ext uri="{FF2B5EF4-FFF2-40B4-BE49-F238E27FC236}">
                <a16:creationId xmlns:a16="http://schemas.microsoft.com/office/drawing/2014/main" id="{6116D72F-4B95-A2AA-7145-803B559A6B0D}"/>
              </a:ext>
            </a:extLst>
          </p:cNvPr>
          <p:cNvSpPr>
            <a:spLocks noChangeAspect="1"/>
          </p:cNvSpPr>
          <p:nvPr/>
        </p:nvSpPr>
        <p:spPr>
          <a:xfrm>
            <a:off x="8397908" y="4690470"/>
            <a:ext cx="2057154" cy="257158"/>
          </a:xfrm>
          <a:prstGeom prst="rect">
            <a:avLst/>
          </a:prstGeom>
          <a:noFill/>
          <a:ln/>
        </p:spPr>
        <p:txBody>
          <a:bodyPr wrap="none" lIns="0" tIns="0" rIns="0" bIns="0" rtlCol="0" anchor="t"/>
          <a:lstStyle/>
          <a:p>
            <a:pPr marL="0" indent="0" algn="ctr">
              <a:lnSpc>
                <a:spcPts val="2350"/>
              </a:lnSpc>
              <a:buNone/>
            </a:pPr>
            <a:r>
              <a:rPr lang="en-US" sz="1900" dirty="0" err="1">
                <a:solidFill>
                  <a:srgbClr val="FFFFFF"/>
                </a:solidFill>
                <a:latin typeface="Nunito Semi Bold" pitchFamily="34" charset="0"/>
                <a:ea typeface="Nunito Semi Bold" pitchFamily="34" charset="-122"/>
                <a:cs typeface="Nunito Semi Bold" pitchFamily="34" charset="-120"/>
              </a:rPr>
              <a:t>Recaudación</a:t>
            </a:r>
            <a:endParaRPr lang="en-US" sz="1900" dirty="0"/>
          </a:p>
        </p:txBody>
      </p:sp>
      <p:sp>
        <p:nvSpPr>
          <p:cNvPr id="28" name="Text 8">
            <a:extLst>
              <a:ext uri="{FF2B5EF4-FFF2-40B4-BE49-F238E27FC236}">
                <a16:creationId xmlns:a16="http://schemas.microsoft.com/office/drawing/2014/main" id="{9B9549E8-034E-DD84-0A24-71D67FDFEDF8}"/>
              </a:ext>
            </a:extLst>
          </p:cNvPr>
          <p:cNvSpPr>
            <a:spLocks noChangeAspect="1"/>
          </p:cNvSpPr>
          <p:nvPr/>
        </p:nvSpPr>
        <p:spPr>
          <a:xfrm>
            <a:off x="7693758" y="5098972"/>
            <a:ext cx="3180305" cy="520183"/>
          </a:xfrm>
          <a:prstGeom prst="rect">
            <a:avLst/>
          </a:prstGeom>
          <a:noFill/>
          <a:ln/>
        </p:spPr>
        <p:txBody>
          <a:bodyPr wrap="square" lIns="0" tIns="0" rIns="0" bIns="0" rtlCol="0" anchor="t"/>
          <a:lstStyle/>
          <a:p>
            <a:pPr marL="0" indent="0" algn="ctr">
              <a:lnSpc>
                <a:spcPts val="2400"/>
              </a:lnSpc>
              <a:buNone/>
            </a:pPr>
            <a:r>
              <a:rPr lang="en-US" sz="1600" dirty="0">
                <a:solidFill>
                  <a:srgbClr val="FFFFFF"/>
                </a:solidFill>
                <a:latin typeface="PT Sans" pitchFamily="34" charset="0"/>
                <a:ea typeface="PT Sans" pitchFamily="34" charset="-122"/>
                <a:cs typeface="PT Sans" pitchFamily="34" charset="-120"/>
              </a:rPr>
              <a:t>…</a:t>
            </a:r>
            <a:r>
              <a:rPr lang="en-US" sz="1600" dirty="0" err="1">
                <a:solidFill>
                  <a:srgbClr val="FFFFFF"/>
                </a:solidFill>
                <a:latin typeface="PT Sans" pitchFamily="34" charset="0"/>
                <a:ea typeface="PT Sans" pitchFamily="34" charset="-122"/>
                <a:cs typeface="PT Sans" pitchFamily="34" charset="-120"/>
              </a:rPr>
              <a:t>pero</a:t>
            </a:r>
            <a:r>
              <a:rPr lang="en-US" sz="1600" dirty="0">
                <a:solidFill>
                  <a:srgbClr val="FFFFFF"/>
                </a:solidFill>
                <a:latin typeface="PT Sans" pitchFamily="34" charset="0"/>
                <a:ea typeface="PT Sans" pitchFamily="34" charset="-122"/>
                <a:cs typeface="PT Sans" pitchFamily="34" charset="-120"/>
              </a:rPr>
              <a:t> </a:t>
            </a:r>
            <a:r>
              <a:rPr lang="en-US" sz="1600" dirty="0" err="1">
                <a:solidFill>
                  <a:srgbClr val="FFFFFF"/>
                </a:solidFill>
                <a:latin typeface="PT Sans" pitchFamily="34" charset="0"/>
                <a:ea typeface="PT Sans" pitchFamily="34" charset="-122"/>
                <a:cs typeface="PT Sans" pitchFamily="34" charset="-120"/>
              </a:rPr>
              <a:t>recaudan</a:t>
            </a:r>
            <a:r>
              <a:rPr lang="en-US" sz="1600" dirty="0">
                <a:solidFill>
                  <a:srgbClr val="FFFFFF"/>
                </a:solidFill>
                <a:latin typeface="PT Sans" pitchFamily="34" charset="0"/>
                <a:ea typeface="PT Sans" pitchFamily="34" charset="-122"/>
                <a:cs typeface="PT Sans" pitchFamily="34" charset="-120"/>
              </a:rPr>
              <a:t> </a:t>
            </a:r>
            <a:r>
              <a:rPr lang="en-US" sz="1600" dirty="0" err="1">
                <a:solidFill>
                  <a:srgbClr val="FFFFFF"/>
                </a:solidFill>
                <a:latin typeface="PT Sans" pitchFamily="34" charset="0"/>
                <a:ea typeface="PT Sans" pitchFamily="34" charset="-122"/>
                <a:cs typeface="PT Sans" pitchFamily="34" charset="-120"/>
              </a:rPr>
              <a:t>aun</a:t>
            </a:r>
            <a:r>
              <a:rPr lang="en-US" sz="1600" dirty="0">
                <a:solidFill>
                  <a:srgbClr val="FFFFFF"/>
                </a:solidFill>
                <a:latin typeface="PT Sans" pitchFamily="34" charset="0"/>
                <a:ea typeface="PT Sans" pitchFamily="34" charset="-122"/>
                <a:cs typeface="PT Sans" pitchFamily="34" charset="-120"/>
              </a:rPr>
              <a:t> </a:t>
            </a:r>
            <a:r>
              <a:rPr lang="en-US" sz="1600" dirty="0" err="1">
                <a:solidFill>
                  <a:srgbClr val="FFFFFF"/>
                </a:solidFill>
                <a:latin typeface="PT Sans" pitchFamily="34" charset="0"/>
                <a:ea typeface="PT Sans" pitchFamily="34" charset="-122"/>
                <a:cs typeface="PT Sans" pitchFamily="34" charset="-120"/>
              </a:rPr>
              <a:t>más</a:t>
            </a:r>
            <a:r>
              <a:rPr lang="en-US" sz="1600" dirty="0">
                <a:solidFill>
                  <a:srgbClr val="FFFFFF"/>
                </a:solidFill>
                <a:latin typeface="PT Sans" pitchFamily="34" charset="0"/>
                <a:ea typeface="PT Sans" pitchFamily="34" charset="-122"/>
                <a:cs typeface="PT Sans" pitchFamily="34" charset="-120"/>
              </a:rPr>
              <a:t> en </a:t>
            </a:r>
            <a:r>
              <a:rPr lang="en-US" sz="1600" dirty="0" err="1">
                <a:solidFill>
                  <a:srgbClr val="FFFFFF"/>
                </a:solidFill>
                <a:latin typeface="PT Sans" pitchFamily="34" charset="0"/>
                <a:ea typeface="PT Sans" pitchFamily="34" charset="-122"/>
                <a:cs typeface="PT Sans" pitchFamily="34" charset="-120"/>
              </a:rPr>
              <a:t>proporción</a:t>
            </a:r>
            <a:r>
              <a:rPr lang="en-US" sz="1600" dirty="0">
                <a:solidFill>
                  <a:srgbClr val="FFFFFF"/>
                </a:solidFill>
                <a:latin typeface="PT Sans" pitchFamily="34" charset="0"/>
                <a:ea typeface="PT Sans" pitchFamily="34" charset="-122"/>
                <a:cs typeface="PT Sans" pitchFamily="34" charset="-120"/>
              </a:rPr>
              <a:t> …</a:t>
            </a:r>
            <a:endParaRPr lang="en-US" sz="1600" dirty="0"/>
          </a:p>
        </p:txBody>
      </p:sp>
      <p:sp>
        <p:nvSpPr>
          <p:cNvPr id="29" name="Text 9">
            <a:extLst>
              <a:ext uri="{FF2B5EF4-FFF2-40B4-BE49-F238E27FC236}">
                <a16:creationId xmlns:a16="http://schemas.microsoft.com/office/drawing/2014/main" id="{87812A43-BFC5-2610-22D3-CBB03EAC3E1C}"/>
              </a:ext>
            </a:extLst>
          </p:cNvPr>
          <p:cNvSpPr>
            <a:spLocks noChangeAspect="1"/>
          </p:cNvSpPr>
          <p:nvPr/>
        </p:nvSpPr>
        <p:spPr>
          <a:xfrm>
            <a:off x="7737231" y="5999798"/>
            <a:ext cx="3180305" cy="576959"/>
          </a:xfrm>
          <a:prstGeom prst="rect">
            <a:avLst/>
          </a:prstGeom>
          <a:noFill/>
          <a:ln/>
        </p:spPr>
        <p:txBody>
          <a:bodyPr wrap="none" lIns="0" tIns="0" rIns="0" bIns="0" rtlCol="0" anchor="t"/>
          <a:lstStyle/>
          <a:p>
            <a:pPr marL="0" indent="0" algn="ctr">
              <a:lnSpc>
                <a:spcPts val="5300"/>
              </a:lnSpc>
              <a:buNone/>
            </a:pPr>
            <a:r>
              <a:rPr lang="en-US" sz="5300" dirty="0">
                <a:solidFill>
                  <a:srgbClr val="FFFFFF"/>
                </a:solidFill>
                <a:latin typeface="Nunito Semi Bold" pitchFamily="34" charset="0"/>
                <a:ea typeface="Nunito Semi Bold" pitchFamily="34" charset="-122"/>
                <a:cs typeface="Nunito Semi Bold" pitchFamily="34" charset="-120"/>
              </a:rPr>
              <a:t>2X</a:t>
            </a:r>
            <a:endParaRPr lang="en-US" sz="5300" dirty="0"/>
          </a:p>
        </p:txBody>
      </p:sp>
      <p:sp>
        <p:nvSpPr>
          <p:cNvPr id="30" name="Text 10">
            <a:extLst>
              <a:ext uri="{FF2B5EF4-FFF2-40B4-BE49-F238E27FC236}">
                <a16:creationId xmlns:a16="http://schemas.microsoft.com/office/drawing/2014/main" id="{F567B205-2A67-1ABA-A9F9-B4AC64882C57}"/>
              </a:ext>
            </a:extLst>
          </p:cNvPr>
          <p:cNvSpPr>
            <a:spLocks noChangeAspect="1"/>
          </p:cNvSpPr>
          <p:nvPr/>
        </p:nvSpPr>
        <p:spPr>
          <a:xfrm>
            <a:off x="8397908" y="6913841"/>
            <a:ext cx="2057154" cy="257158"/>
          </a:xfrm>
          <a:prstGeom prst="rect">
            <a:avLst/>
          </a:prstGeom>
          <a:noFill/>
          <a:ln/>
        </p:spPr>
        <p:txBody>
          <a:bodyPr wrap="none" lIns="0" tIns="0" rIns="0" bIns="0" rtlCol="0" anchor="t"/>
          <a:lstStyle/>
          <a:p>
            <a:pPr marL="0" indent="0" algn="ctr">
              <a:lnSpc>
                <a:spcPts val="2350"/>
              </a:lnSpc>
              <a:buNone/>
            </a:pPr>
            <a:r>
              <a:rPr lang="en-US" sz="1900" dirty="0" err="1">
                <a:solidFill>
                  <a:srgbClr val="FFFFFF"/>
                </a:solidFill>
                <a:latin typeface="Nunito Semi Bold" pitchFamily="34" charset="0"/>
                <a:ea typeface="Nunito Semi Bold" pitchFamily="34" charset="-122"/>
                <a:cs typeface="Nunito Semi Bold" pitchFamily="34" charset="-120"/>
              </a:rPr>
              <a:t>Retorno</a:t>
            </a:r>
            <a:endParaRPr lang="en-US" sz="1900" dirty="0"/>
          </a:p>
        </p:txBody>
      </p:sp>
      <p:sp>
        <p:nvSpPr>
          <p:cNvPr id="31" name="Text 11">
            <a:extLst>
              <a:ext uri="{FF2B5EF4-FFF2-40B4-BE49-F238E27FC236}">
                <a16:creationId xmlns:a16="http://schemas.microsoft.com/office/drawing/2014/main" id="{CB1C33F7-033C-3EFB-ACB0-E8D9205578ED}"/>
              </a:ext>
            </a:extLst>
          </p:cNvPr>
          <p:cNvSpPr>
            <a:spLocks noChangeAspect="1"/>
          </p:cNvSpPr>
          <p:nvPr/>
        </p:nvSpPr>
        <p:spPr>
          <a:xfrm>
            <a:off x="7693758" y="7322343"/>
            <a:ext cx="3180305" cy="520183"/>
          </a:xfrm>
          <a:prstGeom prst="rect">
            <a:avLst/>
          </a:prstGeom>
          <a:noFill/>
          <a:ln/>
        </p:spPr>
        <p:txBody>
          <a:bodyPr wrap="square" lIns="0" tIns="0" rIns="0" bIns="0" rtlCol="0" anchor="t"/>
          <a:lstStyle/>
          <a:p>
            <a:pPr marL="0" indent="0" algn="ctr">
              <a:lnSpc>
                <a:spcPts val="2400"/>
              </a:lnSpc>
              <a:buNone/>
            </a:pPr>
            <a:r>
              <a:rPr lang="en-US" sz="1600" dirty="0">
                <a:solidFill>
                  <a:srgbClr val="FFFFFF"/>
                </a:solidFill>
                <a:latin typeface="PT Sans" pitchFamily="34" charset="0"/>
                <a:ea typeface="PT Sans" pitchFamily="34" charset="-122"/>
                <a:cs typeface="PT Sans" pitchFamily="34" charset="-120"/>
              </a:rPr>
              <a:t>… </a:t>
            </a:r>
            <a:r>
              <a:rPr lang="en-US" sz="1600" dirty="0" err="1">
                <a:solidFill>
                  <a:srgbClr val="FFFFFF"/>
                </a:solidFill>
                <a:latin typeface="PT Sans" pitchFamily="34" charset="0"/>
                <a:ea typeface="PT Sans" pitchFamily="34" charset="-122"/>
                <a:cs typeface="PT Sans" pitchFamily="34" charset="-120"/>
              </a:rPr>
              <a:t>siendo</a:t>
            </a:r>
            <a:r>
              <a:rPr lang="en-US" sz="1600" dirty="0">
                <a:solidFill>
                  <a:srgbClr val="FFFFFF"/>
                </a:solidFill>
                <a:latin typeface="PT Sans" pitchFamily="34" charset="0"/>
                <a:ea typeface="PT Sans" pitchFamily="34" charset="-122"/>
                <a:cs typeface="PT Sans" pitchFamily="34" charset="-120"/>
              </a:rPr>
              <a:t> al final el doble de </a:t>
            </a:r>
            <a:r>
              <a:rPr lang="en-US" sz="1600" dirty="0" err="1">
                <a:solidFill>
                  <a:srgbClr val="FFFFFF"/>
                </a:solidFill>
                <a:latin typeface="PT Sans" pitchFamily="34" charset="0"/>
                <a:ea typeface="PT Sans" pitchFamily="34" charset="-122"/>
                <a:cs typeface="PT Sans" pitchFamily="34" charset="-120"/>
              </a:rPr>
              <a:t>rentables</a:t>
            </a:r>
            <a:r>
              <a:rPr lang="en-US" sz="1600" dirty="0">
                <a:solidFill>
                  <a:srgbClr val="FFFFFF"/>
                </a:solidFill>
                <a:latin typeface="PT Sans" pitchFamily="34" charset="0"/>
                <a:ea typeface="PT Sans" pitchFamily="34" charset="-122"/>
                <a:cs typeface="PT Sans" pitchFamily="34" charset="-120"/>
              </a:rPr>
              <a:t> de media </a:t>
            </a:r>
            <a:endParaRPr lang="en-US" sz="1600" dirty="0"/>
          </a:p>
        </p:txBody>
      </p:sp>
      <p:sp>
        <p:nvSpPr>
          <p:cNvPr id="32" name="Text 9">
            <a:extLst>
              <a:ext uri="{FF2B5EF4-FFF2-40B4-BE49-F238E27FC236}">
                <a16:creationId xmlns:a16="http://schemas.microsoft.com/office/drawing/2014/main" id="{D93D1B46-8EF8-CD0E-B76A-C916A8C85295}"/>
              </a:ext>
            </a:extLst>
          </p:cNvPr>
          <p:cNvSpPr>
            <a:spLocks noChangeAspect="1"/>
          </p:cNvSpPr>
          <p:nvPr/>
        </p:nvSpPr>
        <p:spPr>
          <a:xfrm>
            <a:off x="10976953" y="2715896"/>
            <a:ext cx="3180305" cy="576959"/>
          </a:xfrm>
          <a:prstGeom prst="rect">
            <a:avLst/>
          </a:prstGeom>
          <a:noFill/>
          <a:ln/>
        </p:spPr>
        <p:txBody>
          <a:bodyPr wrap="none" lIns="0" tIns="0" rIns="0" bIns="0" rtlCol="0" anchor="t"/>
          <a:lstStyle/>
          <a:p>
            <a:pPr marL="0" indent="0" algn="ctr">
              <a:lnSpc>
                <a:spcPts val="5300"/>
              </a:lnSpc>
              <a:buNone/>
            </a:pPr>
            <a:r>
              <a:rPr lang="en-US" sz="5300" dirty="0">
                <a:solidFill>
                  <a:srgbClr val="FFFFFF"/>
                </a:solidFill>
                <a:latin typeface="Nunito Semi Bold" pitchFamily="34" charset="0"/>
                <a:ea typeface="Nunito Semi Bold" pitchFamily="34" charset="-122"/>
                <a:cs typeface="Nunito Semi Bold" pitchFamily="34" charset="-120"/>
              </a:rPr>
              <a:t>79/100</a:t>
            </a:r>
            <a:endParaRPr lang="en-US" sz="5300" dirty="0"/>
          </a:p>
        </p:txBody>
      </p:sp>
      <p:sp>
        <p:nvSpPr>
          <p:cNvPr id="33" name="Text 10">
            <a:extLst>
              <a:ext uri="{FF2B5EF4-FFF2-40B4-BE49-F238E27FC236}">
                <a16:creationId xmlns:a16="http://schemas.microsoft.com/office/drawing/2014/main" id="{A874291E-F6E0-880E-337C-6F0E75416868}"/>
              </a:ext>
            </a:extLst>
          </p:cNvPr>
          <p:cNvSpPr>
            <a:spLocks noChangeAspect="1"/>
          </p:cNvSpPr>
          <p:nvPr/>
        </p:nvSpPr>
        <p:spPr>
          <a:xfrm>
            <a:off x="11621686" y="3629939"/>
            <a:ext cx="2057154" cy="257158"/>
          </a:xfrm>
          <a:prstGeom prst="rect">
            <a:avLst/>
          </a:prstGeom>
          <a:noFill/>
          <a:ln/>
        </p:spPr>
        <p:txBody>
          <a:bodyPr wrap="none" lIns="0" tIns="0" rIns="0" bIns="0" rtlCol="0" anchor="t"/>
          <a:lstStyle/>
          <a:p>
            <a:pPr marL="0" indent="0" algn="ctr">
              <a:lnSpc>
                <a:spcPts val="2350"/>
              </a:lnSpc>
              <a:buNone/>
            </a:pPr>
            <a:r>
              <a:rPr lang="en-US" sz="1900" dirty="0" err="1">
                <a:solidFill>
                  <a:srgbClr val="FFFFFF"/>
                </a:solidFill>
                <a:latin typeface="Nunito Semi Bold" pitchFamily="34" charset="0"/>
                <a:ea typeface="Nunito Semi Bold" pitchFamily="34" charset="-122"/>
                <a:cs typeface="Nunito Semi Bold" pitchFamily="34" charset="-120"/>
              </a:rPr>
              <a:t>Valoración</a:t>
            </a:r>
            <a:endParaRPr lang="en-US" sz="1900" dirty="0"/>
          </a:p>
        </p:txBody>
      </p:sp>
      <p:sp>
        <p:nvSpPr>
          <p:cNvPr id="34" name="Text 11">
            <a:extLst>
              <a:ext uri="{FF2B5EF4-FFF2-40B4-BE49-F238E27FC236}">
                <a16:creationId xmlns:a16="http://schemas.microsoft.com/office/drawing/2014/main" id="{F8E6963B-99DE-FEA0-3B71-B347958B942A}"/>
              </a:ext>
            </a:extLst>
          </p:cNvPr>
          <p:cNvSpPr>
            <a:spLocks noChangeAspect="1"/>
          </p:cNvSpPr>
          <p:nvPr/>
        </p:nvSpPr>
        <p:spPr>
          <a:xfrm>
            <a:off x="10961008" y="4038441"/>
            <a:ext cx="3180305" cy="520183"/>
          </a:xfrm>
          <a:prstGeom prst="rect">
            <a:avLst/>
          </a:prstGeom>
          <a:noFill/>
          <a:ln/>
        </p:spPr>
        <p:txBody>
          <a:bodyPr wrap="square" lIns="0" tIns="0" rIns="0" bIns="0" rtlCol="0" anchor="t"/>
          <a:lstStyle/>
          <a:p>
            <a:pPr marL="0" indent="0" algn="ctr">
              <a:lnSpc>
                <a:spcPts val="2400"/>
              </a:lnSpc>
              <a:buNone/>
            </a:pPr>
            <a:r>
              <a:rPr lang="en-US" sz="1600" dirty="0">
                <a:solidFill>
                  <a:srgbClr val="FFFFFF"/>
                </a:solidFill>
                <a:latin typeface="PT Sans" pitchFamily="34" charset="0"/>
              </a:rPr>
              <a:t>Y son </a:t>
            </a:r>
            <a:r>
              <a:rPr lang="en-US" sz="1600" dirty="0" err="1">
                <a:solidFill>
                  <a:srgbClr val="FFFFFF"/>
                </a:solidFill>
                <a:latin typeface="PT Sans" pitchFamily="34" charset="0"/>
              </a:rPr>
              <a:t>consideradas</a:t>
            </a:r>
            <a:r>
              <a:rPr lang="en-US" sz="1600" dirty="0">
                <a:solidFill>
                  <a:srgbClr val="FFFFFF"/>
                </a:solidFill>
                <a:latin typeface="PT Sans" pitchFamily="34" charset="0"/>
              </a:rPr>
              <a:t> </a:t>
            </a:r>
            <a:r>
              <a:rPr lang="en-US" sz="1600" dirty="0" err="1">
                <a:solidFill>
                  <a:srgbClr val="FFFFFF"/>
                </a:solidFill>
                <a:latin typeface="PT Sans" pitchFamily="34" charset="0"/>
              </a:rPr>
              <a:t>objetivamente</a:t>
            </a:r>
            <a:r>
              <a:rPr lang="en-US" sz="1600" dirty="0">
                <a:solidFill>
                  <a:srgbClr val="FFFFFF"/>
                </a:solidFill>
                <a:latin typeface="PT Sans" pitchFamily="34" charset="0"/>
              </a:rPr>
              <a:t> </a:t>
            </a:r>
            <a:r>
              <a:rPr lang="en-US" sz="1600" dirty="0" err="1">
                <a:solidFill>
                  <a:srgbClr val="FFFFFF"/>
                </a:solidFill>
                <a:latin typeface="PT Sans" pitchFamily="34" charset="0"/>
              </a:rPr>
              <a:t>mejores</a:t>
            </a:r>
            <a:r>
              <a:rPr lang="en-US" sz="1600" dirty="0">
                <a:solidFill>
                  <a:srgbClr val="FFFFFF"/>
                </a:solidFill>
                <a:latin typeface="PT Sans" pitchFamily="34" charset="0"/>
              </a:rPr>
              <a:t>. 16 puntos de </a:t>
            </a:r>
            <a:r>
              <a:rPr lang="en-US" sz="1600" dirty="0" err="1">
                <a:solidFill>
                  <a:srgbClr val="FFFFFF"/>
                </a:solidFill>
                <a:latin typeface="PT Sans" pitchFamily="34" charset="0"/>
              </a:rPr>
              <a:t>diferencia</a:t>
            </a:r>
            <a:r>
              <a:rPr lang="en-US" sz="1600" dirty="0">
                <a:solidFill>
                  <a:srgbClr val="FFFFFF"/>
                </a:solidFill>
                <a:latin typeface="PT Sans" pitchFamily="34" charset="0"/>
              </a:rPr>
              <a:t>  </a:t>
            </a:r>
            <a:endParaRPr lang="en-US" sz="1600" dirty="0"/>
          </a:p>
        </p:txBody>
      </p:sp>
      <p:pic>
        <p:nvPicPr>
          <p:cNvPr id="5" name="Imagen 4">
            <a:extLst>
              <a:ext uri="{FF2B5EF4-FFF2-40B4-BE49-F238E27FC236}">
                <a16:creationId xmlns:a16="http://schemas.microsoft.com/office/drawing/2014/main" id="{2352108A-924A-DF89-BE41-C3365538566E}"/>
              </a:ext>
            </a:extLst>
          </p:cNvPr>
          <p:cNvPicPr>
            <a:picLocks noChangeAspect="1"/>
          </p:cNvPicPr>
          <p:nvPr/>
        </p:nvPicPr>
        <p:blipFill>
          <a:blip r:embed="rId3"/>
          <a:stretch>
            <a:fillRect/>
          </a:stretch>
        </p:blipFill>
        <p:spPr>
          <a:xfrm>
            <a:off x="406703" y="2767549"/>
            <a:ext cx="8583180" cy="3229795"/>
          </a:xfrm>
          <a:prstGeom prst="rect">
            <a:avLst/>
          </a:prstGeom>
        </p:spPr>
      </p:pic>
      <p:sp>
        <p:nvSpPr>
          <p:cNvPr id="6" name="Text 11">
            <a:extLst>
              <a:ext uri="{FF2B5EF4-FFF2-40B4-BE49-F238E27FC236}">
                <a16:creationId xmlns:a16="http://schemas.microsoft.com/office/drawing/2014/main" id="{2F6B4BDB-EFF9-9E0E-B50C-592AB5E83F68}"/>
              </a:ext>
            </a:extLst>
          </p:cNvPr>
          <p:cNvSpPr>
            <a:spLocks noChangeAspect="1"/>
          </p:cNvSpPr>
          <p:nvPr/>
        </p:nvSpPr>
        <p:spPr>
          <a:xfrm>
            <a:off x="10992896" y="6266644"/>
            <a:ext cx="3180305" cy="520183"/>
          </a:xfrm>
          <a:prstGeom prst="rect">
            <a:avLst/>
          </a:prstGeom>
          <a:noFill/>
          <a:ln/>
        </p:spPr>
        <p:txBody>
          <a:bodyPr wrap="square" lIns="0" tIns="0" rIns="0" bIns="0" rtlCol="0" anchor="t"/>
          <a:lstStyle/>
          <a:p>
            <a:pPr marL="0" indent="0" algn="ctr">
              <a:lnSpc>
                <a:spcPts val="2400"/>
              </a:lnSpc>
              <a:buNone/>
            </a:pPr>
            <a:r>
              <a:rPr lang="en-US" sz="1600" dirty="0">
                <a:solidFill>
                  <a:srgbClr val="FFFFFF"/>
                </a:solidFill>
                <a:latin typeface="PT Sans" pitchFamily="34" charset="0"/>
                <a:ea typeface="PT Sans" pitchFamily="34" charset="-122"/>
                <a:cs typeface="PT Sans" pitchFamily="34" charset="-120"/>
              </a:rPr>
              <a:t>… se toman </a:t>
            </a:r>
            <a:r>
              <a:rPr lang="en-US" sz="1600" dirty="0" err="1">
                <a:solidFill>
                  <a:srgbClr val="FFFFFF"/>
                </a:solidFill>
                <a:latin typeface="PT Sans" pitchFamily="34" charset="0"/>
                <a:ea typeface="PT Sans" pitchFamily="34" charset="-122"/>
                <a:cs typeface="PT Sans" pitchFamily="34" charset="-120"/>
              </a:rPr>
              <a:t>su</a:t>
            </a:r>
            <a:r>
              <a:rPr lang="en-US" sz="1600" dirty="0">
                <a:solidFill>
                  <a:srgbClr val="FFFFFF"/>
                </a:solidFill>
                <a:latin typeface="PT Sans" pitchFamily="34" charset="0"/>
                <a:ea typeface="PT Sans" pitchFamily="34" charset="-122"/>
                <a:cs typeface="PT Sans" pitchFamily="34" charset="-120"/>
              </a:rPr>
              <a:t> </a:t>
            </a:r>
            <a:r>
              <a:rPr lang="en-US" sz="1600" dirty="0" err="1">
                <a:solidFill>
                  <a:srgbClr val="FFFFFF"/>
                </a:solidFill>
                <a:latin typeface="PT Sans" pitchFamily="34" charset="0"/>
                <a:ea typeface="PT Sans" pitchFamily="34" charset="-122"/>
                <a:cs typeface="PT Sans" pitchFamily="34" charset="-120"/>
              </a:rPr>
              <a:t>tiempo</a:t>
            </a:r>
            <a:endParaRPr lang="en-US" sz="1600" dirty="0"/>
          </a:p>
        </p:txBody>
      </p:sp>
      <p:pic>
        <p:nvPicPr>
          <p:cNvPr id="8" name="Imagen 7">
            <a:extLst>
              <a:ext uri="{FF2B5EF4-FFF2-40B4-BE49-F238E27FC236}">
                <a16:creationId xmlns:a16="http://schemas.microsoft.com/office/drawing/2014/main" id="{E501F786-79F4-C1F6-8B1D-8DE1FF95B6DB}"/>
              </a:ext>
            </a:extLst>
          </p:cNvPr>
          <p:cNvPicPr>
            <a:picLocks noChangeAspect="1"/>
          </p:cNvPicPr>
          <p:nvPr/>
        </p:nvPicPr>
        <p:blipFill>
          <a:blip r:embed="rId4"/>
          <a:stretch>
            <a:fillRect/>
          </a:stretch>
        </p:blipFill>
        <p:spPr>
          <a:xfrm>
            <a:off x="7853918" y="1464579"/>
            <a:ext cx="466790" cy="457264"/>
          </a:xfrm>
          <a:prstGeom prst="rect">
            <a:avLst/>
          </a:prstGeom>
        </p:spPr>
      </p:pic>
      <p:pic>
        <p:nvPicPr>
          <p:cNvPr id="10" name="Imagen 9">
            <a:extLst>
              <a:ext uri="{FF2B5EF4-FFF2-40B4-BE49-F238E27FC236}">
                <a16:creationId xmlns:a16="http://schemas.microsoft.com/office/drawing/2014/main" id="{92E5EEEA-B5D6-939F-7056-A3349B7939D2}"/>
              </a:ext>
            </a:extLst>
          </p:cNvPr>
          <p:cNvPicPr>
            <a:picLocks noChangeAspect="1"/>
          </p:cNvPicPr>
          <p:nvPr/>
        </p:nvPicPr>
        <p:blipFill>
          <a:blip r:embed="rId5"/>
          <a:stretch>
            <a:fillRect/>
          </a:stretch>
        </p:blipFill>
        <p:spPr>
          <a:xfrm>
            <a:off x="7739298" y="3730178"/>
            <a:ext cx="696030" cy="535044"/>
          </a:xfrm>
          <a:prstGeom prst="rect">
            <a:avLst/>
          </a:prstGeom>
        </p:spPr>
      </p:pic>
      <p:pic>
        <p:nvPicPr>
          <p:cNvPr id="17" name="Image 0" descr="preencoded.png">
            <a:extLst>
              <a:ext uri="{FF2B5EF4-FFF2-40B4-BE49-F238E27FC236}">
                <a16:creationId xmlns:a16="http://schemas.microsoft.com/office/drawing/2014/main" id="{37C974B9-F91A-53BC-9729-DD90194F8AA1}"/>
              </a:ext>
            </a:extLst>
          </p:cNvPr>
          <p:cNvPicPr>
            <a:picLocks noChangeAspect="1"/>
          </p:cNvPicPr>
          <p:nvPr/>
        </p:nvPicPr>
        <p:blipFill>
          <a:blip r:embed="rId6"/>
          <a:stretch>
            <a:fillRect/>
          </a:stretch>
        </p:blipFill>
        <p:spPr>
          <a:xfrm>
            <a:off x="10672161" y="5452391"/>
            <a:ext cx="825581" cy="825581"/>
          </a:xfrm>
          <a:prstGeom prst="rect">
            <a:avLst/>
          </a:prstGeom>
        </p:spPr>
      </p:pic>
      <p:sp>
        <p:nvSpPr>
          <p:cNvPr id="18" name="Text 6">
            <a:extLst>
              <a:ext uri="{FF2B5EF4-FFF2-40B4-BE49-F238E27FC236}">
                <a16:creationId xmlns:a16="http://schemas.microsoft.com/office/drawing/2014/main" id="{7C7CB93D-4BC8-33FF-6396-BC83136A6F7A}"/>
              </a:ext>
            </a:extLst>
          </p:cNvPr>
          <p:cNvSpPr>
            <a:spLocks noChangeAspect="1"/>
          </p:cNvSpPr>
          <p:nvPr/>
        </p:nvSpPr>
        <p:spPr>
          <a:xfrm>
            <a:off x="10976953" y="5533752"/>
            <a:ext cx="3180305" cy="576959"/>
          </a:xfrm>
          <a:prstGeom prst="rect">
            <a:avLst/>
          </a:prstGeom>
          <a:noFill/>
          <a:ln/>
        </p:spPr>
        <p:txBody>
          <a:bodyPr wrap="none" lIns="0" tIns="0" rIns="0" bIns="0" rtlCol="0" anchor="t"/>
          <a:lstStyle/>
          <a:p>
            <a:pPr marL="0" indent="0" algn="ctr">
              <a:lnSpc>
                <a:spcPts val="5300"/>
              </a:lnSpc>
              <a:buNone/>
            </a:pPr>
            <a:r>
              <a:rPr lang="en-US" sz="5300" dirty="0">
                <a:solidFill>
                  <a:srgbClr val="FFFFFF"/>
                </a:solidFill>
                <a:latin typeface="Nunito Semi Bold" pitchFamily="34" charset="0"/>
                <a:ea typeface="Nunito Semi Bold" pitchFamily="34" charset="-122"/>
                <a:cs typeface="Nunito Semi Bold" pitchFamily="34" charset="-120"/>
              </a:rPr>
              <a:t>+32 min</a:t>
            </a:r>
            <a:endParaRPr lang="en-US" sz="5300" dirty="0"/>
          </a:p>
        </p:txBody>
      </p:sp>
      <p:pic>
        <p:nvPicPr>
          <p:cNvPr id="19" name="Image 1" descr="preencoded.png">
            <a:extLst>
              <a:ext uri="{FF2B5EF4-FFF2-40B4-BE49-F238E27FC236}">
                <a16:creationId xmlns:a16="http://schemas.microsoft.com/office/drawing/2014/main" id="{CD63EE5C-A101-575F-C7E8-C00B0CB3C701}"/>
              </a:ext>
            </a:extLst>
          </p:cNvPr>
          <p:cNvPicPr>
            <a:picLocks noChangeAspect="1"/>
          </p:cNvPicPr>
          <p:nvPr/>
        </p:nvPicPr>
        <p:blipFill>
          <a:blip r:embed="rId7"/>
          <a:stretch>
            <a:fillRect/>
          </a:stretch>
        </p:blipFill>
        <p:spPr>
          <a:xfrm>
            <a:off x="10654530" y="2637251"/>
            <a:ext cx="860842" cy="860842"/>
          </a:xfrm>
          <a:prstGeom prst="rect">
            <a:avLst/>
          </a:prstGeom>
        </p:spPr>
      </p:pic>
      <p:pic>
        <p:nvPicPr>
          <p:cNvPr id="20" name="Image 2" descr="preencoded.png">
            <a:extLst>
              <a:ext uri="{FF2B5EF4-FFF2-40B4-BE49-F238E27FC236}">
                <a16:creationId xmlns:a16="http://schemas.microsoft.com/office/drawing/2014/main" id="{52DA2870-8716-B630-5A21-FF30B8F196E6}"/>
              </a:ext>
            </a:extLst>
          </p:cNvPr>
          <p:cNvPicPr>
            <a:picLocks noChangeAspect="1"/>
          </p:cNvPicPr>
          <p:nvPr/>
        </p:nvPicPr>
        <p:blipFill>
          <a:blip r:embed="rId8"/>
          <a:stretch>
            <a:fillRect/>
          </a:stretch>
        </p:blipFill>
        <p:spPr>
          <a:xfrm>
            <a:off x="7753266" y="5943925"/>
            <a:ext cx="668094" cy="668094"/>
          </a:xfrm>
          <a:prstGeom prst="rect">
            <a:avLst/>
          </a:prstGeom>
        </p:spPr>
      </p:pic>
    </p:spTree>
    <p:extLst>
      <p:ext uri="{BB962C8B-B14F-4D97-AF65-F5344CB8AC3E}">
        <p14:creationId xmlns:p14="http://schemas.microsoft.com/office/powerpoint/2010/main" val="7168577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19" name="Shape 16">
            <a:extLst>
              <a:ext uri="{FF2B5EF4-FFF2-40B4-BE49-F238E27FC236}">
                <a16:creationId xmlns:a16="http://schemas.microsoft.com/office/drawing/2014/main" id="{9DE89912-760F-1A35-4700-8317C9F53C96}"/>
              </a:ext>
            </a:extLst>
          </p:cNvPr>
          <p:cNvSpPr/>
          <p:nvPr/>
        </p:nvSpPr>
        <p:spPr>
          <a:xfrm>
            <a:off x="9633823" y="2752368"/>
            <a:ext cx="4158853" cy="3907631"/>
          </a:xfrm>
          <a:prstGeom prst="roundRect">
            <a:avLst>
              <a:gd name="adj" fmla="val 9189"/>
            </a:avLst>
          </a:prstGeom>
          <a:solidFill>
            <a:srgbClr val="00002E">
              <a:alpha val="0"/>
            </a:srgbClr>
          </a:solidFill>
          <a:ln w="30480">
            <a:solidFill>
              <a:srgbClr val="DD785E"/>
            </a:solidFill>
            <a:prstDash val="solid"/>
          </a:ln>
        </p:spPr>
        <p:txBody>
          <a:bodyPr/>
          <a:lstStyle/>
          <a:p>
            <a:endParaRPr lang="es-ES"/>
          </a:p>
        </p:txBody>
      </p:sp>
      <p:sp>
        <p:nvSpPr>
          <p:cNvPr id="14" name="Text 8"/>
          <p:cNvSpPr/>
          <p:nvPr/>
        </p:nvSpPr>
        <p:spPr>
          <a:xfrm>
            <a:off x="1202269" y="4690838"/>
            <a:ext cx="2816185" cy="351949"/>
          </a:xfrm>
          <a:prstGeom prst="rect">
            <a:avLst/>
          </a:prstGeom>
          <a:noFill/>
          <a:ln/>
        </p:spPr>
        <p:txBody>
          <a:bodyPr wrap="none" lIns="0" tIns="0" rIns="0" bIns="0" rtlCol="0" anchor="t"/>
          <a:lstStyle/>
          <a:p>
            <a:pPr marL="0" indent="0" algn="l">
              <a:lnSpc>
                <a:spcPts val="2750"/>
              </a:lnSpc>
              <a:buNone/>
            </a:pPr>
            <a:r>
              <a:rPr lang="en-US" sz="3200" dirty="0">
                <a:solidFill>
                  <a:srgbClr val="FFFFFF"/>
                </a:solidFill>
                <a:latin typeface="Nunito Semi Bold" pitchFamily="34" charset="0"/>
                <a:ea typeface="Nunito Semi Bold" pitchFamily="34" charset="-122"/>
                <a:cs typeface="Nunito Semi Bold" pitchFamily="34" charset="-120"/>
              </a:rPr>
              <a:t>Drama</a:t>
            </a:r>
            <a:endParaRPr lang="en-US" sz="2200" dirty="0"/>
          </a:p>
        </p:txBody>
      </p:sp>
      <p:sp>
        <p:nvSpPr>
          <p:cNvPr id="18" name="Shape 9">
            <a:extLst>
              <a:ext uri="{FF2B5EF4-FFF2-40B4-BE49-F238E27FC236}">
                <a16:creationId xmlns:a16="http://schemas.microsoft.com/office/drawing/2014/main" id="{64AE04D2-967C-A96C-48BE-B29C6765A31D}"/>
              </a:ext>
            </a:extLst>
          </p:cNvPr>
          <p:cNvSpPr/>
          <p:nvPr/>
        </p:nvSpPr>
        <p:spPr>
          <a:xfrm>
            <a:off x="5235773" y="2752368"/>
            <a:ext cx="4158734" cy="3907631"/>
          </a:xfrm>
          <a:prstGeom prst="roundRect">
            <a:avLst>
              <a:gd name="adj" fmla="val 9189"/>
            </a:avLst>
          </a:prstGeom>
          <a:solidFill>
            <a:srgbClr val="00002E">
              <a:alpha val="0"/>
            </a:srgbClr>
          </a:solidFill>
          <a:ln w="30480">
            <a:solidFill>
              <a:srgbClr val="D7425E"/>
            </a:solidFill>
            <a:prstDash val="solid"/>
          </a:ln>
        </p:spPr>
        <p:txBody>
          <a:bodyPr/>
          <a:lstStyle/>
          <a:p>
            <a:endParaRPr lang="es-ES"/>
          </a:p>
        </p:txBody>
      </p:sp>
      <p:sp>
        <p:nvSpPr>
          <p:cNvPr id="17" name="Shape 2">
            <a:extLst>
              <a:ext uri="{FF2B5EF4-FFF2-40B4-BE49-F238E27FC236}">
                <a16:creationId xmlns:a16="http://schemas.microsoft.com/office/drawing/2014/main" id="{42626CCD-CFF8-B15C-A2F8-641E32273FDD}"/>
              </a:ext>
            </a:extLst>
          </p:cNvPr>
          <p:cNvSpPr/>
          <p:nvPr/>
        </p:nvSpPr>
        <p:spPr>
          <a:xfrm>
            <a:off x="837724" y="2752368"/>
            <a:ext cx="4158734" cy="3907631"/>
          </a:xfrm>
          <a:prstGeom prst="roundRect">
            <a:avLst>
              <a:gd name="adj" fmla="val 9189"/>
            </a:avLst>
          </a:prstGeom>
          <a:solidFill>
            <a:srgbClr val="00002E">
              <a:alpha val="0"/>
            </a:srgbClr>
          </a:solidFill>
          <a:ln w="30480">
            <a:solidFill>
              <a:srgbClr val="F2B42D"/>
            </a:solidFill>
            <a:prstDash val="solid"/>
          </a:ln>
        </p:spPr>
        <p:txBody>
          <a:bodyPr/>
          <a:lstStyle/>
          <a:p>
            <a:endParaRPr lang="es-ES"/>
          </a:p>
        </p:txBody>
      </p:sp>
      <p:sp>
        <p:nvSpPr>
          <p:cNvPr id="2" name="Text 0"/>
          <p:cNvSpPr/>
          <p:nvPr/>
        </p:nvSpPr>
        <p:spPr>
          <a:xfrm>
            <a:off x="837724" y="807720"/>
            <a:ext cx="12954952" cy="1408033"/>
          </a:xfrm>
          <a:prstGeom prst="rect">
            <a:avLst/>
          </a:prstGeom>
          <a:noFill/>
          <a:ln/>
        </p:spPr>
        <p:txBody>
          <a:bodyPr wrap="square" lIns="0" tIns="0" rIns="0" bIns="0" rtlCol="0" anchor="t"/>
          <a:lstStyle/>
          <a:p>
            <a:pPr marL="0" indent="0" algn="l">
              <a:lnSpc>
                <a:spcPts val="5500"/>
              </a:lnSpc>
              <a:buNone/>
            </a:pPr>
            <a:r>
              <a:rPr lang="en-US" sz="4400" dirty="0">
                <a:solidFill>
                  <a:srgbClr val="FFFFFF"/>
                </a:solidFill>
                <a:latin typeface="Nunito Semi Bold" pitchFamily="34" charset="0"/>
                <a:ea typeface="Nunito Semi Bold" pitchFamily="34" charset="-122"/>
                <a:cs typeface="Nunito Semi Bold" pitchFamily="34" charset="-120"/>
              </a:rPr>
              <a:t>Grandes </a:t>
            </a:r>
            <a:r>
              <a:rPr lang="en-US" sz="4400" dirty="0" err="1">
                <a:solidFill>
                  <a:srgbClr val="FFFFFF"/>
                </a:solidFill>
                <a:latin typeface="Nunito Semi Bold" pitchFamily="34" charset="0"/>
                <a:ea typeface="Nunito Semi Bold" pitchFamily="34" charset="-122"/>
                <a:cs typeface="Nunito Semi Bold" pitchFamily="34" charset="-120"/>
              </a:rPr>
              <a:t>ganadoras</a:t>
            </a:r>
            <a:r>
              <a:rPr lang="en-US" sz="4400" dirty="0">
                <a:solidFill>
                  <a:srgbClr val="FFFFFF"/>
                </a:solidFill>
                <a:latin typeface="Nunito Semi Bold" pitchFamily="34" charset="0"/>
                <a:ea typeface="Nunito Semi Bold" pitchFamily="34" charset="-122"/>
                <a:cs typeface="Nunito Semi Bold" pitchFamily="34" charset="-120"/>
              </a:rPr>
              <a:t> y </a:t>
            </a:r>
            <a:r>
              <a:rPr lang="en-US" sz="4400" dirty="0" err="1">
                <a:solidFill>
                  <a:srgbClr val="FFFFFF"/>
                </a:solidFill>
                <a:latin typeface="Nunito Semi Bold" pitchFamily="34" charset="0"/>
                <a:ea typeface="Nunito Semi Bold" pitchFamily="34" charset="-122"/>
                <a:cs typeface="Nunito Semi Bold" pitchFamily="34" charset="-120"/>
              </a:rPr>
              <a:t>género</a:t>
            </a:r>
            <a:endParaRPr lang="en-US" sz="4400" dirty="0"/>
          </a:p>
        </p:txBody>
      </p:sp>
      <p:sp>
        <p:nvSpPr>
          <p:cNvPr id="5" name="Text 2"/>
          <p:cNvSpPr/>
          <p:nvPr/>
        </p:nvSpPr>
        <p:spPr>
          <a:xfrm>
            <a:off x="5607328" y="4634799"/>
            <a:ext cx="2816185" cy="351949"/>
          </a:xfrm>
          <a:prstGeom prst="rect">
            <a:avLst/>
          </a:prstGeom>
          <a:noFill/>
          <a:ln/>
        </p:spPr>
        <p:txBody>
          <a:bodyPr wrap="none" lIns="0" tIns="0" rIns="0" bIns="0" rtlCol="0" anchor="t"/>
          <a:lstStyle/>
          <a:p>
            <a:pPr marL="0" indent="0" algn="l">
              <a:lnSpc>
                <a:spcPts val="2750"/>
              </a:lnSpc>
              <a:buNone/>
            </a:pPr>
            <a:r>
              <a:rPr lang="en-US" sz="3200" dirty="0">
                <a:solidFill>
                  <a:srgbClr val="FFFFFF"/>
                </a:solidFill>
                <a:latin typeface="Nunito Semi Bold" pitchFamily="34" charset="0"/>
                <a:ea typeface="Nunito Semi Bold" pitchFamily="34" charset="-122"/>
                <a:cs typeface="Nunito Semi Bold" pitchFamily="34" charset="-120"/>
              </a:rPr>
              <a:t>Comedia</a:t>
            </a:r>
            <a:endParaRPr lang="en-US" sz="3200" dirty="0"/>
          </a:p>
        </p:txBody>
      </p:sp>
      <p:sp>
        <p:nvSpPr>
          <p:cNvPr id="6" name="Text 3"/>
          <p:cNvSpPr/>
          <p:nvPr/>
        </p:nvSpPr>
        <p:spPr>
          <a:xfrm>
            <a:off x="5607328" y="5394019"/>
            <a:ext cx="3014305" cy="1149072"/>
          </a:xfrm>
          <a:prstGeom prst="rect">
            <a:avLst/>
          </a:prstGeom>
          <a:noFill/>
          <a:ln/>
        </p:spPr>
        <p:txBody>
          <a:bodyPr wrap="square" lIns="0" tIns="0" rIns="0" bIns="0" rtlCol="0" anchor="t"/>
          <a:lstStyle/>
          <a:p>
            <a:pPr marL="0" indent="0" algn="l">
              <a:lnSpc>
                <a:spcPts val="3000"/>
              </a:lnSpc>
              <a:buNone/>
            </a:pPr>
            <a:r>
              <a:rPr lang="en-US" sz="2400" dirty="0" err="1">
                <a:solidFill>
                  <a:srgbClr val="FFFFFF"/>
                </a:solidFill>
                <a:latin typeface="PT Sans" pitchFamily="34" charset="0"/>
                <a:ea typeface="PT Sans" pitchFamily="34" charset="-122"/>
                <a:cs typeface="PT Sans" pitchFamily="34" charset="-120"/>
              </a:rPr>
              <a:t>Sólo</a:t>
            </a:r>
            <a:r>
              <a:rPr lang="en-US" sz="2400" dirty="0">
                <a:solidFill>
                  <a:srgbClr val="FFFFFF"/>
                </a:solidFill>
                <a:latin typeface="PT Sans" pitchFamily="34" charset="0"/>
                <a:ea typeface="PT Sans" pitchFamily="34" charset="-122"/>
                <a:cs typeface="PT Sans" pitchFamily="34" charset="-120"/>
              </a:rPr>
              <a:t> un 9 % de las </a:t>
            </a:r>
            <a:r>
              <a:rPr lang="en-US" sz="2400" dirty="0" err="1">
                <a:solidFill>
                  <a:srgbClr val="FFFFFF"/>
                </a:solidFill>
                <a:latin typeface="PT Sans" pitchFamily="34" charset="0"/>
                <a:ea typeface="PT Sans" pitchFamily="34" charset="-122"/>
                <a:cs typeface="PT Sans" pitchFamily="34" charset="-120"/>
              </a:rPr>
              <a:t>grandes</a:t>
            </a:r>
            <a:r>
              <a:rPr lang="en-US" sz="2400" dirty="0">
                <a:solidFill>
                  <a:srgbClr val="FFFFFF"/>
                </a:solidFill>
                <a:latin typeface="PT Sans" pitchFamily="34" charset="0"/>
                <a:ea typeface="PT Sans" pitchFamily="34" charset="-122"/>
                <a:cs typeface="PT Sans" pitchFamily="34" charset="-120"/>
              </a:rPr>
              <a:t> </a:t>
            </a:r>
            <a:r>
              <a:rPr lang="en-US" sz="2400" dirty="0" err="1">
                <a:solidFill>
                  <a:srgbClr val="FFFFFF"/>
                </a:solidFill>
                <a:latin typeface="PT Sans" pitchFamily="34" charset="0"/>
                <a:ea typeface="PT Sans" pitchFamily="34" charset="-122"/>
                <a:cs typeface="PT Sans" pitchFamily="34" charset="-120"/>
              </a:rPr>
              <a:t>ganadoras</a:t>
            </a:r>
            <a:endParaRPr lang="en-US" sz="2400" dirty="0"/>
          </a:p>
        </p:txBody>
      </p:sp>
      <p:sp>
        <p:nvSpPr>
          <p:cNvPr id="8" name="Text 4"/>
          <p:cNvSpPr/>
          <p:nvPr/>
        </p:nvSpPr>
        <p:spPr>
          <a:xfrm>
            <a:off x="9835236" y="4634799"/>
            <a:ext cx="2816185" cy="351949"/>
          </a:xfrm>
          <a:prstGeom prst="rect">
            <a:avLst/>
          </a:prstGeom>
          <a:noFill/>
          <a:ln/>
        </p:spPr>
        <p:txBody>
          <a:bodyPr wrap="none" lIns="0" tIns="0" rIns="0" bIns="0" rtlCol="0" anchor="t"/>
          <a:lstStyle/>
          <a:p>
            <a:pPr marL="0" indent="0" algn="l">
              <a:lnSpc>
                <a:spcPts val="2750"/>
              </a:lnSpc>
              <a:buNone/>
            </a:pPr>
            <a:r>
              <a:rPr lang="en-US" sz="3200" dirty="0">
                <a:solidFill>
                  <a:srgbClr val="FFFFFF"/>
                </a:solidFill>
                <a:latin typeface="Nunito Semi Bold" pitchFamily="34" charset="0"/>
                <a:ea typeface="Nunito Semi Bold" pitchFamily="34" charset="-122"/>
                <a:cs typeface="Nunito Semi Bold" pitchFamily="34" charset="-120"/>
              </a:rPr>
              <a:t>Terror</a:t>
            </a:r>
            <a:endParaRPr lang="en-US" sz="3200" dirty="0"/>
          </a:p>
        </p:txBody>
      </p:sp>
      <p:sp>
        <p:nvSpPr>
          <p:cNvPr id="9" name="Text 5"/>
          <p:cNvSpPr/>
          <p:nvPr/>
        </p:nvSpPr>
        <p:spPr>
          <a:xfrm>
            <a:off x="9835236" y="5281381"/>
            <a:ext cx="3014305" cy="1149072"/>
          </a:xfrm>
          <a:prstGeom prst="rect">
            <a:avLst/>
          </a:prstGeom>
          <a:noFill/>
          <a:ln/>
        </p:spPr>
        <p:txBody>
          <a:bodyPr wrap="square" lIns="0" tIns="0" rIns="0" bIns="0" rtlCol="0" anchor="t"/>
          <a:lstStyle/>
          <a:p>
            <a:pPr marL="0" indent="0" algn="l">
              <a:lnSpc>
                <a:spcPts val="3000"/>
              </a:lnSpc>
              <a:buNone/>
            </a:pPr>
            <a:r>
              <a:rPr lang="en-US" sz="2400" dirty="0" err="1">
                <a:solidFill>
                  <a:srgbClr val="FFFFFF"/>
                </a:solidFill>
                <a:latin typeface="PT Sans" pitchFamily="34" charset="0"/>
              </a:rPr>
              <a:t>Prácticamente</a:t>
            </a:r>
            <a:r>
              <a:rPr lang="en-US" sz="2400" dirty="0">
                <a:solidFill>
                  <a:srgbClr val="FFFFFF"/>
                </a:solidFill>
                <a:latin typeface="PT Sans" pitchFamily="34" charset="0"/>
              </a:rPr>
              <a:t> cero en las </a:t>
            </a:r>
            <a:r>
              <a:rPr lang="en-US" sz="2400" dirty="0" err="1">
                <a:solidFill>
                  <a:srgbClr val="FFFFFF"/>
                </a:solidFill>
                <a:latin typeface="PT Sans" pitchFamily="34" charset="0"/>
              </a:rPr>
              <a:t>grances</a:t>
            </a:r>
            <a:r>
              <a:rPr lang="en-US" sz="2400" dirty="0">
                <a:solidFill>
                  <a:srgbClr val="FFFFFF"/>
                </a:solidFill>
                <a:latin typeface="PT Sans" pitchFamily="34" charset="0"/>
              </a:rPr>
              <a:t> </a:t>
            </a:r>
            <a:r>
              <a:rPr lang="en-US" sz="2400" dirty="0" err="1">
                <a:solidFill>
                  <a:srgbClr val="FFFFFF"/>
                </a:solidFill>
                <a:latin typeface="PT Sans" pitchFamily="34" charset="0"/>
              </a:rPr>
              <a:t>ganadoras</a:t>
            </a:r>
            <a:endParaRPr lang="en-US" sz="2400" dirty="0">
              <a:solidFill>
                <a:srgbClr val="FFFFFF"/>
              </a:solidFill>
              <a:latin typeface="PT Sans" pitchFamily="34" charset="0"/>
            </a:endParaRPr>
          </a:p>
          <a:p>
            <a:pPr marL="0" indent="0" algn="l">
              <a:lnSpc>
                <a:spcPts val="3000"/>
              </a:lnSpc>
              <a:buNone/>
            </a:pPr>
            <a:r>
              <a:rPr lang="en-US" sz="2400" dirty="0">
                <a:solidFill>
                  <a:srgbClr val="FFFFFF"/>
                </a:solidFill>
                <a:latin typeface="PT Sans" pitchFamily="34" charset="0"/>
              </a:rPr>
              <a:t>6.5 % en el resto </a:t>
            </a:r>
            <a:endParaRPr lang="en-US" sz="2400" dirty="0"/>
          </a:p>
        </p:txBody>
      </p:sp>
      <p:pic>
        <p:nvPicPr>
          <p:cNvPr id="13" name="Image 3" descr="preencoded.png"/>
          <p:cNvPicPr>
            <a:picLocks noChangeAspect="1"/>
          </p:cNvPicPr>
          <p:nvPr/>
        </p:nvPicPr>
        <p:blipFill>
          <a:blip r:embed="rId3"/>
          <a:stretch>
            <a:fillRect/>
          </a:stretch>
        </p:blipFill>
        <p:spPr>
          <a:xfrm>
            <a:off x="2535941" y="2638807"/>
            <a:ext cx="2520000" cy="2520000"/>
          </a:xfrm>
          <a:prstGeom prst="rect">
            <a:avLst/>
          </a:prstGeom>
        </p:spPr>
      </p:pic>
      <p:sp>
        <p:nvSpPr>
          <p:cNvPr id="15" name="Text 9"/>
          <p:cNvSpPr/>
          <p:nvPr/>
        </p:nvSpPr>
        <p:spPr>
          <a:xfrm>
            <a:off x="1202269" y="5315744"/>
            <a:ext cx="3014424" cy="1149072"/>
          </a:xfrm>
          <a:prstGeom prst="rect">
            <a:avLst/>
          </a:prstGeom>
          <a:noFill/>
          <a:ln/>
        </p:spPr>
        <p:txBody>
          <a:bodyPr wrap="square" lIns="0" tIns="0" rIns="0" bIns="0" rtlCol="0" anchor="t"/>
          <a:lstStyle/>
          <a:p>
            <a:pPr marL="0" indent="0" algn="l">
              <a:lnSpc>
                <a:spcPts val="3000"/>
              </a:lnSpc>
              <a:buNone/>
            </a:pPr>
            <a:r>
              <a:rPr lang="en-US" sz="2400" dirty="0">
                <a:solidFill>
                  <a:srgbClr val="FFFFFF"/>
                </a:solidFill>
                <a:latin typeface="PT Sans" pitchFamily="34" charset="0"/>
                <a:ea typeface="PT Sans" pitchFamily="34" charset="-122"/>
                <a:cs typeface="PT Sans" pitchFamily="34" charset="-120"/>
              </a:rPr>
              <a:t>50 % de las </a:t>
            </a:r>
            <a:r>
              <a:rPr lang="en-US" sz="2400" dirty="0" err="1">
                <a:solidFill>
                  <a:srgbClr val="FFFFFF"/>
                </a:solidFill>
                <a:latin typeface="PT Sans" pitchFamily="34" charset="0"/>
                <a:ea typeface="PT Sans" pitchFamily="34" charset="-122"/>
                <a:cs typeface="PT Sans" pitchFamily="34" charset="-120"/>
              </a:rPr>
              <a:t>grandes</a:t>
            </a:r>
            <a:r>
              <a:rPr lang="en-US" sz="2400" dirty="0">
                <a:solidFill>
                  <a:srgbClr val="FFFFFF"/>
                </a:solidFill>
                <a:latin typeface="PT Sans" pitchFamily="34" charset="0"/>
                <a:ea typeface="PT Sans" pitchFamily="34" charset="-122"/>
                <a:cs typeface="PT Sans" pitchFamily="34" charset="-120"/>
              </a:rPr>
              <a:t> </a:t>
            </a:r>
            <a:r>
              <a:rPr lang="en-US" sz="2400" dirty="0" err="1">
                <a:solidFill>
                  <a:srgbClr val="FFFFFF"/>
                </a:solidFill>
                <a:latin typeface="PT Sans" pitchFamily="34" charset="0"/>
                <a:ea typeface="PT Sans" pitchFamily="34" charset="-122"/>
                <a:cs typeface="PT Sans" pitchFamily="34" charset="-120"/>
              </a:rPr>
              <a:t>ganadoras</a:t>
            </a:r>
            <a:endParaRPr lang="en-US" sz="2400" dirty="0">
              <a:solidFill>
                <a:srgbClr val="FFFFFF"/>
              </a:solidFill>
              <a:latin typeface="PT Sans" pitchFamily="34" charset="0"/>
              <a:ea typeface="PT Sans" pitchFamily="34" charset="-122"/>
              <a:cs typeface="PT Sans" pitchFamily="34" charset="-120"/>
            </a:endParaRPr>
          </a:p>
          <a:p>
            <a:pPr marL="0" indent="0" algn="l">
              <a:lnSpc>
                <a:spcPts val="3000"/>
              </a:lnSpc>
              <a:buNone/>
            </a:pPr>
            <a:r>
              <a:rPr lang="en-US" sz="2400" dirty="0">
                <a:solidFill>
                  <a:srgbClr val="FFFFFF"/>
                </a:solidFill>
                <a:latin typeface="PT Sans" pitchFamily="34" charset="0"/>
              </a:rPr>
              <a:t>23% resto</a:t>
            </a:r>
            <a:endParaRPr lang="en-US" sz="2400" dirty="0"/>
          </a:p>
        </p:txBody>
      </p:sp>
      <p:pic>
        <p:nvPicPr>
          <p:cNvPr id="16" name="Picture 4">
            <a:extLst>
              <a:ext uri="{FF2B5EF4-FFF2-40B4-BE49-F238E27FC236}">
                <a16:creationId xmlns:a16="http://schemas.microsoft.com/office/drawing/2014/main" id="{6CAEF398-54F8-2828-80C4-F107FC0F52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74154" y="2752368"/>
            <a:ext cx="2520000" cy="2520000"/>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a:extLst>
              <a:ext uri="{FF2B5EF4-FFF2-40B4-BE49-F238E27FC236}">
                <a16:creationId xmlns:a16="http://schemas.microsoft.com/office/drawing/2014/main" id="{2F5B3C48-B2B7-00F0-7477-CC3612D4023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15420" y="2689704"/>
            <a:ext cx="2520000" cy="2520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2937458" y="4148376"/>
            <a:ext cx="12954952" cy="1149072"/>
          </a:xfrm>
          <a:prstGeom prst="rect">
            <a:avLst/>
          </a:prstGeom>
          <a:noFill/>
          <a:ln/>
        </p:spPr>
        <p:txBody>
          <a:bodyPr wrap="square" lIns="0" tIns="0" rIns="0" bIns="0" rtlCol="0" anchor="t"/>
          <a:lstStyle/>
          <a:p>
            <a:pPr marL="0" indent="0" algn="l">
              <a:lnSpc>
                <a:spcPts val="3000"/>
              </a:lnSpc>
              <a:buNone/>
            </a:pPr>
            <a:endParaRPr lang="en-US" sz="1850" dirty="0"/>
          </a:p>
        </p:txBody>
      </p:sp>
      <p:pic>
        <p:nvPicPr>
          <p:cNvPr id="4098" name="Picture 2">
            <a:extLst>
              <a:ext uri="{FF2B5EF4-FFF2-40B4-BE49-F238E27FC236}">
                <a16:creationId xmlns:a16="http://schemas.microsoft.com/office/drawing/2014/main" id="{96C413CC-3D75-A150-20A8-F97AFF1166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606" y="2109259"/>
            <a:ext cx="5623200" cy="56232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5B357A4A-678B-8377-7F1B-6B725EF160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8607" y="2109963"/>
            <a:ext cx="5621793" cy="5621793"/>
          </a:xfrm>
          <a:prstGeom prst="rect">
            <a:avLst/>
          </a:prstGeom>
          <a:noFill/>
          <a:extLst>
            <a:ext uri="{909E8E84-426E-40DD-AFC4-6F175D3DCCD1}">
              <a14:hiddenFill xmlns:a14="http://schemas.microsoft.com/office/drawing/2010/main">
                <a:solidFill>
                  <a:srgbClr val="FFFFFF"/>
                </a:solidFill>
              </a14:hiddenFill>
            </a:ext>
          </a:extLst>
        </p:spPr>
      </p:pic>
      <p:sp>
        <p:nvSpPr>
          <p:cNvPr id="4" name="Shape 14">
            <a:extLst>
              <a:ext uri="{FF2B5EF4-FFF2-40B4-BE49-F238E27FC236}">
                <a16:creationId xmlns:a16="http://schemas.microsoft.com/office/drawing/2014/main" id="{5284DE28-49A9-7C09-B515-E7EF15433DA0}"/>
              </a:ext>
            </a:extLst>
          </p:cNvPr>
          <p:cNvSpPr/>
          <p:nvPr/>
        </p:nvSpPr>
        <p:spPr>
          <a:xfrm>
            <a:off x="5726945" y="2798689"/>
            <a:ext cx="3059311" cy="4244340"/>
          </a:xfrm>
          <a:prstGeom prst="roundRect">
            <a:avLst>
              <a:gd name="adj" fmla="val 11737"/>
            </a:avLst>
          </a:prstGeom>
          <a:solidFill>
            <a:srgbClr val="00002E"/>
          </a:solidFill>
          <a:ln w="22860">
            <a:solidFill>
              <a:srgbClr val="48A8E2"/>
            </a:solidFill>
            <a:prstDash val="solid"/>
          </a:ln>
        </p:spPr>
        <p:txBody>
          <a:bodyPr/>
          <a:lstStyle/>
          <a:p>
            <a:endParaRPr lang="es-ES"/>
          </a:p>
        </p:txBody>
      </p:sp>
      <p:sp>
        <p:nvSpPr>
          <p:cNvPr id="6" name="Shape 2">
            <a:extLst>
              <a:ext uri="{FF2B5EF4-FFF2-40B4-BE49-F238E27FC236}">
                <a16:creationId xmlns:a16="http://schemas.microsoft.com/office/drawing/2014/main" id="{996D950D-9A9C-5AF1-B420-6066FFB78F5B}"/>
              </a:ext>
            </a:extLst>
          </p:cNvPr>
          <p:cNvSpPr/>
          <p:nvPr/>
        </p:nvSpPr>
        <p:spPr>
          <a:xfrm>
            <a:off x="5953085" y="3077919"/>
            <a:ext cx="661987" cy="661988"/>
          </a:xfrm>
          <a:prstGeom prst="roundRect">
            <a:avLst>
              <a:gd name="adj" fmla="val 13811579"/>
            </a:avLst>
          </a:prstGeom>
          <a:solidFill>
            <a:srgbClr val="F2B42D"/>
          </a:solidFill>
          <a:ln/>
        </p:spPr>
        <p:txBody>
          <a:bodyPr/>
          <a:lstStyle/>
          <a:p>
            <a:endParaRPr lang="es-ES"/>
          </a:p>
        </p:txBody>
      </p:sp>
      <p:pic>
        <p:nvPicPr>
          <p:cNvPr id="7" name="Image 0" descr="preencoded.png">
            <a:extLst>
              <a:ext uri="{FF2B5EF4-FFF2-40B4-BE49-F238E27FC236}">
                <a16:creationId xmlns:a16="http://schemas.microsoft.com/office/drawing/2014/main" id="{3B8414A1-AE1A-72E6-27C5-AD5B7A3D697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25574" y="3259847"/>
            <a:ext cx="297894" cy="297894"/>
          </a:xfrm>
          <a:prstGeom prst="rect">
            <a:avLst/>
          </a:prstGeom>
        </p:spPr>
      </p:pic>
      <p:sp>
        <p:nvSpPr>
          <p:cNvPr id="8" name="Text 16">
            <a:extLst>
              <a:ext uri="{FF2B5EF4-FFF2-40B4-BE49-F238E27FC236}">
                <a16:creationId xmlns:a16="http://schemas.microsoft.com/office/drawing/2014/main" id="{78E6BE96-6A26-445E-72C9-22E3B8C22D68}"/>
              </a:ext>
            </a:extLst>
          </p:cNvPr>
          <p:cNvSpPr/>
          <p:nvPr/>
        </p:nvSpPr>
        <p:spPr>
          <a:xfrm>
            <a:off x="5824996" y="3969648"/>
            <a:ext cx="2534960" cy="351949"/>
          </a:xfrm>
          <a:prstGeom prst="rect">
            <a:avLst/>
          </a:prstGeom>
          <a:noFill/>
          <a:ln/>
        </p:spPr>
        <p:txBody>
          <a:bodyPr wrap="none" lIns="0" tIns="0" rIns="0" bIns="0" rtlCol="0" anchor="t"/>
          <a:lstStyle/>
          <a:p>
            <a:pPr marL="0" indent="0" algn="l">
              <a:lnSpc>
                <a:spcPts val="2750"/>
              </a:lnSpc>
              <a:buNone/>
            </a:pPr>
            <a:r>
              <a:rPr lang="en-US" sz="2200" dirty="0" err="1">
                <a:solidFill>
                  <a:srgbClr val="FFFFFF"/>
                </a:solidFill>
                <a:latin typeface="Nunito Semi Bold" pitchFamily="34" charset="0"/>
                <a:ea typeface="Nunito Semi Bold" pitchFamily="34" charset="-122"/>
                <a:cs typeface="Nunito Semi Bold" pitchFamily="34" charset="-120"/>
              </a:rPr>
              <a:t>Pequeño</a:t>
            </a:r>
            <a:r>
              <a:rPr lang="en-US" sz="2200" dirty="0">
                <a:solidFill>
                  <a:srgbClr val="FFFFFF"/>
                </a:solidFill>
                <a:latin typeface="Nunito Semi Bold" pitchFamily="34" charset="0"/>
                <a:ea typeface="Nunito Semi Bold" pitchFamily="34" charset="-122"/>
                <a:cs typeface="Nunito Semi Bold" pitchFamily="34" charset="-120"/>
              </a:rPr>
              <a:t> </a:t>
            </a:r>
            <a:r>
              <a:rPr lang="en-US" sz="2200" dirty="0" err="1">
                <a:solidFill>
                  <a:srgbClr val="FFFFFF"/>
                </a:solidFill>
                <a:latin typeface="Nunito Semi Bold" pitchFamily="34" charset="0"/>
                <a:ea typeface="Nunito Semi Bold" pitchFamily="34" charset="-122"/>
                <a:cs typeface="Nunito Semi Bold" pitchFamily="34" charset="-120"/>
              </a:rPr>
              <a:t>análisis</a:t>
            </a:r>
            <a:r>
              <a:rPr lang="en-US" sz="2200" dirty="0">
                <a:solidFill>
                  <a:srgbClr val="FFFFFF"/>
                </a:solidFill>
                <a:latin typeface="Nunito Semi Bold" pitchFamily="34" charset="0"/>
                <a:ea typeface="Nunito Semi Bold" pitchFamily="34" charset="-122"/>
                <a:cs typeface="Nunito Semi Bold" pitchFamily="34" charset="-120"/>
              </a:rPr>
              <a:t> extra</a:t>
            </a:r>
            <a:endParaRPr lang="en-US" sz="2200" dirty="0"/>
          </a:p>
        </p:txBody>
      </p:sp>
      <p:sp>
        <p:nvSpPr>
          <p:cNvPr id="9" name="Text 17">
            <a:extLst>
              <a:ext uri="{FF2B5EF4-FFF2-40B4-BE49-F238E27FC236}">
                <a16:creationId xmlns:a16="http://schemas.microsoft.com/office/drawing/2014/main" id="{1A7D7C1B-D81B-30D4-8425-0846DD97B795}"/>
              </a:ext>
            </a:extLst>
          </p:cNvPr>
          <p:cNvSpPr/>
          <p:nvPr/>
        </p:nvSpPr>
        <p:spPr>
          <a:xfrm>
            <a:off x="5943527" y="4465186"/>
            <a:ext cx="2534960" cy="832262"/>
          </a:xfrm>
          <a:prstGeom prst="rect">
            <a:avLst/>
          </a:prstGeom>
          <a:noFill/>
          <a:ln/>
        </p:spPr>
        <p:txBody>
          <a:bodyPr wrap="square" lIns="0" tIns="0" rIns="0" bIns="0" rtlCol="0" anchor="t"/>
          <a:lstStyle/>
          <a:p>
            <a:pPr marL="0" indent="0" algn="l">
              <a:lnSpc>
                <a:spcPts val="3000"/>
              </a:lnSpc>
              <a:buNone/>
            </a:pPr>
            <a:r>
              <a:rPr lang="en-US" sz="1850" dirty="0">
                <a:solidFill>
                  <a:srgbClr val="FFFFFF"/>
                </a:solidFill>
                <a:latin typeface="PT Sans" pitchFamily="34" charset="0"/>
                <a:ea typeface="PT Sans" pitchFamily="34" charset="-122"/>
                <a:cs typeface="PT Sans" pitchFamily="34" charset="-120"/>
              </a:rPr>
              <a:t>BBDD Oscars</a:t>
            </a:r>
          </a:p>
          <a:p>
            <a:pPr marL="0" indent="0" algn="l">
              <a:lnSpc>
                <a:spcPts val="3000"/>
              </a:lnSpc>
              <a:buNone/>
            </a:pPr>
            <a:r>
              <a:rPr lang="en-US" sz="1850" dirty="0">
                <a:solidFill>
                  <a:srgbClr val="FFFFFF"/>
                </a:solidFill>
                <a:latin typeface="PT Sans" pitchFamily="34" charset="0"/>
              </a:rPr>
              <a:t>BBDD </a:t>
            </a:r>
            <a:r>
              <a:rPr lang="en-US" sz="1850" dirty="0" err="1">
                <a:solidFill>
                  <a:srgbClr val="FFFFFF"/>
                </a:solidFill>
                <a:latin typeface="PT Sans" pitchFamily="34" charset="0"/>
              </a:rPr>
              <a:t>Imdb</a:t>
            </a:r>
            <a:r>
              <a:rPr lang="en-US" sz="1850" dirty="0">
                <a:solidFill>
                  <a:srgbClr val="FFFFFF"/>
                </a:solidFill>
                <a:latin typeface="PT Sans" pitchFamily="34" charset="0"/>
              </a:rPr>
              <a:t> Names</a:t>
            </a:r>
            <a:endParaRPr lang="en-US" sz="1850" dirty="0"/>
          </a:p>
        </p:txBody>
      </p:sp>
      <p:sp>
        <p:nvSpPr>
          <p:cNvPr id="10" name="Text 17">
            <a:extLst>
              <a:ext uri="{FF2B5EF4-FFF2-40B4-BE49-F238E27FC236}">
                <a16:creationId xmlns:a16="http://schemas.microsoft.com/office/drawing/2014/main" id="{236F5DBD-8EBE-F605-F5B9-3F1B46025F9F}"/>
              </a:ext>
            </a:extLst>
          </p:cNvPr>
          <p:cNvSpPr/>
          <p:nvPr/>
        </p:nvSpPr>
        <p:spPr>
          <a:xfrm>
            <a:off x="5953085" y="5350509"/>
            <a:ext cx="2534960" cy="832262"/>
          </a:xfrm>
          <a:prstGeom prst="rect">
            <a:avLst/>
          </a:prstGeom>
          <a:noFill/>
          <a:ln/>
        </p:spPr>
        <p:txBody>
          <a:bodyPr wrap="square" lIns="0" tIns="0" rIns="0" bIns="0" rtlCol="0" anchor="t"/>
          <a:lstStyle/>
          <a:p>
            <a:pPr marL="0" indent="0" algn="l">
              <a:lnSpc>
                <a:spcPts val="3000"/>
              </a:lnSpc>
              <a:buNone/>
            </a:pPr>
            <a:r>
              <a:rPr lang="en-US" sz="1850" dirty="0">
                <a:solidFill>
                  <a:srgbClr val="FFFFFF"/>
                </a:solidFill>
                <a:latin typeface="PT Sans" pitchFamily="34" charset="0"/>
                <a:ea typeface="PT Sans" pitchFamily="34" charset="-122"/>
                <a:cs typeface="PT Sans" pitchFamily="34" charset="-120"/>
              </a:rPr>
              <a:t>Edad media de </a:t>
            </a:r>
            <a:r>
              <a:rPr lang="en-US" sz="1850" dirty="0" err="1">
                <a:solidFill>
                  <a:srgbClr val="FFFFFF"/>
                </a:solidFill>
                <a:latin typeface="PT Sans" pitchFamily="34" charset="0"/>
                <a:ea typeface="PT Sans" pitchFamily="34" charset="-122"/>
                <a:cs typeface="PT Sans" pitchFamily="34" charset="-120"/>
              </a:rPr>
              <a:t>los</a:t>
            </a:r>
            <a:r>
              <a:rPr lang="en-US" sz="1850" dirty="0">
                <a:solidFill>
                  <a:srgbClr val="FFFFFF"/>
                </a:solidFill>
                <a:latin typeface="PT Sans" pitchFamily="34" charset="0"/>
                <a:ea typeface="PT Sans" pitchFamily="34" charset="-122"/>
                <a:cs typeface="PT Sans" pitchFamily="34" charset="-120"/>
              </a:rPr>
              <a:t> </a:t>
            </a:r>
            <a:r>
              <a:rPr lang="en-US" sz="1850" dirty="0" err="1">
                <a:solidFill>
                  <a:srgbClr val="FFFFFF"/>
                </a:solidFill>
                <a:latin typeface="PT Sans" pitchFamily="34" charset="0"/>
                <a:ea typeface="PT Sans" pitchFamily="34" charset="-122"/>
                <a:cs typeface="PT Sans" pitchFamily="34" charset="-120"/>
              </a:rPr>
              <a:t>ganadores</a:t>
            </a:r>
            <a:r>
              <a:rPr lang="en-US" sz="1850" dirty="0">
                <a:solidFill>
                  <a:srgbClr val="FFFFFF"/>
                </a:solidFill>
                <a:latin typeface="PT Sans" pitchFamily="34" charset="0"/>
                <a:ea typeface="PT Sans" pitchFamily="34" charset="-122"/>
                <a:cs typeface="PT Sans" pitchFamily="34" charset="-120"/>
              </a:rPr>
              <a:t> del Óscar a actor y </a:t>
            </a:r>
            <a:r>
              <a:rPr lang="en-US" sz="1850" dirty="0" err="1">
                <a:solidFill>
                  <a:srgbClr val="FFFFFF"/>
                </a:solidFill>
                <a:latin typeface="PT Sans" pitchFamily="34" charset="0"/>
                <a:ea typeface="PT Sans" pitchFamily="34" charset="-122"/>
                <a:cs typeface="PT Sans" pitchFamily="34" charset="-120"/>
              </a:rPr>
              <a:t>actriz</a:t>
            </a:r>
            <a:r>
              <a:rPr lang="en-US" sz="1850" dirty="0">
                <a:solidFill>
                  <a:srgbClr val="FFFFFF"/>
                </a:solidFill>
                <a:latin typeface="PT Sans" pitchFamily="34" charset="0"/>
                <a:ea typeface="PT Sans" pitchFamily="34" charset="-122"/>
                <a:cs typeface="PT Sans" pitchFamily="34" charset="-120"/>
              </a:rPr>
              <a:t>.</a:t>
            </a:r>
            <a:endParaRPr lang="en-US" sz="1850" dirty="0"/>
          </a:p>
        </p:txBody>
      </p:sp>
      <p:sp>
        <p:nvSpPr>
          <p:cNvPr id="16" name="Text 0">
            <a:extLst>
              <a:ext uri="{FF2B5EF4-FFF2-40B4-BE49-F238E27FC236}">
                <a16:creationId xmlns:a16="http://schemas.microsoft.com/office/drawing/2014/main" id="{6711DD6D-3AC9-AF94-7A5B-AFA18321C48C}"/>
              </a:ext>
            </a:extLst>
          </p:cNvPr>
          <p:cNvSpPr/>
          <p:nvPr/>
        </p:nvSpPr>
        <p:spPr>
          <a:xfrm>
            <a:off x="837724" y="807720"/>
            <a:ext cx="12954952" cy="1408033"/>
          </a:xfrm>
          <a:prstGeom prst="rect">
            <a:avLst/>
          </a:prstGeom>
          <a:noFill/>
          <a:ln/>
        </p:spPr>
        <p:txBody>
          <a:bodyPr wrap="square" lIns="0" tIns="0" rIns="0" bIns="0" rtlCol="0" anchor="t"/>
          <a:lstStyle/>
          <a:p>
            <a:pPr>
              <a:lnSpc>
                <a:spcPts val="5500"/>
              </a:lnSpc>
            </a:pPr>
            <a:r>
              <a:rPr lang="en-US" sz="4400" dirty="0">
                <a:solidFill>
                  <a:srgbClr val="FFFFFF"/>
                </a:solidFill>
                <a:latin typeface="Nunito Semi Bold" pitchFamily="34" charset="0"/>
                <a:ea typeface="Nunito Semi Bold" pitchFamily="34" charset="-122"/>
                <a:cs typeface="Nunito Semi Bold" pitchFamily="34" charset="-120"/>
              </a:rPr>
              <a:t>BONUS TRACK:  ¿Hay </a:t>
            </a:r>
            <a:r>
              <a:rPr lang="en-US" sz="4400" dirty="0" err="1">
                <a:solidFill>
                  <a:srgbClr val="FFFFFF"/>
                </a:solidFill>
                <a:latin typeface="Nunito Semi Bold" pitchFamily="34" charset="0"/>
                <a:ea typeface="Nunito Semi Bold" pitchFamily="34" charset="-122"/>
                <a:cs typeface="Nunito Semi Bold" pitchFamily="34" charset="-120"/>
              </a:rPr>
              <a:t>sesgo</a:t>
            </a:r>
            <a:r>
              <a:rPr lang="en-US" sz="4400" dirty="0">
                <a:solidFill>
                  <a:srgbClr val="FFFFFF"/>
                </a:solidFill>
                <a:latin typeface="Nunito Semi Bold" pitchFamily="34" charset="0"/>
                <a:ea typeface="Nunito Semi Bold" pitchFamily="34" charset="-122"/>
                <a:cs typeface="Nunito Semi Bold" pitchFamily="34" charset="-120"/>
              </a:rPr>
              <a:t> de </a:t>
            </a:r>
            <a:r>
              <a:rPr lang="en-US" sz="4400" dirty="0" err="1">
                <a:solidFill>
                  <a:srgbClr val="FFFFFF"/>
                </a:solidFill>
                <a:latin typeface="Nunito Semi Bold" pitchFamily="34" charset="0"/>
                <a:ea typeface="Nunito Semi Bold" pitchFamily="34" charset="-122"/>
                <a:cs typeface="Nunito Semi Bold" pitchFamily="34" charset="-120"/>
              </a:rPr>
              <a:t>género</a:t>
            </a:r>
            <a:r>
              <a:rPr lang="en-US" sz="4400" dirty="0">
                <a:solidFill>
                  <a:srgbClr val="FFFFFF"/>
                </a:solidFill>
                <a:latin typeface="Nunito Semi Bold" pitchFamily="34" charset="0"/>
                <a:ea typeface="Nunito Semi Bold" pitchFamily="34" charset="-122"/>
                <a:cs typeface="Nunito Semi Bold" pitchFamily="34" charset="-120"/>
              </a:rPr>
              <a:t> en </a:t>
            </a:r>
            <a:r>
              <a:rPr lang="en-US" sz="4400" dirty="0" err="1">
                <a:solidFill>
                  <a:srgbClr val="FFFFFF"/>
                </a:solidFill>
                <a:latin typeface="Nunito Semi Bold" pitchFamily="34" charset="0"/>
                <a:ea typeface="Nunito Semi Bold" pitchFamily="34" charset="-122"/>
                <a:cs typeface="Nunito Semi Bold" pitchFamily="34" charset="-120"/>
              </a:rPr>
              <a:t>los</a:t>
            </a:r>
            <a:r>
              <a:rPr lang="en-US" sz="4400" dirty="0">
                <a:solidFill>
                  <a:srgbClr val="FFFFFF"/>
                </a:solidFill>
                <a:latin typeface="Nunito Semi Bold" pitchFamily="34" charset="0"/>
                <a:ea typeface="Nunito Semi Bold" pitchFamily="34" charset="-122"/>
                <a:cs typeface="Nunito Semi Bold" pitchFamily="34" charset="-120"/>
              </a:rPr>
              <a:t> </a:t>
            </a:r>
            <a:r>
              <a:rPr lang="en-US" sz="4400" dirty="0" err="1">
                <a:solidFill>
                  <a:srgbClr val="FFFFFF"/>
                </a:solidFill>
                <a:latin typeface="Nunito Semi Bold" pitchFamily="34" charset="0"/>
                <a:ea typeface="Nunito Semi Bold" pitchFamily="34" charset="-122"/>
                <a:cs typeface="Nunito Semi Bold" pitchFamily="34" charset="-120"/>
              </a:rPr>
              <a:t>premios</a:t>
            </a:r>
            <a:r>
              <a:rPr lang="en-US" sz="4400" dirty="0">
                <a:solidFill>
                  <a:srgbClr val="FFFFFF"/>
                </a:solidFill>
                <a:latin typeface="Nunito Semi Bold" pitchFamily="34" charset="0"/>
                <a:ea typeface="Nunito Semi Bold" pitchFamily="34" charset="-122"/>
                <a:cs typeface="Nunito Semi Bold" pitchFamily="34" charset="-120"/>
              </a:rPr>
              <a:t>?</a:t>
            </a:r>
            <a:endParaRPr lang="en-US" sz="4400" dirty="0"/>
          </a:p>
          <a:p>
            <a:pPr marL="0" indent="0" algn="l">
              <a:lnSpc>
                <a:spcPts val="5500"/>
              </a:lnSpc>
              <a:buNone/>
            </a:pPr>
            <a:endParaRPr lang="en-US" sz="4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2"/>
          <p:cNvSpPr/>
          <p:nvPr/>
        </p:nvSpPr>
        <p:spPr>
          <a:xfrm>
            <a:off x="1384591" y="6700413"/>
            <a:ext cx="11603276" cy="707059"/>
          </a:xfrm>
          <a:prstGeom prst="rect">
            <a:avLst/>
          </a:prstGeom>
          <a:noFill/>
          <a:ln/>
        </p:spPr>
        <p:txBody>
          <a:bodyPr wrap="square" lIns="0" tIns="0" rIns="0" bIns="0" rtlCol="0" anchor="t"/>
          <a:lstStyle/>
          <a:p>
            <a:pPr marL="0" indent="0" algn="l">
              <a:lnSpc>
                <a:spcPts val="1600"/>
              </a:lnSpc>
              <a:buNone/>
            </a:pPr>
            <a:endParaRPr lang="en-US" sz="1200" dirty="0"/>
          </a:p>
        </p:txBody>
      </p:sp>
      <p:pic>
        <p:nvPicPr>
          <p:cNvPr id="7" name="Imagen 6">
            <a:extLst>
              <a:ext uri="{FF2B5EF4-FFF2-40B4-BE49-F238E27FC236}">
                <a16:creationId xmlns:a16="http://schemas.microsoft.com/office/drawing/2014/main" id="{5F51CBF2-8C22-FC9A-7299-7943DD5C1F2A}"/>
              </a:ext>
            </a:extLst>
          </p:cNvPr>
          <p:cNvPicPr>
            <a:picLocks noChangeAspect="1"/>
          </p:cNvPicPr>
          <p:nvPr/>
        </p:nvPicPr>
        <p:blipFill>
          <a:blip r:embed="rId3"/>
          <a:stretch>
            <a:fillRect/>
          </a:stretch>
        </p:blipFill>
        <p:spPr>
          <a:xfrm>
            <a:off x="863607" y="1683728"/>
            <a:ext cx="12239616" cy="5016236"/>
          </a:xfrm>
          <a:prstGeom prst="rect">
            <a:avLst/>
          </a:prstGeom>
        </p:spPr>
      </p:pic>
      <p:sp>
        <p:nvSpPr>
          <p:cNvPr id="8" name="Text 0">
            <a:extLst>
              <a:ext uri="{FF2B5EF4-FFF2-40B4-BE49-F238E27FC236}">
                <a16:creationId xmlns:a16="http://schemas.microsoft.com/office/drawing/2014/main" id="{FB2595C4-3D31-6FB0-230A-D7BA3A034D10}"/>
              </a:ext>
            </a:extLst>
          </p:cNvPr>
          <p:cNvSpPr/>
          <p:nvPr/>
        </p:nvSpPr>
        <p:spPr>
          <a:xfrm>
            <a:off x="746165" y="822127"/>
            <a:ext cx="8960287" cy="626983"/>
          </a:xfrm>
          <a:prstGeom prst="rect">
            <a:avLst/>
          </a:prstGeom>
          <a:noFill/>
          <a:ln/>
        </p:spPr>
        <p:txBody>
          <a:bodyPr wrap="none" lIns="0" tIns="0" rIns="0" bIns="0" rtlCol="0" anchor="t"/>
          <a:lstStyle/>
          <a:p>
            <a:pPr marL="0" indent="0" algn="l">
              <a:lnSpc>
                <a:spcPts val="4900"/>
              </a:lnSpc>
              <a:buNone/>
            </a:pPr>
            <a:r>
              <a:rPr lang="en-US" sz="4400" dirty="0">
                <a:solidFill>
                  <a:srgbClr val="FFFFFF"/>
                </a:solidFill>
                <a:latin typeface="Nunito Semi Bold" pitchFamily="34" charset="0"/>
                <a:ea typeface="Nunito Semi Bold" pitchFamily="34" charset="-122"/>
                <a:cs typeface="Nunito Semi Bold" pitchFamily="34" charset="-120"/>
              </a:rPr>
              <a:t>¿A </a:t>
            </a:r>
            <a:r>
              <a:rPr lang="en-US" sz="4400" dirty="0" err="1">
                <a:solidFill>
                  <a:srgbClr val="FFFFFF"/>
                </a:solidFill>
                <a:latin typeface="Nunito Semi Bold" pitchFamily="34" charset="0"/>
                <a:ea typeface="Nunito Semi Bold" pitchFamily="34" charset="-122"/>
                <a:cs typeface="Nunito Semi Bold" pitchFamily="34" charset="-120"/>
              </a:rPr>
              <a:t>qué</a:t>
            </a:r>
            <a:r>
              <a:rPr lang="en-US" sz="4400" dirty="0">
                <a:solidFill>
                  <a:srgbClr val="FFFFFF"/>
                </a:solidFill>
                <a:latin typeface="Nunito Semi Bold" pitchFamily="34" charset="0"/>
                <a:ea typeface="Nunito Semi Bold" pitchFamily="34" charset="-122"/>
                <a:cs typeface="Nunito Semi Bold" pitchFamily="34" charset="-120"/>
              </a:rPr>
              <a:t> </a:t>
            </a:r>
            <a:r>
              <a:rPr lang="en-US" sz="4400" dirty="0" err="1">
                <a:solidFill>
                  <a:srgbClr val="FFFFFF"/>
                </a:solidFill>
                <a:latin typeface="Nunito Semi Bold" pitchFamily="34" charset="0"/>
                <a:ea typeface="Nunito Semi Bold" pitchFamily="34" charset="-122"/>
                <a:cs typeface="Nunito Semi Bold" pitchFamily="34" charset="-120"/>
              </a:rPr>
              <a:t>edad</a:t>
            </a:r>
            <a:r>
              <a:rPr lang="en-US" sz="4400" dirty="0">
                <a:solidFill>
                  <a:srgbClr val="FFFFFF"/>
                </a:solidFill>
                <a:latin typeface="Nunito Semi Bold" pitchFamily="34" charset="0"/>
                <a:ea typeface="Nunito Semi Bold" pitchFamily="34" charset="-122"/>
                <a:cs typeface="Nunito Semi Bold" pitchFamily="34" charset="-120"/>
              </a:rPr>
              <a:t> </a:t>
            </a:r>
            <a:r>
              <a:rPr lang="en-US" sz="4400" dirty="0" err="1">
                <a:solidFill>
                  <a:srgbClr val="FFFFFF"/>
                </a:solidFill>
                <a:latin typeface="Nunito Semi Bold" pitchFamily="34" charset="0"/>
                <a:ea typeface="Nunito Semi Bold" pitchFamily="34" charset="-122"/>
                <a:cs typeface="Nunito Semi Bold" pitchFamily="34" charset="-120"/>
              </a:rPr>
              <a:t>reciben</a:t>
            </a:r>
            <a:r>
              <a:rPr lang="en-US" sz="4400" dirty="0">
                <a:solidFill>
                  <a:srgbClr val="FFFFFF"/>
                </a:solidFill>
                <a:latin typeface="Nunito Semi Bold" pitchFamily="34" charset="0"/>
                <a:ea typeface="Nunito Semi Bold" pitchFamily="34" charset="-122"/>
                <a:cs typeface="Nunito Semi Bold" pitchFamily="34" charset="-120"/>
              </a:rPr>
              <a:t> </a:t>
            </a:r>
            <a:r>
              <a:rPr lang="en-US" sz="4400" dirty="0" err="1">
                <a:solidFill>
                  <a:srgbClr val="FFFFFF"/>
                </a:solidFill>
                <a:latin typeface="Nunito Semi Bold" pitchFamily="34" charset="0"/>
                <a:ea typeface="Nunito Semi Bold" pitchFamily="34" charset="-122"/>
                <a:cs typeface="Nunito Semi Bold" pitchFamily="34" charset="-120"/>
              </a:rPr>
              <a:t>premios</a:t>
            </a:r>
            <a:r>
              <a:rPr lang="en-US" sz="4400" dirty="0">
                <a:solidFill>
                  <a:srgbClr val="FFFFFF"/>
                </a:solidFill>
                <a:latin typeface="Nunito Semi Bold" pitchFamily="34" charset="0"/>
                <a:ea typeface="Nunito Semi Bold" pitchFamily="34" charset="-122"/>
                <a:cs typeface="Nunito Semi Bold" pitchFamily="34" charset="-120"/>
              </a:rPr>
              <a:t> hombres y </a:t>
            </a:r>
            <a:r>
              <a:rPr lang="en-US" sz="4400" dirty="0" err="1">
                <a:solidFill>
                  <a:srgbClr val="FFFFFF"/>
                </a:solidFill>
                <a:latin typeface="Nunito Semi Bold" pitchFamily="34" charset="0"/>
                <a:ea typeface="Nunito Semi Bold" pitchFamily="34" charset="-122"/>
                <a:cs typeface="Nunito Semi Bold" pitchFamily="34" charset="-120"/>
              </a:rPr>
              <a:t>mujeres</a:t>
            </a:r>
            <a:r>
              <a:rPr lang="en-US" sz="4400" dirty="0">
                <a:solidFill>
                  <a:srgbClr val="FFFFFF"/>
                </a:solidFill>
                <a:latin typeface="Nunito Semi Bold" pitchFamily="34" charset="0"/>
                <a:ea typeface="Nunito Semi Bold" pitchFamily="34" charset="-122"/>
                <a:cs typeface="Nunito Semi Bold" pitchFamily="34" charset="-120"/>
              </a:rPr>
              <a:t>?</a:t>
            </a:r>
            <a:endParaRPr lang="en-US" sz="4400" dirty="0"/>
          </a:p>
        </p:txBody>
      </p:sp>
      <p:sp>
        <p:nvSpPr>
          <p:cNvPr id="9" name="Text 21">
            <a:extLst>
              <a:ext uri="{FF2B5EF4-FFF2-40B4-BE49-F238E27FC236}">
                <a16:creationId xmlns:a16="http://schemas.microsoft.com/office/drawing/2014/main" id="{2EF15E0F-CF95-05C5-6902-B2D4EECCB41F}"/>
              </a:ext>
            </a:extLst>
          </p:cNvPr>
          <p:cNvSpPr/>
          <p:nvPr/>
        </p:nvSpPr>
        <p:spPr>
          <a:xfrm>
            <a:off x="1140738" y="6424255"/>
            <a:ext cx="12691110" cy="712708"/>
          </a:xfrm>
          <a:prstGeom prst="rect">
            <a:avLst/>
          </a:prstGeom>
          <a:noFill/>
          <a:ln/>
        </p:spPr>
        <p:txBody>
          <a:bodyPr wrap="square" lIns="0" tIns="0" rIns="0" bIns="0" rtlCol="0" anchor="t"/>
          <a:lstStyle/>
          <a:p>
            <a:pPr marL="0" indent="0" algn="l">
              <a:lnSpc>
                <a:spcPts val="2800"/>
              </a:lnSpc>
              <a:buNone/>
            </a:pPr>
            <a:r>
              <a:rPr lang="en-US" sz="1750" dirty="0">
                <a:solidFill>
                  <a:srgbClr val="FFFFFF"/>
                </a:solidFill>
                <a:latin typeface="PT Sans" pitchFamily="34" charset="0"/>
                <a:ea typeface="PT Sans" pitchFamily="34" charset="-122"/>
                <a:cs typeface="PT Sans" pitchFamily="34" charset="-120"/>
              </a:rPr>
              <a:t>Hay </a:t>
            </a:r>
            <a:r>
              <a:rPr lang="en-US" sz="1750" dirty="0" err="1">
                <a:solidFill>
                  <a:srgbClr val="FFFFFF"/>
                </a:solidFill>
                <a:latin typeface="PT Sans" pitchFamily="34" charset="0"/>
                <a:ea typeface="PT Sans" pitchFamily="34" charset="-122"/>
                <a:cs typeface="PT Sans" pitchFamily="34" charset="-120"/>
              </a:rPr>
              <a:t>casi</a:t>
            </a:r>
            <a:r>
              <a:rPr lang="en-US" sz="1750" dirty="0">
                <a:solidFill>
                  <a:srgbClr val="FFFFFF"/>
                </a:solidFill>
                <a:latin typeface="PT Sans" pitchFamily="34" charset="0"/>
                <a:ea typeface="PT Sans" pitchFamily="34" charset="-122"/>
                <a:cs typeface="PT Sans" pitchFamily="34" charset="-120"/>
              </a:rPr>
              <a:t> 9 </a:t>
            </a:r>
            <a:r>
              <a:rPr lang="en-US" sz="1750" dirty="0" err="1">
                <a:solidFill>
                  <a:srgbClr val="FFFFFF"/>
                </a:solidFill>
                <a:latin typeface="PT Sans" pitchFamily="34" charset="0"/>
                <a:ea typeface="PT Sans" pitchFamily="34" charset="-122"/>
                <a:cs typeface="PT Sans" pitchFamily="34" charset="-120"/>
              </a:rPr>
              <a:t>años</a:t>
            </a:r>
            <a:r>
              <a:rPr lang="en-US" sz="1750" dirty="0">
                <a:solidFill>
                  <a:srgbClr val="FFFFFF"/>
                </a:solidFill>
                <a:latin typeface="PT Sans" pitchFamily="34" charset="0"/>
                <a:ea typeface="PT Sans" pitchFamily="34" charset="-122"/>
                <a:cs typeface="PT Sans" pitchFamily="34" charset="-120"/>
              </a:rPr>
              <a:t> de </a:t>
            </a:r>
            <a:r>
              <a:rPr lang="en-US" sz="1750" dirty="0" err="1">
                <a:solidFill>
                  <a:srgbClr val="FFFFFF"/>
                </a:solidFill>
                <a:latin typeface="PT Sans" pitchFamily="34" charset="0"/>
                <a:ea typeface="PT Sans" pitchFamily="34" charset="-122"/>
                <a:cs typeface="PT Sans" pitchFamily="34" charset="-120"/>
              </a:rPr>
              <a:t>diferencia</a:t>
            </a:r>
            <a:r>
              <a:rPr lang="en-US" sz="1750" dirty="0">
                <a:solidFill>
                  <a:srgbClr val="FFFFFF"/>
                </a:solidFill>
                <a:latin typeface="PT Sans" pitchFamily="34" charset="0"/>
                <a:ea typeface="PT Sans" pitchFamily="34" charset="-122"/>
                <a:cs typeface="PT Sans" pitchFamily="34" charset="-120"/>
              </a:rPr>
              <a:t> en la media de </a:t>
            </a:r>
            <a:r>
              <a:rPr lang="en-US" sz="1750" dirty="0" err="1">
                <a:solidFill>
                  <a:srgbClr val="FFFFFF"/>
                </a:solidFill>
                <a:latin typeface="PT Sans" pitchFamily="34" charset="0"/>
                <a:ea typeface="PT Sans" pitchFamily="34" charset="-122"/>
                <a:cs typeface="PT Sans" pitchFamily="34" charset="-120"/>
              </a:rPr>
              <a:t>edad</a:t>
            </a:r>
            <a:r>
              <a:rPr lang="en-US" sz="1750" dirty="0">
                <a:solidFill>
                  <a:srgbClr val="FFFFFF"/>
                </a:solidFill>
                <a:latin typeface="PT Sans" pitchFamily="34" charset="0"/>
                <a:ea typeface="PT Sans" pitchFamily="34" charset="-122"/>
                <a:cs typeface="PT Sans" pitchFamily="34" charset="-120"/>
              </a:rPr>
              <a:t> a la </a:t>
            </a:r>
            <a:r>
              <a:rPr lang="en-US" sz="1750" dirty="0" err="1">
                <a:solidFill>
                  <a:srgbClr val="FFFFFF"/>
                </a:solidFill>
                <a:latin typeface="PT Sans" pitchFamily="34" charset="0"/>
                <a:ea typeface="PT Sans" pitchFamily="34" charset="-122"/>
                <a:cs typeface="PT Sans" pitchFamily="34" charset="-120"/>
              </a:rPr>
              <a:t>que</a:t>
            </a:r>
            <a:r>
              <a:rPr lang="en-US" sz="1750" dirty="0">
                <a:solidFill>
                  <a:srgbClr val="FFFFFF"/>
                </a:solidFill>
                <a:latin typeface="PT Sans" pitchFamily="34" charset="0"/>
                <a:ea typeface="PT Sans" pitchFamily="34" charset="-122"/>
                <a:cs typeface="PT Sans" pitchFamily="34" charset="-120"/>
              </a:rPr>
              <a:t> </a:t>
            </a:r>
            <a:r>
              <a:rPr lang="en-US" sz="1750" dirty="0" err="1">
                <a:solidFill>
                  <a:srgbClr val="FFFFFF"/>
                </a:solidFill>
                <a:latin typeface="PT Sans" pitchFamily="34" charset="0"/>
                <a:ea typeface="PT Sans" pitchFamily="34" charset="-122"/>
                <a:cs typeface="PT Sans" pitchFamily="34" charset="-120"/>
              </a:rPr>
              <a:t>ganan</a:t>
            </a:r>
            <a:r>
              <a:rPr lang="en-US" sz="1750" dirty="0">
                <a:solidFill>
                  <a:srgbClr val="FFFFFF"/>
                </a:solidFill>
                <a:latin typeface="PT Sans" pitchFamily="34" charset="0"/>
                <a:ea typeface="PT Sans" pitchFamily="34" charset="-122"/>
                <a:cs typeface="PT Sans" pitchFamily="34" charset="-120"/>
              </a:rPr>
              <a:t> </a:t>
            </a:r>
            <a:r>
              <a:rPr lang="en-US" sz="1750" dirty="0" err="1">
                <a:solidFill>
                  <a:srgbClr val="FFFFFF"/>
                </a:solidFill>
                <a:latin typeface="PT Sans" pitchFamily="34" charset="0"/>
                <a:ea typeface="PT Sans" pitchFamily="34" charset="-122"/>
                <a:cs typeface="PT Sans" pitchFamily="34" charset="-120"/>
              </a:rPr>
              <a:t>los</a:t>
            </a:r>
            <a:r>
              <a:rPr lang="en-US" sz="1750" dirty="0">
                <a:solidFill>
                  <a:srgbClr val="FFFFFF"/>
                </a:solidFill>
                <a:latin typeface="PT Sans" pitchFamily="34" charset="0"/>
                <a:ea typeface="PT Sans" pitchFamily="34" charset="-122"/>
                <a:cs typeface="PT Sans" pitchFamily="34" charset="-120"/>
              </a:rPr>
              <a:t> Oscars hombres y </a:t>
            </a:r>
            <a:r>
              <a:rPr lang="en-US" sz="1750" dirty="0" err="1">
                <a:solidFill>
                  <a:srgbClr val="FFFFFF"/>
                </a:solidFill>
                <a:latin typeface="PT Sans" pitchFamily="34" charset="0"/>
                <a:ea typeface="PT Sans" pitchFamily="34" charset="-122"/>
                <a:cs typeface="PT Sans" pitchFamily="34" charset="-120"/>
              </a:rPr>
              <a:t>mujeres</a:t>
            </a:r>
            <a:endParaRPr lang="en-US" sz="1750" dirty="0">
              <a:solidFill>
                <a:srgbClr val="FFFFFF"/>
              </a:solidFill>
              <a:latin typeface="PT Sans" pitchFamily="34" charset="0"/>
              <a:ea typeface="PT Sans" pitchFamily="34" charset="-122"/>
              <a:cs typeface="PT Sans" pitchFamily="34" charset="-120"/>
            </a:endParaRPr>
          </a:p>
          <a:p>
            <a:pPr marL="0" indent="0" algn="l">
              <a:lnSpc>
                <a:spcPts val="2800"/>
              </a:lnSpc>
              <a:buNone/>
            </a:pPr>
            <a:r>
              <a:rPr lang="en-US" sz="1750" dirty="0">
                <a:solidFill>
                  <a:srgbClr val="FFFFFF"/>
                </a:solidFill>
                <a:latin typeface="PT Sans" pitchFamily="34" charset="0"/>
              </a:rPr>
              <a:t>El 75% de </a:t>
            </a:r>
            <a:r>
              <a:rPr lang="en-US" sz="1750" dirty="0" err="1">
                <a:solidFill>
                  <a:srgbClr val="FFFFFF"/>
                </a:solidFill>
                <a:latin typeface="PT Sans" pitchFamily="34" charset="0"/>
              </a:rPr>
              <a:t>ellas</a:t>
            </a:r>
            <a:r>
              <a:rPr lang="en-US" sz="1750" dirty="0">
                <a:solidFill>
                  <a:srgbClr val="FFFFFF"/>
                </a:solidFill>
                <a:latin typeface="PT Sans" pitchFamily="34" charset="0"/>
              </a:rPr>
              <a:t> </a:t>
            </a:r>
            <a:r>
              <a:rPr lang="en-US" sz="1750" dirty="0" err="1">
                <a:solidFill>
                  <a:srgbClr val="FFFFFF"/>
                </a:solidFill>
                <a:latin typeface="PT Sans" pitchFamily="34" charset="0"/>
              </a:rPr>
              <a:t>tiene</a:t>
            </a:r>
            <a:r>
              <a:rPr lang="en-US" sz="1750" dirty="0">
                <a:solidFill>
                  <a:srgbClr val="FFFFFF"/>
                </a:solidFill>
                <a:latin typeface="PT Sans" pitchFamily="34" charset="0"/>
              </a:rPr>
              <a:t> </a:t>
            </a:r>
            <a:r>
              <a:rPr lang="en-US" sz="1750" dirty="0" err="1">
                <a:solidFill>
                  <a:srgbClr val="FFFFFF"/>
                </a:solidFill>
                <a:latin typeface="PT Sans" pitchFamily="34" charset="0"/>
              </a:rPr>
              <a:t>menos</a:t>
            </a:r>
            <a:r>
              <a:rPr lang="en-US" sz="1750" dirty="0">
                <a:solidFill>
                  <a:srgbClr val="FFFFFF"/>
                </a:solidFill>
                <a:latin typeface="PT Sans" pitchFamily="34" charset="0"/>
              </a:rPr>
              <a:t> de 45 </a:t>
            </a:r>
            <a:r>
              <a:rPr lang="en-US" sz="1750" dirty="0" err="1">
                <a:solidFill>
                  <a:srgbClr val="FFFFFF"/>
                </a:solidFill>
                <a:latin typeface="PT Sans" pitchFamily="34" charset="0"/>
              </a:rPr>
              <a:t>años</a:t>
            </a:r>
            <a:r>
              <a:rPr lang="en-US" sz="1750" dirty="0">
                <a:solidFill>
                  <a:srgbClr val="FFFFFF"/>
                </a:solidFill>
                <a:latin typeface="PT Sans" pitchFamily="34" charset="0"/>
              </a:rPr>
              <a:t> </a:t>
            </a:r>
            <a:r>
              <a:rPr lang="en-US" sz="1750" dirty="0" err="1">
                <a:solidFill>
                  <a:srgbClr val="FFFFFF"/>
                </a:solidFill>
                <a:latin typeface="PT Sans" pitchFamily="34" charset="0"/>
              </a:rPr>
              <a:t>mientras</a:t>
            </a:r>
            <a:r>
              <a:rPr lang="en-US" sz="1750" dirty="0">
                <a:solidFill>
                  <a:srgbClr val="FFFFFF"/>
                </a:solidFill>
                <a:latin typeface="PT Sans" pitchFamily="34" charset="0"/>
              </a:rPr>
              <a:t> </a:t>
            </a:r>
            <a:r>
              <a:rPr lang="en-US" sz="1750" dirty="0" err="1">
                <a:solidFill>
                  <a:srgbClr val="FFFFFF"/>
                </a:solidFill>
                <a:latin typeface="PT Sans" pitchFamily="34" charset="0"/>
              </a:rPr>
              <a:t>que</a:t>
            </a:r>
            <a:r>
              <a:rPr lang="en-US" sz="1750" dirty="0">
                <a:solidFill>
                  <a:srgbClr val="FFFFFF"/>
                </a:solidFill>
                <a:latin typeface="PT Sans" pitchFamily="34" charset="0"/>
              </a:rPr>
              <a:t> en </a:t>
            </a:r>
            <a:r>
              <a:rPr lang="en-US" sz="1750" dirty="0" err="1">
                <a:solidFill>
                  <a:srgbClr val="FFFFFF"/>
                </a:solidFill>
                <a:latin typeface="PT Sans" pitchFamily="34" charset="0"/>
              </a:rPr>
              <a:t>los</a:t>
            </a:r>
            <a:r>
              <a:rPr lang="en-US" sz="1750" dirty="0">
                <a:solidFill>
                  <a:srgbClr val="FFFFFF"/>
                </a:solidFill>
                <a:latin typeface="PT Sans" pitchFamily="34" charset="0"/>
              </a:rPr>
              <a:t> hombres ese </a:t>
            </a:r>
            <a:r>
              <a:rPr lang="en-US" sz="1750" dirty="0" err="1">
                <a:solidFill>
                  <a:srgbClr val="FFFFFF"/>
                </a:solidFill>
                <a:latin typeface="PT Sans" pitchFamily="34" charset="0"/>
              </a:rPr>
              <a:t>mismo</a:t>
            </a:r>
            <a:r>
              <a:rPr lang="en-US" sz="1750" dirty="0">
                <a:solidFill>
                  <a:srgbClr val="FFFFFF"/>
                </a:solidFill>
                <a:latin typeface="PT Sans" pitchFamily="34" charset="0"/>
              </a:rPr>
              <a:t> </a:t>
            </a:r>
            <a:r>
              <a:rPr lang="en-US" sz="1750" dirty="0" err="1">
                <a:solidFill>
                  <a:srgbClr val="FFFFFF"/>
                </a:solidFill>
                <a:latin typeface="PT Sans" pitchFamily="34" charset="0"/>
              </a:rPr>
              <a:t>porcentaje</a:t>
            </a:r>
            <a:r>
              <a:rPr lang="en-US" sz="1750" dirty="0">
                <a:solidFill>
                  <a:srgbClr val="FFFFFF"/>
                </a:solidFill>
                <a:latin typeface="PT Sans" pitchFamily="34" charset="0"/>
              </a:rPr>
              <a:t> </a:t>
            </a:r>
            <a:r>
              <a:rPr lang="en-US" sz="1750" dirty="0" err="1">
                <a:solidFill>
                  <a:srgbClr val="FFFFFF"/>
                </a:solidFill>
                <a:latin typeface="PT Sans" pitchFamily="34" charset="0"/>
              </a:rPr>
              <a:t>llega</a:t>
            </a:r>
            <a:r>
              <a:rPr lang="en-US" sz="1750" dirty="0">
                <a:solidFill>
                  <a:srgbClr val="FFFFFF"/>
                </a:solidFill>
                <a:latin typeface="PT Sans" pitchFamily="34" charset="0"/>
              </a:rPr>
              <a:t> a </a:t>
            </a:r>
            <a:r>
              <a:rPr lang="en-US" sz="1750" dirty="0" err="1">
                <a:solidFill>
                  <a:srgbClr val="FFFFFF"/>
                </a:solidFill>
                <a:latin typeface="PT Sans" pitchFamily="34" charset="0"/>
              </a:rPr>
              <a:t>los</a:t>
            </a:r>
            <a:r>
              <a:rPr lang="en-US" sz="1750" dirty="0">
                <a:solidFill>
                  <a:srgbClr val="FFFFFF"/>
                </a:solidFill>
                <a:latin typeface="PT Sans" pitchFamily="34" charset="0"/>
              </a:rPr>
              <a:t> 53</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0">
            <a:extLst>
              <a:ext uri="{FF2B5EF4-FFF2-40B4-BE49-F238E27FC236}">
                <a16:creationId xmlns:a16="http://schemas.microsoft.com/office/drawing/2014/main" id="{6BCB44F8-0274-5992-566C-CF87879B1BEA}"/>
              </a:ext>
            </a:extLst>
          </p:cNvPr>
          <p:cNvSpPr/>
          <p:nvPr/>
        </p:nvSpPr>
        <p:spPr>
          <a:xfrm>
            <a:off x="746165" y="822127"/>
            <a:ext cx="8960287" cy="626983"/>
          </a:xfrm>
          <a:prstGeom prst="rect">
            <a:avLst/>
          </a:prstGeom>
          <a:noFill/>
          <a:ln/>
        </p:spPr>
        <p:txBody>
          <a:bodyPr wrap="none" lIns="0" tIns="0" rIns="0" bIns="0" rtlCol="0" anchor="t"/>
          <a:lstStyle/>
          <a:p>
            <a:pPr marL="0" indent="0" algn="l">
              <a:lnSpc>
                <a:spcPts val="4900"/>
              </a:lnSpc>
              <a:buNone/>
            </a:pPr>
            <a:r>
              <a:rPr lang="en-US" sz="4400" dirty="0">
                <a:solidFill>
                  <a:srgbClr val="FFFFFF"/>
                </a:solidFill>
                <a:latin typeface="Nunito Semi Bold" pitchFamily="34" charset="0"/>
                <a:ea typeface="Nunito Semi Bold" pitchFamily="34" charset="-122"/>
                <a:cs typeface="Nunito Semi Bold" pitchFamily="34" charset="-120"/>
              </a:rPr>
              <a:t>¿Ha </a:t>
            </a:r>
            <a:r>
              <a:rPr lang="en-US" sz="4400" dirty="0" err="1">
                <a:solidFill>
                  <a:srgbClr val="FFFFFF"/>
                </a:solidFill>
                <a:latin typeface="Nunito Semi Bold" pitchFamily="34" charset="0"/>
                <a:ea typeface="Nunito Semi Bold" pitchFamily="34" charset="-122"/>
                <a:cs typeface="Nunito Semi Bold" pitchFamily="34" charset="-120"/>
              </a:rPr>
              <a:t>variado</a:t>
            </a:r>
            <a:r>
              <a:rPr lang="en-US" sz="4400" dirty="0">
                <a:solidFill>
                  <a:srgbClr val="FFFFFF"/>
                </a:solidFill>
                <a:latin typeface="Nunito Semi Bold" pitchFamily="34" charset="0"/>
                <a:ea typeface="Nunito Semi Bold" pitchFamily="34" charset="-122"/>
                <a:cs typeface="Nunito Semi Bold" pitchFamily="34" charset="-120"/>
              </a:rPr>
              <a:t> </a:t>
            </a:r>
            <a:r>
              <a:rPr lang="en-US" sz="4400" dirty="0" err="1">
                <a:solidFill>
                  <a:srgbClr val="FFFFFF"/>
                </a:solidFill>
                <a:latin typeface="Nunito Semi Bold" pitchFamily="34" charset="0"/>
                <a:ea typeface="Nunito Semi Bold" pitchFamily="34" charset="-122"/>
                <a:cs typeface="Nunito Semi Bold" pitchFamily="34" charset="-120"/>
              </a:rPr>
              <a:t>esta</a:t>
            </a:r>
            <a:r>
              <a:rPr lang="en-US" sz="4400" dirty="0">
                <a:solidFill>
                  <a:srgbClr val="FFFFFF"/>
                </a:solidFill>
                <a:latin typeface="Nunito Semi Bold" pitchFamily="34" charset="0"/>
                <a:ea typeface="Nunito Semi Bold" pitchFamily="34" charset="-122"/>
                <a:cs typeface="Nunito Semi Bold" pitchFamily="34" charset="-120"/>
              </a:rPr>
              <a:t> </a:t>
            </a:r>
            <a:r>
              <a:rPr lang="en-US" sz="4400" dirty="0" err="1">
                <a:solidFill>
                  <a:srgbClr val="FFFFFF"/>
                </a:solidFill>
                <a:latin typeface="Nunito Semi Bold" pitchFamily="34" charset="0"/>
                <a:ea typeface="Nunito Semi Bold" pitchFamily="34" charset="-122"/>
                <a:cs typeface="Nunito Semi Bold" pitchFamily="34" charset="-120"/>
              </a:rPr>
              <a:t>igualdad</a:t>
            </a:r>
            <a:r>
              <a:rPr lang="en-US" sz="4400" dirty="0">
                <a:solidFill>
                  <a:srgbClr val="FFFFFF"/>
                </a:solidFill>
                <a:latin typeface="Nunito Semi Bold" pitchFamily="34" charset="0"/>
                <a:ea typeface="Nunito Semi Bold" pitchFamily="34" charset="-122"/>
                <a:cs typeface="Nunito Semi Bold" pitchFamily="34" charset="-120"/>
              </a:rPr>
              <a:t> de </a:t>
            </a:r>
            <a:r>
              <a:rPr lang="en-US" sz="4400" dirty="0" err="1">
                <a:solidFill>
                  <a:srgbClr val="FFFFFF"/>
                </a:solidFill>
                <a:latin typeface="Nunito Semi Bold" pitchFamily="34" charset="0"/>
                <a:ea typeface="Nunito Semi Bold" pitchFamily="34" charset="-122"/>
                <a:cs typeface="Nunito Semi Bold" pitchFamily="34" charset="-120"/>
              </a:rPr>
              <a:t>género</a:t>
            </a:r>
            <a:r>
              <a:rPr lang="en-US" sz="4400" dirty="0">
                <a:solidFill>
                  <a:srgbClr val="FFFFFF"/>
                </a:solidFill>
                <a:latin typeface="Nunito Semi Bold" pitchFamily="34" charset="0"/>
                <a:ea typeface="Nunito Semi Bold" pitchFamily="34" charset="-122"/>
                <a:cs typeface="Nunito Semi Bold" pitchFamily="34" charset="-120"/>
              </a:rPr>
              <a:t> con el </a:t>
            </a:r>
            <a:r>
              <a:rPr lang="en-US" sz="4400" dirty="0" err="1">
                <a:solidFill>
                  <a:srgbClr val="FFFFFF"/>
                </a:solidFill>
                <a:latin typeface="Nunito Semi Bold" pitchFamily="34" charset="0"/>
                <a:ea typeface="Nunito Semi Bold" pitchFamily="34" charset="-122"/>
                <a:cs typeface="Nunito Semi Bold" pitchFamily="34" charset="-120"/>
              </a:rPr>
              <a:t>tiempo</a:t>
            </a:r>
            <a:r>
              <a:rPr lang="en-US" sz="4400" dirty="0">
                <a:solidFill>
                  <a:srgbClr val="FFFFFF"/>
                </a:solidFill>
                <a:latin typeface="Nunito Semi Bold" pitchFamily="34" charset="0"/>
                <a:ea typeface="Nunito Semi Bold" pitchFamily="34" charset="-122"/>
                <a:cs typeface="Nunito Semi Bold" pitchFamily="34" charset="-120"/>
              </a:rPr>
              <a:t> ?</a:t>
            </a:r>
            <a:endParaRPr lang="en-US" sz="4400" dirty="0"/>
          </a:p>
        </p:txBody>
      </p:sp>
      <p:sp>
        <p:nvSpPr>
          <p:cNvPr id="14" name="Text 21">
            <a:extLst>
              <a:ext uri="{FF2B5EF4-FFF2-40B4-BE49-F238E27FC236}">
                <a16:creationId xmlns:a16="http://schemas.microsoft.com/office/drawing/2014/main" id="{AA370322-3F76-23C5-C718-D662C06267AA}"/>
              </a:ext>
            </a:extLst>
          </p:cNvPr>
          <p:cNvSpPr/>
          <p:nvPr/>
        </p:nvSpPr>
        <p:spPr>
          <a:xfrm>
            <a:off x="1311566" y="6515616"/>
            <a:ext cx="12691110" cy="712708"/>
          </a:xfrm>
          <a:prstGeom prst="rect">
            <a:avLst/>
          </a:prstGeom>
          <a:noFill/>
          <a:ln/>
        </p:spPr>
        <p:txBody>
          <a:bodyPr wrap="square" lIns="0" tIns="0" rIns="0" bIns="0" rtlCol="0" anchor="t"/>
          <a:lstStyle/>
          <a:p>
            <a:pPr marL="0" indent="0" algn="l">
              <a:lnSpc>
                <a:spcPts val="2800"/>
              </a:lnSpc>
              <a:buNone/>
            </a:pPr>
            <a:r>
              <a:rPr lang="en-US" sz="1750" dirty="0">
                <a:solidFill>
                  <a:srgbClr val="FFFFFF"/>
                </a:solidFill>
                <a:latin typeface="PT Sans" pitchFamily="34" charset="0"/>
                <a:ea typeface="PT Sans" pitchFamily="34" charset="-122"/>
                <a:cs typeface="PT Sans" pitchFamily="34" charset="-120"/>
              </a:rPr>
              <a:t>La </a:t>
            </a:r>
            <a:r>
              <a:rPr lang="en-US" sz="1750" dirty="0" err="1">
                <a:solidFill>
                  <a:srgbClr val="FFFFFF"/>
                </a:solidFill>
                <a:latin typeface="PT Sans" pitchFamily="34" charset="0"/>
                <a:ea typeface="PT Sans" pitchFamily="34" charset="-122"/>
                <a:cs typeface="PT Sans" pitchFamily="34" charset="-120"/>
              </a:rPr>
              <a:t>brecha</a:t>
            </a:r>
            <a:r>
              <a:rPr lang="en-US" sz="1750" dirty="0">
                <a:solidFill>
                  <a:srgbClr val="FFFFFF"/>
                </a:solidFill>
                <a:latin typeface="PT Sans" pitchFamily="34" charset="0"/>
                <a:ea typeface="PT Sans" pitchFamily="34" charset="-122"/>
                <a:cs typeface="PT Sans" pitchFamily="34" charset="-120"/>
              </a:rPr>
              <a:t> de </a:t>
            </a:r>
            <a:r>
              <a:rPr lang="en-US" sz="1750" dirty="0" err="1">
                <a:solidFill>
                  <a:srgbClr val="FFFFFF"/>
                </a:solidFill>
                <a:latin typeface="PT Sans" pitchFamily="34" charset="0"/>
                <a:ea typeface="PT Sans" pitchFamily="34" charset="-122"/>
                <a:cs typeface="PT Sans" pitchFamily="34" charset="-120"/>
              </a:rPr>
              <a:t>edad</a:t>
            </a:r>
            <a:r>
              <a:rPr lang="en-US" sz="1750" dirty="0">
                <a:solidFill>
                  <a:srgbClr val="FFFFFF"/>
                </a:solidFill>
                <a:latin typeface="PT Sans" pitchFamily="34" charset="0"/>
                <a:ea typeface="PT Sans" pitchFamily="34" charset="-122"/>
                <a:cs typeface="PT Sans" pitchFamily="34" charset="-120"/>
              </a:rPr>
              <a:t> se </a:t>
            </a:r>
            <a:r>
              <a:rPr lang="en-US" sz="1750" dirty="0" err="1">
                <a:solidFill>
                  <a:srgbClr val="FFFFFF"/>
                </a:solidFill>
                <a:latin typeface="PT Sans" pitchFamily="34" charset="0"/>
                <a:ea typeface="PT Sans" pitchFamily="34" charset="-122"/>
                <a:cs typeface="PT Sans" pitchFamily="34" charset="-120"/>
              </a:rPr>
              <a:t>mantiene</a:t>
            </a:r>
            <a:r>
              <a:rPr lang="en-US" sz="1750" dirty="0">
                <a:solidFill>
                  <a:srgbClr val="FFFFFF"/>
                </a:solidFill>
                <a:latin typeface="PT Sans" pitchFamily="34" charset="0"/>
                <a:ea typeface="PT Sans" pitchFamily="34" charset="-122"/>
                <a:cs typeface="PT Sans" pitchFamily="34" charset="-120"/>
              </a:rPr>
              <a:t> </a:t>
            </a:r>
            <a:r>
              <a:rPr lang="en-US" sz="1750" dirty="0" err="1">
                <a:solidFill>
                  <a:srgbClr val="FFFFFF"/>
                </a:solidFill>
                <a:latin typeface="PT Sans" pitchFamily="34" charset="0"/>
                <a:ea typeface="PT Sans" pitchFamily="34" charset="-122"/>
                <a:cs typeface="PT Sans" pitchFamily="34" charset="-120"/>
              </a:rPr>
              <a:t>consistente</a:t>
            </a:r>
            <a:r>
              <a:rPr lang="en-US" sz="1750" dirty="0">
                <a:solidFill>
                  <a:srgbClr val="FFFFFF"/>
                </a:solidFill>
                <a:latin typeface="PT Sans" pitchFamily="34" charset="0"/>
                <a:ea typeface="PT Sans" pitchFamily="34" charset="-122"/>
                <a:cs typeface="PT Sans" pitchFamily="34" charset="-120"/>
              </a:rPr>
              <a:t>, no hay </a:t>
            </a:r>
            <a:r>
              <a:rPr lang="en-US" sz="1750" dirty="0" err="1">
                <a:solidFill>
                  <a:srgbClr val="FFFFFF"/>
                </a:solidFill>
                <a:latin typeface="PT Sans" pitchFamily="34" charset="0"/>
                <a:ea typeface="PT Sans" pitchFamily="34" charset="-122"/>
                <a:cs typeface="PT Sans" pitchFamily="34" charset="-120"/>
              </a:rPr>
              <a:t>grandes</a:t>
            </a:r>
            <a:r>
              <a:rPr lang="en-US" sz="1750" dirty="0">
                <a:solidFill>
                  <a:srgbClr val="FFFFFF"/>
                </a:solidFill>
                <a:latin typeface="PT Sans" pitchFamily="34" charset="0"/>
                <a:ea typeface="PT Sans" pitchFamily="34" charset="-122"/>
                <a:cs typeface="PT Sans" pitchFamily="34" charset="-120"/>
              </a:rPr>
              <a:t> </a:t>
            </a:r>
            <a:r>
              <a:rPr lang="en-US" sz="1750" dirty="0" err="1">
                <a:solidFill>
                  <a:srgbClr val="FFFFFF"/>
                </a:solidFill>
                <a:latin typeface="PT Sans" pitchFamily="34" charset="0"/>
                <a:ea typeface="PT Sans" pitchFamily="34" charset="-122"/>
                <a:cs typeface="PT Sans" pitchFamily="34" charset="-120"/>
              </a:rPr>
              <a:t>alteraciones</a:t>
            </a:r>
            <a:endParaRPr lang="en-US" sz="1750" dirty="0">
              <a:solidFill>
                <a:srgbClr val="FFFFFF"/>
              </a:solidFill>
              <a:latin typeface="PT Sans" pitchFamily="34" charset="0"/>
              <a:ea typeface="PT Sans" pitchFamily="34" charset="-122"/>
              <a:cs typeface="PT Sans" pitchFamily="34" charset="-120"/>
            </a:endParaRPr>
          </a:p>
          <a:p>
            <a:pPr marL="0" indent="0" algn="l">
              <a:lnSpc>
                <a:spcPts val="2800"/>
              </a:lnSpc>
              <a:buNone/>
            </a:pPr>
            <a:r>
              <a:rPr lang="en-US" sz="1750" dirty="0">
                <a:solidFill>
                  <a:srgbClr val="FFFFFF"/>
                </a:solidFill>
                <a:latin typeface="PT Sans" pitchFamily="34" charset="0"/>
              </a:rPr>
              <a:t>Las </a:t>
            </a:r>
            <a:r>
              <a:rPr lang="en-US" sz="1750" dirty="0" err="1">
                <a:solidFill>
                  <a:srgbClr val="FFFFFF"/>
                </a:solidFill>
                <a:latin typeface="PT Sans" pitchFamily="34" charset="0"/>
              </a:rPr>
              <a:t>mujeres</a:t>
            </a:r>
            <a:r>
              <a:rPr lang="en-US" sz="1750" dirty="0">
                <a:solidFill>
                  <a:srgbClr val="FFFFFF"/>
                </a:solidFill>
                <a:latin typeface="PT Sans" pitchFamily="34" charset="0"/>
              </a:rPr>
              <a:t> </a:t>
            </a:r>
            <a:r>
              <a:rPr lang="en-US" sz="1750" dirty="0" err="1">
                <a:solidFill>
                  <a:srgbClr val="FFFFFF"/>
                </a:solidFill>
                <a:latin typeface="PT Sans" pitchFamily="34" charset="0"/>
              </a:rPr>
              <a:t>ganaban</a:t>
            </a:r>
            <a:r>
              <a:rPr lang="en-US" sz="1750" dirty="0">
                <a:solidFill>
                  <a:srgbClr val="FFFFFF"/>
                </a:solidFill>
                <a:latin typeface="PT Sans" pitchFamily="34" charset="0"/>
              </a:rPr>
              <a:t> </a:t>
            </a:r>
            <a:r>
              <a:rPr lang="en-US" sz="1750" dirty="0" err="1">
                <a:solidFill>
                  <a:srgbClr val="FFFFFF"/>
                </a:solidFill>
                <a:latin typeface="PT Sans" pitchFamily="34" charset="0"/>
              </a:rPr>
              <a:t>muy</a:t>
            </a:r>
            <a:r>
              <a:rPr lang="en-US" sz="1750" dirty="0">
                <a:solidFill>
                  <a:srgbClr val="FFFFFF"/>
                </a:solidFill>
                <a:latin typeface="PT Sans" pitchFamily="34" charset="0"/>
              </a:rPr>
              <a:t> </a:t>
            </a:r>
            <a:r>
              <a:rPr lang="en-US" sz="1750" dirty="0" err="1">
                <a:solidFill>
                  <a:srgbClr val="FFFFFF"/>
                </a:solidFill>
                <a:latin typeface="PT Sans" pitchFamily="34" charset="0"/>
              </a:rPr>
              <a:t>jóvenes</a:t>
            </a:r>
            <a:r>
              <a:rPr lang="en-US" sz="1750" dirty="0">
                <a:solidFill>
                  <a:srgbClr val="FFFFFF"/>
                </a:solidFill>
                <a:latin typeface="PT Sans" pitchFamily="34" charset="0"/>
              </a:rPr>
              <a:t> en </a:t>
            </a:r>
            <a:r>
              <a:rPr lang="en-US" sz="1750" dirty="0" err="1">
                <a:solidFill>
                  <a:srgbClr val="FFFFFF"/>
                </a:solidFill>
                <a:latin typeface="PT Sans" pitchFamily="34" charset="0"/>
              </a:rPr>
              <a:t>los</a:t>
            </a:r>
            <a:r>
              <a:rPr lang="en-US" sz="1750" dirty="0">
                <a:solidFill>
                  <a:srgbClr val="FFFFFF"/>
                </a:solidFill>
                <a:latin typeface="PT Sans" pitchFamily="34" charset="0"/>
              </a:rPr>
              <a:t> </a:t>
            </a:r>
            <a:r>
              <a:rPr lang="en-US" sz="1750" dirty="0" err="1">
                <a:solidFill>
                  <a:srgbClr val="FFFFFF"/>
                </a:solidFill>
                <a:latin typeface="PT Sans" pitchFamily="34" charset="0"/>
              </a:rPr>
              <a:t>años</a:t>
            </a:r>
            <a:r>
              <a:rPr lang="en-US" sz="1750" dirty="0">
                <a:solidFill>
                  <a:srgbClr val="FFFFFF"/>
                </a:solidFill>
                <a:latin typeface="PT Sans" pitchFamily="34" charset="0"/>
              </a:rPr>
              <a:t> 20* y </a:t>
            </a:r>
            <a:r>
              <a:rPr lang="en-US" sz="1750" dirty="0" err="1">
                <a:solidFill>
                  <a:srgbClr val="FFFFFF"/>
                </a:solidFill>
                <a:latin typeface="PT Sans" pitchFamily="34" charset="0"/>
              </a:rPr>
              <a:t>sí</a:t>
            </a:r>
            <a:r>
              <a:rPr lang="en-US" sz="1750" dirty="0">
                <a:solidFill>
                  <a:srgbClr val="FFFFFF"/>
                </a:solidFill>
                <a:latin typeface="PT Sans" pitchFamily="34" charset="0"/>
              </a:rPr>
              <a:t> se </a:t>
            </a:r>
            <a:r>
              <a:rPr lang="en-US" sz="1750" dirty="0" err="1">
                <a:solidFill>
                  <a:srgbClr val="FFFFFF"/>
                </a:solidFill>
                <a:latin typeface="PT Sans" pitchFamily="34" charset="0"/>
              </a:rPr>
              <a:t>observa</a:t>
            </a:r>
            <a:r>
              <a:rPr lang="en-US" sz="1750" dirty="0">
                <a:solidFill>
                  <a:srgbClr val="FFFFFF"/>
                </a:solidFill>
                <a:latin typeface="PT Sans" pitchFamily="34" charset="0"/>
              </a:rPr>
              <a:t> </a:t>
            </a:r>
            <a:r>
              <a:rPr lang="en-US" sz="1750" dirty="0" err="1">
                <a:solidFill>
                  <a:srgbClr val="FFFFFF"/>
                </a:solidFill>
                <a:latin typeface="PT Sans" pitchFamily="34" charset="0"/>
              </a:rPr>
              <a:t>cierta</a:t>
            </a:r>
            <a:r>
              <a:rPr lang="en-US" sz="1750" dirty="0">
                <a:solidFill>
                  <a:srgbClr val="FFFFFF"/>
                </a:solidFill>
                <a:latin typeface="PT Sans" pitchFamily="34" charset="0"/>
              </a:rPr>
              <a:t> </a:t>
            </a:r>
            <a:r>
              <a:rPr lang="en-US" sz="1750" dirty="0" err="1">
                <a:solidFill>
                  <a:srgbClr val="FFFFFF"/>
                </a:solidFill>
                <a:latin typeface="PT Sans" pitchFamily="34" charset="0"/>
              </a:rPr>
              <a:t>tendencia</a:t>
            </a:r>
            <a:r>
              <a:rPr lang="en-US" sz="1750" dirty="0">
                <a:solidFill>
                  <a:srgbClr val="FFFFFF"/>
                </a:solidFill>
                <a:latin typeface="PT Sans" pitchFamily="34" charset="0"/>
              </a:rPr>
              <a:t> al </a:t>
            </a:r>
            <a:r>
              <a:rPr lang="en-US" sz="1750" dirty="0" err="1">
                <a:solidFill>
                  <a:srgbClr val="FFFFFF"/>
                </a:solidFill>
                <a:latin typeface="PT Sans" pitchFamily="34" charset="0"/>
              </a:rPr>
              <a:t>alza</a:t>
            </a:r>
            <a:endParaRPr lang="en-US" sz="1750" dirty="0">
              <a:solidFill>
                <a:srgbClr val="FFFFFF"/>
              </a:solidFill>
              <a:latin typeface="PT Sans" pitchFamily="34" charset="0"/>
            </a:endParaRPr>
          </a:p>
          <a:p>
            <a:pPr marL="0" indent="0" algn="l">
              <a:lnSpc>
                <a:spcPts val="2800"/>
              </a:lnSpc>
              <a:buNone/>
            </a:pPr>
            <a:r>
              <a:rPr lang="en-US" sz="1750" dirty="0">
                <a:solidFill>
                  <a:srgbClr val="FFFFFF"/>
                </a:solidFill>
                <a:latin typeface="PT Sans" pitchFamily="34" charset="0"/>
              </a:rPr>
              <a:t>En </a:t>
            </a:r>
            <a:r>
              <a:rPr lang="en-US" sz="1750" dirty="0" err="1">
                <a:solidFill>
                  <a:srgbClr val="FFFFFF"/>
                </a:solidFill>
                <a:latin typeface="PT Sans" pitchFamily="34" charset="0"/>
              </a:rPr>
              <a:t>los</a:t>
            </a:r>
            <a:r>
              <a:rPr lang="en-US" sz="1750" dirty="0">
                <a:solidFill>
                  <a:srgbClr val="FFFFFF"/>
                </a:solidFill>
                <a:latin typeface="PT Sans" pitchFamily="34" charset="0"/>
              </a:rPr>
              <a:t> hombres también hay </a:t>
            </a:r>
            <a:r>
              <a:rPr lang="en-US" sz="1750" dirty="0" err="1">
                <a:solidFill>
                  <a:srgbClr val="FFFFFF"/>
                </a:solidFill>
                <a:latin typeface="PT Sans" pitchFamily="34" charset="0"/>
              </a:rPr>
              <a:t>una</a:t>
            </a:r>
            <a:r>
              <a:rPr lang="en-US" sz="1750" dirty="0">
                <a:solidFill>
                  <a:srgbClr val="FFFFFF"/>
                </a:solidFill>
                <a:latin typeface="PT Sans" pitchFamily="34" charset="0"/>
              </a:rPr>
              <a:t> </a:t>
            </a:r>
            <a:r>
              <a:rPr lang="en-US" sz="1750" dirty="0" err="1">
                <a:solidFill>
                  <a:srgbClr val="FFFFFF"/>
                </a:solidFill>
                <a:latin typeface="PT Sans" pitchFamily="34" charset="0"/>
              </a:rPr>
              <a:t>pequeña</a:t>
            </a:r>
            <a:r>
              <a:rPr lang="en-US" sz="1750" dirty="0">
                <a:solidFill>
                  <a:srgbClr val="FFFFFF"/>
                </a:solidFill>
                <a:latin typeface="PT Sans" pitchFamily="34" charset="0"/>
              </a:rPr>
              <a:t> </a:t>
            </a:r>
            <a:r>
              <a:rPr lang="en-US" sz="1750" dirty="0" err="1">
                <a:solidFill>
                  <a:srgbClr val="FFFFFF"/>
                </a:solidFill>
                <a:latin typeface="PT Sans" pitchFamily="34" charset="0"/>
              </a:rPr>
              <a:t>tendencia</a:t>
            </a:r>
            <a:r>
              <a:rPr lang="en-US" sz="1750" dirty="0">
                <a:solidFill>
                  <a:srgbClr val="FFFFFF"/>
                </a:solidFill>
                <a:latin typeface="PT Sans" pitchFamily="34" charset="0"/>
              </a:rPr>
              <a:t> al </a:t>
            </a:r>
            <a:r>
              <a:rPr lang="en-US" sz="1750" dirty="0" err="1">
                <a:solidFill>
                  <a:srgbClr val="FFFFFF"/>
                </a:solidFill>
                <a:latin typeface="PT Sans" pitchFamily="34" charset="0"/>
              </a:rPr>
              <a:t>alza</a:t>
            </a:r>
            <a:r>
              <a:rPr lang="en-US" sz="1750" dirty="0">
                <a:solidFill>
                  <a:srgbClr val="FFFFFF"/>
                </a:solidFill>
                <a:latin typeface="PT Sans" pitchFamily="34" charset="0"/>
              </a:rPr>
              <a:t> </a:t>
            </a:r>
            <a:r>
              <a:rPr lang="en-US" sz="1750" dirty="0" err="1">
                <a:solidFill>
                  <a:srgbClr val="FFFFFF"/>
                </a:solidFill>
                <a:latin typeface="PT Sans" pitchFamily="34" charset="0"/>
              </a:rPr>
              <a:t>dentro</a:t>
            </a:r>
            <a:r>
              <a:rPr lang="en-US" sz="1750" dirty="0">
                <a:solidFill>
                  <a:srgbClr val="FFFFFF"/>
                </a:solidFill>
                <a:latin typeface="PT Sans" pitchFamily="34" charset="0"/>
              </a:rPr>
              <a:t> de </a:t>
            </a:r>
            <a:r>
              <a:rPr lang="en-US" sz="1750" dirty="0" err="1">
                <a:solidFill>
                  <a:srgbClr val="FFFFFF"/>
                </a:solidFill>
                <a:latin typeface="PT Sans" pitchFamily="34" charset="0"/>
              </a:rPr>
              <a:t>que</a:t>
            </a:r>
            <a:r>
              <a:rPr lang="en-US" sz="1750" dirty="0">
                <a:solidFill>
                  <a:srgbClr val="FFFFFF"/>
                </a:solidFill>
                <a:latin typeface="PT Sans" pitchFamily="34" charset="0"/>
              </a:rPr>
              <a:t> se </a:t>
            </a:r>
            <a:r>
              <a:rPr lang="en-US" sz="1750" dirty="0" err="1">
                <a:solidFill>
                  <a:srgbClr val="FFFFFF"/>
                </a:solidFill>
                <a:latin typeface="PT Sans" pitchFamily="34" charset="0"/>
              </a:rPr>
              <a:t>mantienen</a:t>
            </a:r>
            <a:r>
              <a:rPr lang="en-US" sz="1750" dirty="0">
                <a:solidFill>
                  <a:srgbClr val="FFFFFF"/>
                </a:solidFill>
                <a:latin typeface="PT Sans" pitchFamily="34" charset="0"/>
              </a:rPr>
              <a:t> </a:t>
            </a:r>
            <a:r>
              <a:rPr lang="en-US" sz="1750" dirty="0" err="1">
                <a:solidFill>
                  <a:srgbClr val="FFFFFF"/>
                </a:solidFill>
                <a:latin typeface="PT Sans" pitchFamily="34" charset="0"/>
              </a:rPr>
              <a:t>más</a:t>
            </a:r>
            <a:r>
              <a:rPr lang="en-US" sz="1750" dirty="0">
                <a:solidFill>
                  <a:srgbClr val="FFFFFF"/>
                </a:solidFill>
                <a:latin typeface="PT Sans" pitchFamily="34" charset="0"/>
              </a:rPr>
              <a:t> </a:t>
            </a:r>
            <a:r>
              <a:rPr lang="en-US" sz="1750" dirty="0" err="1">
                <a:solidFill>
                  <a:srgbClr val="FFFFFF"/>
                </a:solidFill>
                <a:latin typeface="PT Sans" pitchFamily="34" charset="0"/>
              </a:rPr>
              <a:t>estables</a:t>
            </a:r>
            <a:r>
              <a:rPr lang="en-US" sz="1750" dirty="0">
                <a:solidFill>
                  <a:srgbClr val="FFFFFF"/>
                </a:solidFill>
                <a:latin typeface="PT Sans" pitchFamily="34" charset="0"/>
              </a:rPr>
              <a:t> en </a:t>
            </a:r>
            <a:r>
              <a:rPr lang="en-US" sz="1750" dirty="0" err="1">
                <a:solidFill>
                  <a:srgbClr val="FFFFFF"/>
                </a:solidFill>
                <a:latin typeface="PT Sans" pitchFamily="34" charset="0"/>
              </a:rPr>
              <a:t>los</a:t>
            </a:r>
            <a:r>
              <a:rPr lang="en-US" sz="1750" dirty="0">
                <a:solidFill>
                  <a:srgbClr val="FFFFFF"/>
                </a:solidFill>
                <a:latin typeface="PT Sans" pitchFamily="34" charset="0"/>
              </a:rPr>
              <a:t> 45-50</a:t>
            </a:r>
            <a:endParaRPr lang="en-US" sz="1750" dirty="0"/>
          </a:p>
        </p:txBody>
      </p:sp>
      <p:pic>
        <p:nvPicPr>
          <p:cNvPr id="16" name="Imagen 15">
            <a:extLst>
              <a:ext uri="{FF2B5EF4-FFF2-40B4-BE49-F238E27FC236}">
                <a16:creationId xmlns:a16="http://schemas.microsoft.com/office/drawing/2014/main" id="{B2D0F91F-4A01-2EBD-E640-BACB2C910582}"/>
              </a:ext>
            </a:extLst>
          </p:cNvPr>
          <p:cNvPicPr>
            <a:picLocks noChangeAspect="1"/>
          </p:cNvPicPr>
          <p:nvPr/>
        </p:nvPicPr>
        <p:blipFill>
          <a:blip r:embed="rId3"/>
          <a:stretch>
            <a:fillRect/>
          </a:stretch>
        </p:blipFill>
        <p:spPr>
          <a:xfrm>
            <a:off x="1158917" y="1591733"/>
            <a:ext cx="11385508" cy="466619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8552" y="848082"/>
            <a:ext cx="12321778" cy="671036"/>
          </a:xfrm>
          <a:prstGeom prst="rect">
            <a:avLst/>
          </a:prstGeom>
          <a:noFill/>
          <a:ln/>
        </p:spPr>
        <p:txBody>
          <a:bodyPr wrap="none" lIns="0" tIns="0" rIns="0" bIns="0" rtlCol="0" anchor="t"/>
          <a:lstStyle/>
          <a:p>
            <a:pPr marL="0" indent="0" algn="l">
              <a:lnSpc>
                <a:spcPts val="5250"/>
              </a:lnSpc>
              <a:buNone/>
            </a:pPr>
            <a:r>
              <a:rPr lang="en-US" sz="4200" dirty="0" err="1">
                <a:solidFill>
                  <a:srgbClr val="FFFFFF"/>
                </a:solidFill>
                <a:latin typeface="Nunito Semi Bold" pitchFamily="34" charset="0"/>
                <a:ea typeface="Nunito Semi Bold" pitchFamily="34" charset="-122"/>
                <a:cs typeface="Nunito Semi Bold" pitchFamily="34" charset="-120"/>
              </a:rPr>
              <a:t>Conclusiones</a:t>
            </a:r>
            <a:r>
              <a:rPr lang="en-US" sz="4200" dirty="0">
                <a:solidFill>
                  <a:srgbClr val="FFFFFF"/>
                </a:solidFill>
                <a:latin typeface="Nunito Semi Bold" pitchFamily="34" charset="0"/>
                <a:ea typeface="Nunito Semi Bold" pitchFamily="34" charset="-122"/>
                <a:cs typeface="Nunito Semi Bold" pitchFamily="34" charset="-120"/>
              </a:rPr>
              <a:t>:</a:t>
            </a:r>
            <a:endParaRPr lang="en-US" sz="4200" dirty="0"/>
          </a:p>
        </p:txBody>
      </p:sp>
      <p:sp>
        <p:nvSpPr>
          <p:cNvPr id="3" name="Text 1"/>
          <p:cNvSpPr/>
          <p:nvPr/>
        </p:nvSpPr>
        <p:spPr>
          <a:xfrm>
            <a:off x="798552" y="1953935"/>
            <a:ext cx="456248" cy="285155"/>
          </a:xfrm>
          <a:prstGeom prst="rect">
            <a:avLst/>
          </a:prstGeom>
          <a:noFill/>
          <a:ln/>
        </p:spPr>
        <p:txBody>
          <a:bodyPr wrap="none" lIns="0" tIns="0" rIns="0" bIns="0" rtlCol="0" anchor="t"/>
          <a:lstStyle/>
          <a:p>
            <a:pPr marL="0" indent="0" algn="l">
              <a:lnSpc>
                <a:spcPts val="2800"/>
              </a:lnSpc>
              <a:buNone/>
            </a:pPr>
            <a:r>
              <a:rPr lang="en-US" sz="1750" dirty="0">
                <a:solidFill>
                  <a:srgbClr val="FFFFFF"/>
                </a:solidFill>
                <a:latin typeface="Nunito Light" pitchFamily="34" charset="0"/>
                <a:ea typeface="Nunito Light" pitchFamily="34" charset="-122"/>
                <a:cs typeface="Nunito Light" pitchFamily="34" charset="-120"/>
              </a:rPr>
              <a:t>01</a:t>
            </a:r>
            <a:endParaRPr lang="en-US" sz="1750" dirty="0"/>
          </a:p>
        </p:txBody>
      </p:sp>
      <p:sp>
        <p:nvSpPr>
          <p:cNvPr id="4" name="Shape 2"/>
          <p:cNvSpPr/>
          <p:nvPr/>
        </p:nvSpPr>
        <p:spPr>
          <a:xfrm>
            <a:off x="798552" y="2311241"/>
            <a:ext cx="4199453" cy="30480"/>
          </a:xfrm>
          <a:prstGeom prst="rect">
            <a:avLst/>
          </a:prstGeom>
          <a:solidFill>
            <a:srgbClr val="F2B42D"/>
          </a:solidFill>
          <a:ln/>
        </p:spPr>
        <p:txBody>
          <a:bodyPr/>
          <a:lstStyle/>
          <a:p>
            <a:endParaRPr lang="es-ES"/>
          </a:p>
        </p:txBody>
      </p:sp>
      <p:sp>
        <p:nvSpPr>
          <p:cNvPr id="5" name="Text 3"/>
          <p:cNvSpPr/>
          <p:nvPr/>
        </p:nvSpPr>
        <p:spPr>
          <a:xfrm>
            <a:off x="849351" y="2486263"/>
            <a:ext cx="2684145" cy="335399"/>
          </a:xfrm>
          <a:prstGeom prst="rect">
            <a:avLst/>
          </a:prstGeom>
          <a:noFill/>
          <a:ln/>
        </p:spPr>
        <p:txBody>
          <a:bodyPr wrap="none" lIns="0" tIns="0" rIns="0" bIns="0" rtlCol="0" anchor="t"/>
          <a:lstStyle/>
          <a:p>
            <a:pPr marL="0" indent="0" algn="l">
              <a:lnSpc>
                <a:spcPts val="2600"/>
              </a:lnSpc>
              <a:buNone/>
            </a:pPr>
            <a:r>
              <a:rPr lang="en-US" sz="2100" dirty="0" err="1">
                <a:solidFill>
                  <a:srgbClr val="FFFFFF"/>
                </a:solidFill>
                <a:latin typeface="Nunito Semi Bold" pitchFamily="34" charset="0"/>
                <a:ea typeface="Nunito Semi Bold" pitchFamily="34" charset="-122"/>
                <a:cs typeface="Nunito Semi Bold" pitchFamily="34" charset="-120"/>
              </a:rPr>
              <a:t>Presupuesto</a:t>
            </a:r>
            <a:r>
              <a:rPr lang="en-US" sz="2100" dirty="0">
                <a:solidFill>
                  <a:srgbClr val="FFFFFF"/>
                </a:solidFill>
                <a:latin typeface="Nunito Semi Bold" pitchFamily="34" charset="0"/>
                <a:ea typeface="Nunito Semi Bold" pitchFamily="34" charset="-122"/>
                <a:cs typeface="Nunito Semi Bold" pitchFamily="34" charset="-120"/>
              </a:rPr>
              <a:t> no es </a:t>
            </a:r>
            <a:r>
              <a:rPr lang="en-US" sz="2100" dirty="0" err="1">
                <a:solidFill>
                  <a:srgbClr val="FFFFFF"/>
                </a:solidFill>
                <a:latin typeface="Nunito Semi Bold" pitchFamily="34" charset="0"/>
                <a:ea typeface="Nunito Semi Bold" pitchFamily="34" charset="-122"/>
                <a:cs typeface="Nunito Semi Bold" pitchFamily="34" charset="-120"/>
              </a:rPr>
              <a:t>todo</a:t>
            </a:r>
            <a:endParaRPr lang="en-US" sz="2100" dirty="0"/>
          </a:p>
        </p:txBody>
      </p:sp>
      <p:sp>
        <p:nvSpPr>
          <p:cNvPr id="6" name="Text 4"/>
          <p:cNvSpPr/>
          <p:nvPr/>
        </p:nvSpPr>
        <p:spPr>
          <a:xfrm>
            <a:off x="798552" y="2952036"/>
            <a:ext cx="4199453" cy="712708"/>
          </a:xfrm>
          <a:prstGeom prst="rect">
            <a:avLst/>
          </a:prstGeom>
          <a:noFill/>
          <a:ln/>
        </p:spPr>
        <p:txBody>
          <a:bodyPr wrap="square" lIns="0" tIns="0" rIns="0" bIns="0" rtlCol="0" anchor="t"/>
          <a:lstStyle/>
          <a:p>
            <a:pPr marL="0" indent="0" algn="l">
              <a:lnSpc>
                <a:spcPts val="2800"/>
              </a:lnSpc>
              <a:buNone/>
            </a:pPr>
            <a:r>
              <a:rPr lang="en-US" sz="1750" dirty="0">
                <a:solidFill>
                  <a:srgbClr val="FFFFFF"/>
                </a:solidFill>
                <a:latin typeface="PT Sans" pitchFamily="34" charset="0"/>
                <a:ea typeface="PT Sans" pitchFamily="34" charset="-122"/>
                <a:cs typeface="PT Sans" pitchFamily="34" charset="-120"/>
              </a:rPr>
              <a:t>No </a:t>
            </a:r>
            <a:r>
              <a:rPr lang="en-US" sz="1750" dirty="0" err="1">
                <a:solidFill>
                  <a:srgbClr val="FFFFFF"/>
                </a:solidFill>
                <a:latin typeface="PT Sans" pitchFamily="34" charset="0"/>
                <a:ea typeface="PT Sans" pitchFamily="34" charset="-122"/>
                <a:cs typeface="PT Sans" pitchFamily="34" charset="-120"/>
              </a:rPr>
              <a:t>garantiza</a:t>
            </a:r>
            <a:r>
              <a:rPr lang="en-US" sz="1750" dirty="0">
                <a:solidFill>
                  <a:srgbClr val="FFFFFF"/>
                </a:solidFill>
                <a:latin typeface="PT Sans" pitchFamily="34" charset="0"/>
                <a:ea typeface="PT Sans" pitchFamily="34" charset="-122"/>
                <a:cs typeface="PT Sans" pitchFamily="34" charset="-120"/>
              </a:rPr>
              <a:t> </a:t>
            </a:r>
            <a:r>
              <a:rPr lang="en-US" sz="1750" dirty="0" err="1">
                <a:solidFill>
                  <a:srgbClr val="FFFFFF"/>
                </a:solidFill>
                <a:latin typeface="PT Sans" pitchFamily="34" charset="0"/>
                <a:ea typeface="PT Sans" pitchFamily="34" charset="-122"/>
                <a:cs typeface="PT Sans" pitchFamily="34" charset="-120"/>
              </a:rPr>
              <a:t>éxito</a:t>
            </a:r>
            <a:r>
              <a:rPr lang="en-US" sz="1750" dirty="0">
                <a:solidFill>
                  <a:srgbClr val="FFFFFF"/>
                </a:solidFill>
                <a:latin typeface="PT Sans" pitchFamily="34" charset="0"/>
                <a:ea typeface="PT Sans" pitchFamily="34" charset="-122"/>
                <a:cs typeface="PT Sans" pitchFamily="34" charset="-120"/>
              </a:rPr>
              <a:t> </a:t>
            </a:r>
            <a:r>
              <a:rPr lang="en-US" sz="1750" dirty="0" err="1">
                <a:solidFill>
                  <a:srgbClr val="FFFFFF"/>
                </a:solidFill>
                <a:latin typeface="PT Sans" pitchFamily="34" charset="0"/>
                <a:ea typeface="PT Sans" pitchFamily="34" charset="-122"/>
                <a:cs typeface="PT Sans" pitchFamily="34" charset="-120"/>
              </a:rPr>
              <a:t>pero</a:t>
            </a:r>
            <a:r>
              <a:rPr lang="en-US" sz="1750" dirty="0">
                <a:solidFill>
                  <a:srgbClr val="FFFFFF"/>
                </a:solidFill>
                <a:latin typeface="PT Sans" pitchFamily="34" charset="0"/>
                <a:ea typeface="PT Sans" pitchFamily="34" charset="-122"/>
                <a:cs typeface="PT Sans" pitchFamily="34" charset="-120"/>
              </a:rPr>
              <a:t> </a:t>
            </a:r>
            <a:r>
              <a:rPr lang="en-US" sz="1750" dirty="0" err="1">
                <a:solidFill>
                  <a:srgbClr val="FFFFFF"/>
                </a:solidFill>
                <a:latin typeface="PT Sans" pitchFamily="34" charset="0"/>
                <a:ea typeface="PT Sans" pitchFamily="34" charset="-122"/>
                <a:cs typeface="PT Sans" pitchFamily="34" charset="-120"/>
              </a:rPr>
              <a:t>ayuda</a:t>
            </a:r>
            <a:endParaRPr lang="en-US" sz="1750" dirty="0"/>
          </a:p>
        </p:txBody>
      </p:sp>
      <p:sp>
        <p:nvSpPr>
          <p:cNvPr id="7" name="Text 5"/>
          <p:cNvSpPr/>
          <p:nvPr/>
        </p:nvSpPr>
        <p:spPr>
          <a:xfrm>
            <a:off x="5215414" y="1953935"/>
            <a:ext cx="456248" cy="285155"/>
          </a:xfrm>
          <a:prstGeom prst="rect">
            <a:avLst/>
          </a:prstGeom>
          <a:noFill/>
          <a:ln/>
        </p:spPr>
        <p:txBody>
          <a:bodyPr wrap="none" lIns="0" tIns="0" rIns="0" bIns="0" rtlCol="0" anchor="t"/>
          <a:lstStyle/>
          <a:p>
            <a:pPr marL="0" indent="0" algn="l">
              <a:lnSpc>
                <a:spcPts val="2800"/>
              </a:lnSpc>
              <a:buNone/>
            </a:pPr>
            <a:r>
              <a:rPr lang="en-US" sz="1750" dirty="0">
                <a:solidFill>
                  <a:srgbClr val="FFFFFF"/>
                </a:solidFill>
                <a:latin typeface="Nunito Light" pitchFamily="34" charset="0"/>
                <a:ea typeface="Nunito Light" pitchFamily="34" charset="-122"/>
                <a:cs typeface="Nunito Light" pitchFamily="34" charset="-120"/>
              </a:rPr>
              <a:t>02</a:t>
            </a:r>
            <a:endParaRPr lang="en-US" sz="1750" dirty="0"/>
          </a:p>
        </p:txBody>
      </p:sp>
      <p:sp>
        <p:nvSpPr>
          <p:cNvPr id="8" name="Shape 6"/>
          <p:cNvSpPr/>
          <p:nvPr/>
        </p:nvSpPr>
        <p:spPr>
          <a:xfrm>
            <a:off x="5215414" y="2311241"/>
            <a:ext cx="4199453" cy="30480"/>
          </a:xfrm>
          <a:prstGeom prst="rect">
            <a:avLst/>
          </a:prstGeom>
          <a:solidFill>
            <a:srgbClr val="D7425E"/>
          </a:solidFill>
          <a:ln/>
        </p:spPr>
        <p:txBody>
          <a:bodyPr/>
          <a:lstStyle/>
          <a:p>
            <a:endParaRPr lang="es-ES"/>
          </a:p>
        </p:txBody>
      </p:sp>
      <p:sp>
        <p:nvSpPr>
          <p:cNvPr id="9" name="Text 7"/>
          <p:cNvSpPr/>
          <p:nvPr/>
        </p:nvSpPr>
        <p:spPr>
          <a:xfrm>
            <a:off x="5215414" y="2486263"/>
            <a:ext cx="3252907" cy="335399"/>
          </a:xfrm>
          <a:prstGeom prst="rect">
            <a:avLst/>
          </a:prstGeom>
          <a:noFill/>
          <a:ln/>
        </p:spPr>
        <p:txBody>
          <a:bodyPr wrap="none" lIns="0" tIns="0" rIns="0" bIns="0" rtlCol="0" anchor="t"/>
          <a:lstStyle/>
          <a:p>
            <a:pPr marL="0" indent="0" algn="l">
              <a:lnSpc>
                <a:spcPts val="2600"/>
              </a:lnSpc>
              <a:buNone/>
            </a:pPr>
            <a:r>
              <a:rPr lang="en-US" sz="2100" dirty="0">
                <a:solidFill>
                  <a:srgbClr val="FFFFFF"/>
                </a:solidFill>
                <a:latin typeface="Nunito Semi Bold" pitchFamily="34" charset="0"/>
                <a:ea typeface="Nunito Semi Bold" pitchFamily="34" charset="-122"/>
                <a:cs typeface="Nunito Semi Bold" pitchFamily="34" charset="-120"/>
              </a:rPr>
              <a:t>El </a:t>
            </a:r>
            <a:r>
              <a:rPr lang="en-US" sz="2100" dirty="0" err="1">
                <a:solidFill>
                  <a:srgbClr val="FFFFFF"/>
                </a:solidFill>
                <a:latin typeface="Nunito Semi Bold" pitchFamily="34" charset="0"/>
                <a:ea typeface="Nunito Semi Bold" pitchFamily="34" charset="-122"/>
                <a:cs typeface="Nunito Semi Bold" pitchFamily="34" charset="-120"/>
              </a:rPr>
              <a:t>género</a:t>
            </a:r>
            <a:r>
              <a:rPr lang="en-US" sz="2100" dirty="0">
                <a:solidFill>
                  <a:srgbClr val="FFFFFF"/>
                </a:solidFill>
                <a:latin typeface="Nunito Semi Bold" pitchFamily="34" charset="0"/>
                <a:ea typeface="Nunito Semi Bold" pitchFamily="34" charset="-122"/>
                <a:cs typeface="Nunito Semi Bold" pitchFamily="34" charset="-120"/>
              </a:rPr>
              <a:t> </a:t>
            </a:r>
            <a:r>
              <a:rPr lang="en-US" sz="2100" dirty="0" err="1">
                <a:solidFill>
                  <a:srgbClr val="FFFFFF"/>
                </a:solidFill>
                <a:latin typeface="Nunito Semi Bold" pitchFamily="34" charset="0"/>
                <a:ea typeface="Nunito Semi Bold" pitchFamily="34" charset="-122"/>
                <a:cs typeface="Nunito Semi Bold" pitchFamily="34" charset="-120"/>
              </a:rPr>
              <a:t>importa</a:t>
            </a:r>
            <a:r>
              <a:rPr lang="en-US" sz="2100" dirty="0">
                <a:solidFill>
                  <a:srgbClr val="FFFFFF"/>
                </a:solidFill>
                <a:latin typeface="Nunito Semi Bold" pitchFamily="34" charset="0"/>
                <a:ea typeface="Nunito Semi Bold" pitchFamily="34" charset="-122"/>
                <a:cs typeface="Nunito Semi Bold" pitchFamily="34" charset="-120"/>
              </a:rPr>
              <a:t> en </a:t>
            </a:r>
            <a:r>
              <a:rPr lang="en-US" sz="2100" dirty="0" err="1">
                <a:solidFill>
                  <a:srgbClr val="FFFFFF"/>
                </a:solidFill>
                <a:latin typeface="Nunito Semi Bold" pitchFamily="34" charset="0"/>
                <a:ea typeface="Nunito Semi Bold" pitchFamily="34" charset="-122"/>
                <a:cs typeface="Nunito Semi Bold" pitchFamily="34" charset="-120"/>
              </a:rPr>
              <a:t>los</a:t>
            </a:r>
            <a:r>
              <a:rPr lang="en-US" sz="2100" dirty="0">
                <a:solidFill>
                  <a:srgbClr val="FFFFFF"/>
                </a:solidFill>
                <a:latin typeface="Nunito Semi Bold" pitchFamily="34" charset="0"/>
                <a:ea typeface="Nunito Semi Bold" pitchFamily="34" charset="-122"/>
                <a:cs typeface="Nunito Semi Bold" pitchFamily="34" charset="-120"/>
              </a:rPr>
              <a:t> </a:t>
            </a:r>
            <a:r>
              <a:rPr lang="en-US" sz="2100" dirty="0" err="1">
                <a:solidFill>
                  <a:srgbClr val="FFFFFF"/>
                </a:solidFill>
                <a:latin typeface="Nunito Semi Bold" pitchFamily="34" charset="0"/>
                <a:ea typeface="Nunito Semi Bold" pitchFamily="34" charset="-122"/>
                <a:cs typeface="Nunito Semi Bold" pitchFamily="34" charset="-120"/>
              </a:rPr>
              <a:t>premios</a:t>
            </a:r>
            <a:endParaRPr lang="en-US" sz="2100" dirty="0"/>
          </a:p>
        </p:txBody>
      </p:sp>
      <p:sp>
        <p:nvSpPr>
          <p:cNvPr id="10" name="Text 8"/>
          <p:cNvSpPr/>
          <p:nvPr/>
        </p:nvSpPr>
        <p:spPr>
          <a:xfrm>
            <a:off x="5215414" y="2952036"/>
            <a:ext cx="4199453" cy="712708"/>
          </a:xfrm>
          <a:prstGeom prst="rect">
            <a:avLst/>
          </a:prstGeom>
          <a:noFill/>
          <a:ln/>
        </p:spPr>
        <p:txBody>
          <a:bodyPr wrap="square" lIns="0" tIns="0" rIns="0" bIns="0" rtlCol="0" anchor="t"/>
          <a:lstStyle/>
          <a:p>
            <a:pPr marL="0" indent="0" algn="l">
              <a:lnSpc>
                <a:spcPts val="2800"/>
              </a:lnSpc>
              <a:buNone/>
            </a:pPr>
            <a:r>
              <a:rPr lang="en-US" sz="1750" dirty="0">
                <a:solidFill>
                  <a:srgbClr val="FFFFFF"/>
                </a:solidFill>
                <a:latin typeface="PT Sans" pitchFamily="34" charset="0"/>
              </a:rPr>
              <a:t>No </a:t>
            </a:r>
            <a:r>
              <a:rPr lang="en-US" sz="1750" dirty="0" err="1">
                <a:solidFill>
                  <a:srgbClr val="FFFFFF"/>
                </a:solidFill>
                <a:latin typeface="PT Sans" pitchFamily="34" charset="0"/>
              </a:rPr>
              <a:t>hagas</a:t>
            </a:r>
            <a:r>
              <a:rPr lang="en-US" sz="1750" dirty="0">
                <a:solidFill>
                  <a:srgbClr val="FFFFFF"/>
                </a:solidFill>
                <a:latin typeface="PT Sans" pitchFamily="34" charset="0"/>
              </a:rPr>
              <a:t> </a:t>
            </a:r>
            <a:r>
              <a:rPr lang="en-US" sz="1750" dirty="0" err="1">
                <a:solidFill>
                  <a:srgbClr val="FFFFFF"/>
                </a:solidFill>
                <a:latin typeface="PT Sans" pitchFamily="34" charset="0"/>
              </a:rPr>
              <a:t>una</a:t>
            </a:r>
            <a:r>
              <a:rPr lang="en-US" sz="1750" dirty="0">
                <a:solidFill>
                  <a:srgbClr val="FFFFFF"/>
                </a:solidFill>
                <a:latin typeface="PT Sans" pitchFamily="34" charset="0"/>
              </a:rPr>
              <a:t> </a:t>
            </a:r>
            <a:r>
              <a:rPr lang="en-US" sz="1750" dirty="0" err="1">
                <a:solidFill>
                  <a:srgbClr val="FFFFFF"/>
                </a:solidFill>
                <a:latin typeface="PT Sans" pitchFamily="34" charset="0"/>
              </a:rPr>
              <a:t>peli</a:t>
            </a:r>
            <a:r>
              <a:rPr lang="en-US" sz="1750" dirty="0">
                <a:solidFill>
                  <a:srgbClr val="FFFFFF"/>
                </a:solidFill>
                <a:latin typeface="PT Sans" pitchFamily="34" charset="0"/>
              </a:rPr>
              <a:t> de terror </a:t>
            </a:r>
            <a:r>
              <a:rPr lang="en-US" sz="1750" dirty="0" err="1">
                <a:solidFill>
                  <a:srgbClr val="FFFFFF"/>
                </a:solidFill>
                <a:latin typeface="PT Sans" pitchFamily="34" charset="0"/>
              </a:rPr>
              <a:t>si</a:t>
            </a:r>
            <a:r>
              <a:rPr lang="en-US" sz="1750" dirty="0">
                <a:solidFill>
                  <a:srgbClr val="FFFFFF"/>
                </a:solidFill>
                <a:latin typeface="PT Sans" pitchFamily="34" charset="0"/>
              </a:rPr>
              <a:t> </a:t>
            </a:r>
            <a:r>
              <a:rPr lang="en-US" sz="1750" dirty="0" err="1">
                <a:solidFill>
                  <a:srgbClr val="FFFFFF"/>
                </a:solidFill>
                <a:latin typeface="PT Sans" pitchFamily="34" charset="0"/>
              </a:rPr>
              <a:t>quieres</a:t>
            </a:r>
            <a:r>
              <a:rPr lang="en-US" sz="1750" dirty="0">
                <a:solidFill>
                  <a:srgbClr val="FFFFFF"/>
                </a:solidFill>
                <a:latin typeface="PT Sans" pitchFamily="34" charset="0"/>
              </a:rPr>
              <a:t> un Oscar. Haz drama</a:t>
            </a:r>
            <a:endParaRPr lang="en-US" sz="1750" dirty="0"/>
          </a:p>
        </p:txBody>
      </p:sp>
      <p:sp>
        <p:nvSpPr>
          <p:cNvPr id="11" name="Text 9"/>
          <p:cNvSpPr/>
          <p:nvPr/>
        </p:nvSpPr>
        <p:spPr>
          <a:xfrm>
            <a:off x="9632275" y="1953935"/>
            <a:ext cx="456248" cy="285155"/>
          </a:xfrm>
          <a:prstGeom prst="rect">
            <a:avLst/>
          </a:prstGeom>
          <a:noFill/>
          <a:ln/>
        </p:spPr>
        <p:txBody>
          <a:bodyPr wrap="none" lIns="0" tIns="0" rIns="0" bIns="0" rtlCol="0" anchor="t"/>
          <a:lstStyle/>
          <a:p>
            <a:pPr marL="0" indent="0" algn="l">
              <a:lnSpc>
                <a:spcPts val="2800"/>
              </a:lnSpc>
              <a:buNone/>
            </a:pPr>
            <a:r>
              <a:rPr lang="en-US" sz="1750" dirty="0">
                <a:solidFill>
                  <a:srgbClr val="FFFFFF"/>
                </a:solidFill>
                <a:latin typeface="Nunito Light" pitchFamily="34" charset="0"/>
                <a:ea typeface="Nunito Light" pitchFamily="34" charset="-122"/>
                <a:cs typeface="Nunito Light" pitchFamily="34" charset="-120"/>
              </a:rPr>
              <a:t>03</a:t>
            </a:r>
            <a:endParaRPr lang="en-US" sz="1750" dirty="0"/>
          </a:p>
        </p:txBody>
      </p:sp>
      <p:sp>
        <p:nvSpPr>
          <p:cNvPr id="12" name="Shape 10"/>
          <p:cNvSpPr/>
          <p:nvPr/>
        </p:nvSpPr>
        <p:spPr>
          <a:xfrm>
            <a:off x="9632275" y="2311241"/>
            <a:ext cx="4199453" cy="30480"/>
          </a:xfrm>
          <a:prstGeom prst="rect">
            <a:avLst/>
          </a:prstGeom>
          <a:solidFill>
            <a:srgbClr val="DD785E"/>
          </a:solidFill>
          <a:ln/>
        </p:spPr>
        <p:txBody>
          <a:bodyPr/>
          <a:lstStyle/>
          <a:p>
            <a:endParaRPr lang="es-ES"/>
          </a:p>
        </p:txBody>
      </p:sp>
      <p:sp>
        <p:nvSpPr>
          <p:cNvPr id="13" name="Text 11"/>
          <p:cNvSpPr/>
          <p:nvPr/>
        </p:nvSpPr>
        <p:spPr>
          <a:xfrm>
            <a:off x="9632275" y="2486263"/>
            <a:ext cx="3481268" cy="335399"/>
          </a:xfrm>
          <a:prstGeom prst="rect">
            <a:avLst/>
          </a:prstGeom>
          <a:noFill/>
          <a:ln/>
        </p:spPr>
        <p:txBody>
          <a:bodyPr wrap="none" lIns="0" tIns="0" rIns="0" bIns="0" rtlCol="0" anchor="t"/>
          <a:lstStyle/>
          <a:p>
            <a:pPr marL="0" indent="0" algn="l">
              <a:lnSpc>
                <a:spcPts val="2600"/>
              </a:lnSpc>
              <a:buNone/>
            </a:pPr>
            <a:r>
              <a:rPr lang="en-US" sz="2100" dirty="0" err="1">
                <a:solidFill>
                  <a:srgbClr val="FFFFFF"/>
                </a:solidFill>
                <a:latin typeface="Nunito Semi Bold" pitchFamily="34" charset="0"/>
                <a:ea typeface="Nunito Semi Bold" pitchFamily="34" charset="-122"/>
                <a:cs typeface="Nunito Semi Bold" pitchFamily="34" charset="-120"/>
              </a:rPr>
              <a:t>Premios</a:t>
            </a:r>
            <a:r>
              <a:rPr lang="en-US" sz="2100" dirty="0">
                <a:solidFill>
                  <a:srgbClr val="FFFFFF"/>
                </a:solidFill>
                <a:latin typeface="Nunito Semi Bold" pitchFamily="34" charset="0"/>
                <a:ea typeface="Nunito Semi Bold" pitchFamily="34" charset="-122"/>
                <a:cs typeface="Nunito Semi Bold" pitchFamily="34" charset="-120"/>
              </a:rPr>
              <a:t> y </a:t>
            </a:r>
            <a:r>
              <a:rPr lang="en-US" sz="2100" dirty="0" err="1">
                <a:solidFill>
                  <a:srgbClr val="FFFFFF"/>
                </a:solidFill>
                <a:latin typeface="Nunito Semi Bold" pitchFamily="34" charset="0"/>
                <a:ea typeface="Nunito Semi Bold" pitchFamily="34" charset="-122"/>
                <a:cs typeface="Nunito Semi Bold" pitchFamily="34" charset="-120"/>
              </a:rPr>
              <a:t>crítica</a:t>
            </a:r>
            <a:r>
              <a:rPr lang="en-US" sz="2100" dirty="0">
                <a:solidFill>
                  <a:srgbClr val="FFFFFF"/>
                </a:solidFill>
                <a:latin typeface="Nunito Semi Bold" pitchFamily="34" charset="0"/>
                <a:ea typeface="Nunito Semi Bold" pitchFamily="34" charset="-122"/>
                <a:cs typeface="Nunito Semi Bold" pitchFamily="34" charset="-120"/>
              </a:rPr>
              <a:t> </a:t>
            </a:r>
            <a:r>
              <a:rPr lang="en-US" sz="2100" dirty="0" err="1">
                <a:solidFill>
                  <a:srgbClr val="FFFFFF"/>
                </a:solidFill>
                <a:latin typeface="Nunito Semi Bold" pitchFamily="34" charset="0"/>
                <a:ea typeface="Nunito Semi Bold" pitchFamily="34" charset="-122"/>
                <a:cs typeface="Nunito Semi Bold" pitchFamily="34" charset="-120"/>
              </a:rPr>
              <a:t>concuerdan</a:t>
            </a:r>
            <a:endParaRPr lang="en-US" sz="2100" dirty="0"/>
          </a:p>
        </p:txBody>
      </p:sp>
      <p:sp>
        <p:nvSpPr>
          <p:cNvPr id="14" name="Text 12"/>
          <p:cNvSpPr/>
          <p:nvPr/>
        </p:nvSpPr>
        <p:spPr>
          <a:xfrm>
            <a:off x="9632275" y="2952036"/>
            <a:ext cx="4199453" cy="712708"/>
          </a:xfrm>
          <a:prstGeom prst="rect">
            <a:avLst/>
          </a:prstGeom>
          <a:noFill/>
          <a:ln/>
        </p:spPr>
        <p:txBody>
          <a:bodyPr wrap="square" lIns="0" tIns="0" rIns="0" bIns="0" rtlCol="0" anchor="t"/>
          <a:lstStyle/>
          <a:p>
            <a:pPr marL="0" indent="0" algn="l">
              <a:lnSpc>
                <a:spcPts val="2800"/>
              </a:lnSpc>
              <a:buNone/>
            </a:pPr>
            <a:r>
              <a:rPr lang="en-US" sz="1750" dirty="0">
                <a:solidFill>
                  <a:srgbClr val="FFFFFF"/>
                </a:solidFill>
                <a:latin typeface="PT Sans" pitchFamily="34" charset="0"/>
              </a:rPr>
              <a:t>El </a:t>
            </a:r>
            <a:r>
              <a:rPr lang="en-US" sz="1750" dirty="0" err="1">
                <a:solidFill>
                  <a:srgbClr val="FFFFFF"/>
                </a:solidFill>
                <a:latin typeface="PT Sans" pitchFamily="34" charset="0"/>
              </a:rPr>
              <a:t>público</a:t>
            </a:r>
            <a:r>
              <a:rPr lang="en-US" sz="1750" dirty="0">
                <a:solidFill>
                  <a:srgbClr val="FFFFFF"/>
                </a:solidFill>
                <a:latin typeface="PT Sans" pitchFamily="34" charset="0"/>
              </a:rPr>
              <a:t>, la </a:t>
            </a:r>
            <a:r>
              <a:rPr lang="en-US" sz="1750" dirty="0" err="1">
                <a:solidFill>
                  <a:srgbClr val="FFFFFF"/>
                </a:solidFill>
                <a:latin typeface="PT Sans" pitchFamily="34" charset="0"/>
              </a:rPr>
              <a:t>crítica</a:t>
            </a:r>
            <a:r>
              <a:rPr lang="en-US" sz="1750" dirty="0">
                <a:solidFill>
                  <a:srgbClr val="FFFFFF"/>
                </a:solidFill>
                <a:latin typeface="PT Sans" pitchFamily="34" charset="0"/>
              </a:rPr>
              <a:t> y </a:t>
            </a:r>
            <a:r>
              <a:rPr lang="en-US" sz="1750" dirty="0" err="1">
                <a:solidFill>
                  <a:srgbClr val="FFFFFF"/>
                </a:solidFill>
                <a:latin typeface="PT Sans" pitchFamily="34" charset="0"/>
              </a:rPr>
              <a:t>los</a:t>
            </a:r>
            <a:r>
              <a:rPr lang="en-US" sz="1750" dirty="0">
                <a:solidFill>
                  <a:srgbClr val="FFFFFF"/>
                </a:solidFill>
                <a:latin typeface="PT Sans" pitchFamily="34" charset="0"/>
              </a:rPr>
              <a:t> </a:t>
            </a:r>
            <a:r>
              <a:rPr lang="en-US" sz="1750" dirty="0" err="1">
                <a:solidFill>
                  <a:srgbClr val="FFFFFF"/>
                </a:solidFill>
                <a:latin typeface="PT Sans" pitchFamily="34" charset="0"/>
              </a:rPr>
              <a:t>académicos</a:t>
            </a:r>
            <a:r>
              <a:rPr lang="en-US" sz="1750" dirty="0">
                <a:solidFill>
                  <a:srgbClr val="FFFFFF"/>
                </a:solidFill>
                <a:latin typeface="PT Sans" pitchFamily="34" charset="0"/>
              </a:rPr>
              <a:t> </a:t>
            </a:r>
            <a:r>
              <a:rPr lang="en-US" sz="1750" dirty="0" err="1">
                <a:solidFill>
                  <a:srgbClr val="FFFFFF"/>
                </a:solidFill>
                <a:latin typeface="PT Sans" pitchFamily="34" charset="0"/>
              </a:rPr>
              <a:t>coinciden</a:t>
            </a:r>
            <a:r>
              <a:rPr lang="en-US" sz="1750" dirty="0">
                <a:solidFill>
                  <a:srgbClr val="FFFFFF"/>
                </a:solidFill>
                <a:latin typeface="PT Sans" pitchFamily="34" charset="0"/>
              </a:rPr>
              <a:t> en </a:t>
            </a:r>
            <a:r>
              <a:rPr lang="en-US" sz="1750" dirty="0" err="1">
                <a:solidFill>
                  <a:srgbClr val="FFFFFF"/>
                </a:solidFill>
                <a:latin typeface="PT Sans" pitchFamily="34" charset="0"/>
              </a:rPr>
              <a:t>gustos</a:t>
            </a:r>
            <a:endParaRPr lang="en-US" sz="1750" dirty="0"/>
          </a:p>
        </p:txBody>
      </p:sp>
      <p:sp>
        <p:nvSpPr>
          <p:cNvPr id="15" name="Text 13"/>
          <p:cNvSpPr/>
          <p:nvPr/>
        </p:nvSpPr>
        <p:spPr>
          <a:xfrm>
            <a:off x="798552" y="4053245"/>
            <a:ext cx="456248" cy="285155"/>
          </a:xfrm>
          <a:prstGeom prst="rect">
            <a:avLst/>
          </a:prstGeom>
          <a:noFill/>
          <a:ln/>
        </p:spPr>
        <p:txBody>
          <a:bodyPr wrap="none" lIns="0" tIns="0" rIns="0" bIns="0" rtlCol="0" anchor="t"/>
          <a:lstStyle/>
          <a:p>
            <a:pPr marL="0" indent="0" algn="l">
              <a:lnSpc>
                <a:spcPts val="2800"/>
              </a:lnSpc>
              <a:buNone/>
            </a:pPr>
            <a:r>
              <a:rPr lang="en-US" sz="1750" dirty="0">
                <a:solidFill>
                  <a:srgbClr val="FFFFFF"/>
                </a:solidFill>
                <a:latin typeface="Nunito Light" pitchFamily="34" charset="0"/>
                <a:ea typeface="Nunito Light" pitchFamily="34" charset="-122"/>
                <a:cs typeface="Nunito Light" pitchFamily="34" charset="-120"/>
              </a:rPr>
              <a:t>04</a:t>
            </a:r>
            <a:endParaRPr lang="en-US" sz="1750" dirty="0"/>
          </a:p>
        </p:txBody>
      </p:sp>
      <p:sp>
        <p:nvSpPr>
          <p:cNvPr id="16" name="Shape 14"/>
          <p:cNvSpPr/>
          <p:nvPr/>
        </p:nvSpPr>
        <p:spPr>
          <a:xfrm>
            <a:off x="798552" y="4410551"/>
            <a:ext cx="6407825" cy="30480"/>
          </a:xfrm>
          <a:prstGeom prst="rect">
            <a:avLst/>
          </a:prstGeom>
          <a:solidFill>
            <a:srgbClr val="48A8E2"/>
          </a:solidFill>
          <a:ln/>
        </p:spPr>
        <p:txBody>
          <a:bodyPr/>
          <a:lstStyle/>
          <a:p>
            <a:endParaRPr lang="es-ES"/>
          </a:p>
        </p:txBody>
      </p:sp>
      <p:sp>
        <p:nvSpPr>
          <p:cNvPr id="17" name="Text 15"/>
          <p:cNvSpPr/>
          <p:nvPr/>
        </p:nvSpPr>
        <p:spPr>
          <a:xfrm>
            <a:off x="798552" y="4585573"/>
            <a:ext cx="3127653" cy="335399"/>
          </a:xfrm>
          <a:prstGeom prst="rect">
            <a:avLst/>
          </a:prstGeom>
          <a:noFill/>
          <a:ln/>
        </p:spPr>
        <p:txBody>
          <a:bodyPr wrap="none" lIns="0" tIns="0" rIns="0" bIns="0" rtlCol="0" anchor="t"/>
          <a:lstStyle/>
          <a:p>
            <a:pPr marL="0" indent="0" algn="l">
              <a:lnSpc>
                <a:spcPts val="2600"/>
              </a:lnSpc>
              <a:buNone/>
            </a:pPr>
            <a:r>
              <a:rPr lang="en-US" sz="2100" dirty="0">
                <a:solidFill>
                  <a:srgbClr val="FFFFFF"/>
                </a:solidFill>
                <a:latin typeface="Nunito Semi Bold" pitchFamily="34" charset="0"/>
              </a:rPr>
              <a:t>Las </a:t>
            </a:r>
            <a:r>
              <a:rPr lang="en-US" sz="2100" dirty="0" err="1">
                <a:solidFill>
                  <a:srgbClr val="FFFFFF"/>
                </a:solidFill>
                <a:latin typeface="Nunito Semi Bold" pitchFamily="34" charset="0"/>
              </a:rPr>
              <a:t>triunfadoras</a:t>
            </a:r>
            <a:r>
              <a:rPr lang="en-US" sz="2100" dirty="0">
                <a:solidFill>
                  <a:srgbClr val="FFFFFF"/>
                </a:solidFill>
                <a:latin typeface="Nunito Semi Bold" pitchFamily="34" charset="0"/>
              </a:rPr>
              <a:t> </a:t>
            </a:r>
            <a:r>
              <a:rPr lang="en-US" sz="2100" dirty="0" err="1">
                <a:solidFill>
                  <a:srgbClr val="FFFFFF"/>
                </a:solidFill>
                <a:latin typeface="Nunito Semi Bold" pitchFamily="34" charset="0"/>
              </a:rPr>
              <a:t>ganan</a:t>
            </a:r>
            <a:r>
              <a:rPr lang="en-US" sz="2100" dirty="0">
                <a:solidFill>
                  <a:srgbClr val="FFFFFF"/>
                </a:solidFill>
                <a:latin typeface="Nunito Semi Bold" pitchFamily="34" charset="0"/>
              </a:rPr>
              <a:t> a </a:t>
            </a:r>
            <a:r>
              <a:rPr lang="en-US" sz="2100" dirty="0" err="1">
                <a:solidFill>
                  <a:srgbClr val="FFFFFF"/>
                </a:solidFill>
                <a:latin typeface="Nunito Semi Bold" pitchFamily="34" charset="0"/>
              </a:rPr>
              <a:t>todo</a:t>
            </a:r>
            <a:endParaRPr lang="en-US" sz="2100" dirty="0"/>
          </a:p>
        </p:txBody>
      </p:sp>
      <p:sp>
        <p:nvSpPr>
          <p:cNvPr id="18" name="Text 16"/>
          <p:cNvSpPr/>
          <p:nvPr/>
        </p:nvSpPr>
        <p:spPr>
          <a:xfrm>
            <a:off x="798552" y="5116710"/>
            <a:ext cx="6407825" cy="356354"/>
          </a:xfrm>
          <a:prstGeom prst="rect">
            <a:avLst/>
          </a:prstGeom>
          <a:noFill/>
          <a:ln/>
        </p:spPr>
        <p:txBody>
          <a:bodyPr wrap="none" lIns="0" tIns="0" rIns="0" bIns="0" rtlCol="0" anchor="t"/>
          <a:lstStyle/>
          <a:p>
            <a:pPr marL="0" indent="0" algn="l">
              <a:lnSpc>
                <a:spcPts val="2800"/>
              </a:lnSpc>
              <a:buNone/>
            </a:pPr>
            <a:endParaRPr lang="en-US" sz="1750" dirty="0"/>
          </a:p>
        </p:txBody>
      </p:sp>
      <p:sp>
        <p:nvSpPr>
          <p:cNvPr id="19" name="Text 17"/>
          <p:cNvSpPr/>
          <p:nvPr/>
        </p:nvSpPr>
        <p:spPr>
          <a:xfrm>
            <a:off x="7423785" y="4053245"/>
            <a:ext cx="456248" cy="285155"/>
          </a:xfrm>
          <a:prstGeom prst="rect">
            <a:avLst/>
          </a:prstGeom>
          <a:noFill/>
          <a:ln/>
        </p:spPr>
        <p:txBody>
          <a:bodyPr wrap="none" lIns="0" tIns="0" rIns="0" bIns="0" rtlCol="0" anchor="t"/>
          <a:lstStyle/>
          <a:p>
            <a:pPr marL="0" indent="0" algn="l">
              <a:lnSpc>
                <a:spcPts val="2800"/>
              </a:lnSpc>
              <a:buNone/>
            </a:pPr>
            <a:r>
              <a:rPr lang="en-US" sz="1750" dirty="0">
                <a:solidFill>
                  <a:srgbClr val="FFFFFF"/>
                </a:solidFill>
                <a:latin typeface="Nunito Light" pitchFamily="34" charset="0"/>
                <a:ea typeface="Nunito Light" pitchFamily="34" charset="-122"/>
                <a:cs typeface="Nunito Light" pitchFamily="34" charset="-120"/>
              </a:rPr>
              <a:t>05</a:t>
            </a:r>
            <a:endParaRPr lang="en-US" sz="1750" dirty="0"/>
          </a:p>
        </p:txBody>
      </p:sp>
      <p:sp>
        <p:nvSpPr>
          <p:cNvPr id="20" name="Shape 18"/>
          <p:cNvSpPr/>
          <p:nvPr/>
        </p:nvSpPr>
        <p:spPr>
          <a:xfrm>
            <a:off x="7423785" y="4410551"/>
            <a:ext cx="6407944" cy="30480"/>
          </a:xfrm>
          <a:prstGeom prst="rect">
            <a:avLst/>
          </a:prstGeom>
          <a:solidFill>
            <a:srgbClr val="59ABA9"/>
          </a:solidFill>
          <a:ln/>
        </p:spPr>
        <p:txBody>
          <a:bodyPr/>
          <a:lstStyle/>
          <a:p>
            <a:endParaRPr lang="es-ES"/>
          </a:p>
        </p:txBody>
      </p:sp>
      <p:sp>
        <p:nvSpPr>
          <p:cNvPr id="21" name="Text 19"/>
          <p:cNvSpPr/>
          <p:nvPr/>
        </p:nvSpPr>
        <p:spPr>
          <a:xfrm>
            <a:off x="7423785" y="4585573"/>
            <a:ext cx="3682841" cy="335399"/>
          </a:xfrm>
          <a:prstGeom prst="rect">
            <a:avLst/>
          </a:prstGeom>
          <a:noFill/>
          <a:ln/>
        </p:spPr>
        <p:txBody>
          <a:bodyPr wrap="none" lIns="0" tIns="0" rIns="0" bIns="0" rtlCol="0" anchor="t"/>
          <a:lstStyle/>
          <a:p>
            <a:pPr marL="0" indent="0" algn="l">
              <a:lnSpc>
                <a:spcPts val="2600"/>
              </a:lnSpc>
              <a:buNone/>
            </a:pPr>
            <a:r>
              <a:rPr lang="en-US" sz="2100" dirty="0" err="1">
                <a:solidFill>
                  <a:srgbClr val="FFFFFF"/>
                </a:solidFill>
                <a:latin typeface="Nunito Semi Bold" pitchFamily="34" charset="0"/>
                <a:ea typeface="Nunito Semi Bold" pitchFamily="34" charset="-122"/>
                <a:cs typeface="Nunito Semi Bold" pitchFamily="34" charset="-120"/>
              </a:rPr>
              <a:t>Éxito</a:t>
            </a:r>
            <a:r>
              <a:rPr lang="en-US" sz="2100" dirty="0">
                <a:solidFill>
                  <a:srgbClr val="FFFFFF"/>
                </a:solidFill>
                <a:latin typeface="Nunito Semi Bold" pitchFamily="34" charset="0"/>
                <a:ea typeface="Nunito Semi Bold" pitchFamily="34" charset="-122"/>
                <a:cs typeface="Nunito Semi Bold" pitchFamily="34" charset="-120"/>
              </a:rPr>
              <a:t> y </a:t>
            </a:r>
            <a:r>
              <a:rPr lang="en-US" sz="2100" dirty="0" err="1">
                <a:solidFill>
                  <a:srgbClr val="FFFFFF"/>
                </a:solidFill>
                <a:latin typeface="Nunito Semi Bold" pitchFamily="34" charset="0"/>
                <a:ea typeface="Nunito Semi Bold" pitchFamily="34" charset="-122"/>
                <a:cs typeface="Nunito Semi Bold" pitchFamily="34" charset="-120"/>
              </a:rPr>
              <a:t>brecha</a:t>
            </a:r>
            <a:r>
              <a:rPr lang="en-US" sz="2100" dirty="0">
                <a:solidFill>
                  <a:srgbClr val="FFFFFF"/>
                </a:solidFill>
                <a:latin typeface="Nunito Semi Bold" pitchFamily="34" charset="0"/>
                <a:ea typeface="Nunito Semi Bold" pitchFamily="34" charset="-122"/>
                <a:cs typeface="Nunito Semi Bold" pitchFamily="34" charset="-120"/>
              </a:rPr>
              <a:t> de </a:t>
            </a:r>
            <a:r>
              <a:rPr lang="en-US" sz="2100" dirty="0" err="1">
                <a:solidFill>
                  <a:srgbClr val="FFFFFF"/>
                </a:solidFill>
                <a:latin typeface="Nunito Semi Bold" pitchFamily="34" charset="0"/>
                <a:ea typeface="Nunito Semi Bold" pitchFamily="34" charset="-122"/>
                <a:cs typeface="Nunito Semi Bold" pitchFamily="34" charset="-120"/>
              </a:rPr>
              <a:t>género</a:t>
            </a:r>
            <a:endParaRPr lang="en-US" sz="2100" dirty="0"/>
          </a:p>
        </p:txBody>
      </p:sp>
      <p:sp>
        <p:nvSpPr>
          <p:cNvPr id="22" name="Text 20"/>
          <p:cNvSpPr/>
          <p:nvPr/>
        </p:nvSpPr>
        <p:spPr>
          <a:xfrm>
            <a:off x="7423785" y="5051346"/>
            <a:ext cx="6407944" cy="712708"/>
          </a:xfrm>
          <a:prstGeom prst="rect">
            <a:avLst/>
          </a:prstGeom>
          <a:noFill/>
          <a:ln/>
        </p:spPr>
        <p:txBody>
          <a:bodyPr wrap="square" lIns="0" tIns="0" rIns="0" bIns="0" rtlCol="0" anchor="t"/>
          <a:lstStyle/>
          <a:p>
            <a:pPr marL="0" indent="0" algn="l">
              <a:lnSpc>
                <a:spcPts val="2800"/>
              </a:lnSpc>
              <a:buNone/>
            </a:pPr>
            <a:r>
              <a:rPr lang="en-US" sz="1750" dirty="0" err="1">
                <a:solidFill>
                  <a:srgbClr val="FFFFFF"/>
                </a:solidFill>
                <a:latin typeface="PT Sans" pitchFamily="34" charset="0"/>
                <a:ea typeface="PT Sans" pitchFamily="34" charset="-122"/>
                <a:cs typeface="PT Sans" pitchFamily="34" charset="-120"/>
              </a:rPr>
              <a:t>Existe</a:t>
            </a:r>
            <a:r>
              <a:rPr lang="en-US" sz="1750" dirty="0">
                <a:solidFill>
                  <a:srgbClr val="FFFFFF"/>
                </a:solidFill>
                <a:latin typeface="PT Sans" pitchFamily="34" charset="0"/>
                <a:ea typeface="PT Sans" pitchFamily="34" charset="-122"/>
                <a:cs typeface="PT Sans" pitchFamily="34" charset="-120"/>
              </a:rPr>
              <a:t> </a:t>
            </a:r>
            <a:r>
              <a:rPr lang="en-US" sz="1750" dirty="0" err="1">
                <a:solidFill>
                  <a:srgbClr val="FFFFFF"/>
                </a:solidFill>
                <a:latin typeface="PT Sans" pitchFamily="34" charset="0"/>
                <a:ea typeface="PT Sans" pitchFamily="34" charset="-122"/>
                <a:cs typeface="PT Sans" pitchFamily="34" charset="-120"/>
              </a:rPr>
              <a:t>una</a:t>
            </a:r>
            <a:r>
              <a:rPr lang="en-US" sz="1750" dirty="0">
                <a:solidFill>
                  <a:srgbClr val="FFFFFF"/>
                </a:solidFill>
                <a:latin typeface="PT Sans" pitchFamily="34" charset="0"/>
                <a:ea typeface="PT Sans" pitchFamily="34" charset="-122"/>
                <a:cs typeface="PT Sans" pitchFamily="34" charset="-120"/>
              </a:rPr>
              <a:t> </a:t>
            </a:r>
            <a:r>
              <a:rPr lang="en-US" sz="1750" dirty="0" err="1">
                <a:solidFill>
                  <a:srgbClr val="FFFFFF"/>
                </a:solidFill>
                <a:latin typeface="PT Sans" pitchFamily="34" charset="0"/>
                <a:ea typeface="PT Sans" pitchFamily="34" charset="-122"/>
                <a:cs typeface="PT Sans" pitchFamily="34" charset="-120"/>
              </a:rPr>
              <a:t>brecha</a:t>
            </a:r>
            <a:r>
              <a:rPr lang="en-US" sz="1750" dirty="0">
                <a:solidFill>
                  <a:srgbClr val="FFFFFF"/>
                </a:solidFill>
                <a:latin typeface="PT Sans" pitchFamily="34" charset="0"/>
                <a:ea typeface="PT Sans" pitchFamily="34" charset="-122"/>
                <a:cs typeface="PT Sans" pitchFamily="34" charset="-120"/>
              </a:rPr>
              <a:t> de </a:t>
            </a:r>
            <a:r>
              <a:rPr lang="en-US" sz="1750" dirty="0" err="1">
                <a:solidFill>
                  <a:srgbClr val="FFFFFF"/>
                </a:solidFill>
                <a:latin typeface="PT Sans" pitchFamily="34" charset="0"/>
                <a:ea typeface="PT Sans" pitchFamily="34" charset="-122"/>
                <a:cs typeface="PT Sans" pitchFamily="34" charset="-120"/>
              </a:rPr>
              <a:t>edad</a:t>
            </a:r>
            <a:r>
              <a:rPr lang="en-US" sz="1750" dirty="0">
                <a:solidFill>
                  <a:srgbClr val="FFFFFF"/>
                </a:solidFill>
                <a:latin typeface="PT Sans" pitchFamily="34" charset="0"/>
                <a:ea typeface="PT Sans" pitchFamily="34" charset="-122"/>
                <a:cs typeface="PT Sans" pitchFamily="34" charset="-120"/>
              </a:rPr>
              <a:t> </a:t>
            </a:r>
            <a:r>
              <a:rPr lang="en-US" sz="1750" dirty="0" err="1">
                <a:solidFill>
                  <a:srgbClr val="FFFFFF"/>
                </a:solidFill>
                <a:latin typeface="PT Sans" pitchFamily="34" charset="0"/>
                <a:ea typeface="PT Sans" pitchFamily="34" charset="-122"/>
                <a:cs typeface="PT Sans" pitchFamily="34" charset="-120"/>
              </a:rPr>
              <a:t>consistente</a:t>
            </a:r>
            <a:r>
              <a:rPr lang="en-US" sz="1750" dirty="0">
                <a:solidFill>
                  <a:srgbClr val="FFFFFF"/>
                </a:solidFill>
                <a:latin typeface="PT Sans" pitchFamily="34" charset="0"/>
                <a:ea typeface="PT Sans" pitchFamily="34" charset="-122"/>
                <a:cs typeface="PT Sans" pitchFamily="34" charset="-120"/>
              </a:rPr>
              <a:t> en </a:t>
            </a:r>
            <a:r>
              <a:rPr lang="en-US" sz="1750" dirty="0" err="1">
                <a:solidFill>
                  <a:srgbClr val="FFFFFF"/>
                </a:solidFill>
                <a:latin typeface="PT Sans" pitchFamily="34" charset="0"/>
                <a:ea typeface="PT Sans" pitchFamily="34" charset="-122"/>
                <a:cs typeface="PT Sans" pitchFamily="34" charset="-120"/>
              </a:rPr>
              <a:t>los</a:t>
            </a:r>
            <a:r>
              <a:rPr lang="en-US" sz="1750" dirty="0">
                <a:solidFill>
                  <a:srgbClr val="FFFFFF"/>
                </a:solidFill>
                <a:latin typeface="PT Sans" pitchFamily="34" charset="0"/>
                <a:ea typeface="PT Sans" pitchFamily="34" charset="-122"/>
                <a:cs typeface="PT Sans" pitchFamily="34" charset="-120"/>
              </a:rPr>
              <a:t> </a:t>
            </a:r>
            <a:r>
              <a:rPr lang="en-US" sz="1750" dirty="0" err="1">
                <a:solidFill>
                  <a:srgbClr val="FFFFFF"/>
                </a:solidFill>
                <a:latin typeface="PT Sans" pitchFamily="34" charset="0"/>
                <a:ea typeface="PT Sans" pitchFamily="34" charset="-122"/>
                <a:cs typeface="PT Sans" pitchFamily="34" charset="-120"/>
              </a:rPr>
              <a:t>ganadores</a:t>
            </a:r>
            <a:r>
              <a:rPr lang="en-US" sz="1750" dirty="0">
                <a:solidFill>
                  <a:srgbClr val="FFFFFF"/>
                </a:solidFill>
                <a:latin typeface="PT Sans" pitchFamily="34" charset="0"/>
                <a:ea typeface="PT Sans" pitchFamily="34" charset="-122"/>
                <a:cs typeface="PT Sans" pitchFamily="34" charset="-120"/>
              </a:rPr>
              <a:t> del Óscar en </a:t>
            </a:r>
            <a:r>
              <a:rPr lang="en-US" sz="1750" dirty="0" err="1">
                <a:solidFill>
                  <a:srgbClr val="FFFFFF"/>
                </a:solidFill>
                <a:latin typeface="PT Sans" pitchFamily="34" charset="0"/>
                <a:ea typeface="PT Sans" pitchFamily="34" charset="-122"/>
                <a:cs typeface="PT Sans" pitchFamily="34" charset="-120"/>
              </a:rPr>
              <a:t>interpretación</a:t>
            </a:r>
            <a:endParaRPr lang="en-US" sz="1750" dirty="0"/>
          </a:p>
        </p:txBody>
      </p:sp>
      <p:sp>
        <p:nvSpPr>
          <p:cNvPr id="23" name="Text 4">
            <a:extLst>
              <a:ext uri="{FF2B5EF4-FFF2-40B4-BE49-F238E27FC236}">
                <a16:creationId xmlns:a16="http://schemas.microsoft.com/office/drawing/2014/main" id="{6850949D-035A-D63A-7CBF-ACB2D548A65D}"/>
              </a:ext>
            </a:extLst>
          </p:cNvPr>
          <p:cNvSpPr/>
          <p:nvPr/>
        </p:nvSpPr>
        <p:spPr>
          <a:xfrm>
            <a:off x="798552" y="4993123"/>
            <a:ext cx="4199453" cy="712708"/>
          </a:xfrm>
          <a:prstGeom prst="rect">
            <a:avLst/>
          </a:prstGeom>
          <a:noFill/>
          <a:ln/>
        </p:spPr>
        <p:txBody>
          <a:bodyPr wrap="square" lIns="0" tIns="0" rIns="0" bIns="0" rtlCol="0" anchor="t"/>
          <a:lstStyle/>
          <a:p>
            <a:pPr marL="0" indent="0" algn="l">
              <a:lnSpc>
                <a:spcPts val="2800"/>
              </a:lnSpc>
              <a:buNone/>
            </a:pPr>
            <a:r>
              <a:rPr lang="en-US" sz="1750" dirty="0" err="1">
                <a:solidFill>
                  <a:srgbClr val="FFFFFF"/>
                </a:solidFill>
                <a:latin typeface="PT Sans" pitchFamily="34" charset="0"/>
              </a:rPr>
              <a:t>Refuerzan</a:t>
            </a:r>
            <a:r>
              <a:rPr lang="en-US" sz="1750" dirty="0">
                <a:solidFill>
                  <a:srgbClr val="FFFFFF"/>
                </a:solidFill>
                <a:latin typeface="PT Sans" pitchFamily="34" charset="0"/>
              </a:rPr>
              <a:t> </a:t>
            </a:r>
            <a:r>
              <a:rPr lang="en-US" sz="1750" dirty="0" err="1">
                <a:solidFill>
                  <a:srgbClr val="FFFFFF"/>
                </a:solidFill>
                <a:latin typeface="PT Sans" pitchFamily="34" charset="0"/>
              </a:rPr>
              <a:t>los</a:t>
            </a:r>
            <a:r>
              <a:rPr lang="en-US" sz="1750" dirty="0">
                <a:solidFill>
                  <a:srgbClr val="FFFFFF"/>
                </a:solidFill>
                <a:latin typeface="PT Sans" pitchFamily="34" charset="0"/>
              </a:rPr>
              <a:t> </a:t>
            </a:r>
            <a:r>
              <a:rPr lang="en-US" sz="1750" dirty="0" err="1">
                <a:solidFill>
                  <a:srgbClr val="FFFFFF"/>
                </a:solidFill>
                <a:latin typeface="PT Sans" pitchFamily="34" charset="0"/>
              </a:rPr>
              <a:t>patrones</a:t>
            </a:r>
            <a:r>
              <a:rPr lang="en-US" sz="1750" dirty="0">
                <a:solidFill>
                  <a:srgbClr val="FFFFFF"/>
                </a:solidFill>
                <a:latin typeface="PT Sans" pitchFamily="34" charset="0"/>
              </a:rPr>
              <a:t> vistos y son </a:t>
            </a:r>
            <a:r>
              <a:rPr lang="en-US" sz="1750" dirty="0" err="1">
                <a:solidFill>
                  <a:srgbClr val="FFFFFF"/>
                </a:solidFill>
                <a:latin typeface="PT Sans" pitchFamily="34" charset="0"/>
              </a:rPr>
              <a:t>más</a:t>
            </a:r>
            <a:r>
              <a:rPr lang="en-US" sz="1750" dirty="0">
                <a:solidFill>
                  <a:srgbClr val="FFFFFF"/>
                </a:solidFill>
                <a:latin typeface="PT Sans" pitchFamily="34" charset="0"/>
              </a:rPr>
              <a:t> </a:t>
            </a:r>
            <a:r>
              <a:rPr lang="en-US" sz="1750" dirty="0" err="1">
                <a:solidFill>
                  <a:srgbClr val="FFFFFF"/>
                </a:solidFill>
                <a:latin typeface="PT Sans" pitchFamily="34" charset="0"/>
              </a:rPr>
              <a:t>largas</a:t>
            </a:r>
            <a:endParaRPr lang="en-US" sz="1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837724" y="1075134"/>
            <a:ext cx="10480000" cy="704017"/>
          </a:xfrm>
          <a:prstGeom prst="rect">
            <a:avLst/>
          </a:prstGeom>
          <a:noFill/>
          <a:ln/>
        </p:spPr>
        <p:txBody>
          <a:bodyPr wrap="none" lIns="0" tIns="0" rIns="0" bIns="0" rtlCol="0" anchor="t"/>
          <a:lstStyle/>
          <a:p>
            <a:pPr marL="0" indent="0" algn="l">
              <a:lnSpc>
                <a:spcPts val="5500"/>
              </a:lnSpc>
              <a:buNone/>
            </a:pPr>
            <a:r>
              <a:rPr lang="en-US" sz="4400" dirty="0" err="1">
                <a:solidFill>
                  <a:srgbClr val="FFFFFF"/>
                </a:solidFill>
                <a:latin typeface="Nunito Semi Bold" pitchFamily="34" charset="0"/>
                <a:ea typeface="Nunito Semi Bold" pitchFamily="34" charset="-122"/>
                <a:cs typeface="Nunito Semi Bold" pitchFamily="34" charset="-120"/>
              </a:rPr>
              <a:t>Líneas</a:t>
            </a:r>
            <a:r>
              <a:rPr lang="en-US" sz="4400" dirty="0">
                <a:solidFill>
                  <a:srgbClr val="FFFFFF"/>
                </a:solidFill>
                <a:latin typeface="Nunito Semi Bold" pitchFamily="34" charset="0"/>
                <a:ea typeface="Nunito Semi Bold" pitchFamily="34" charset="-122"/>
                <a:cs typeface="Nunito Semi Bold" pitchFamily="34" charset="-120"/>
              </a:rPr>
              <a:t> </a:t>
            </a:r>
            <a:r>
              <a:rPr lang="en-US" sz="4400" dirty="0" err="1">
                <a:solidFill>
                  <a:srgbClr val="FFFFFF"/>
                </a:solidFill>
                <a:latin typeface="Nunito Semi Bold" pitchFamily="34" charset="0"/>
                <a:ea typeface="Nunito Semi Bold" pitchFamily="34" charset="-122"/>
                <a:cs typeface="Nunito Semi Bold" pitchFamily="34" charset="-120"/>
              </a:rPr>
              <a:t>futuras</a:t>
            </a:r>
            <a:endParaRPr lang="en-US" sz="4400" dirty="0"/>
          </a:p>
        </p:txBody>
      </p:sp>
      <p:sp>
        <p:nvSpPr>
          <p:cNvPr id="4" name="Shape 2"/>
          <p:cNvSpPr/>
          <p:nvPr/>
        </p:nvSpPr>
        <p:spPr>
          <a:xfrm>
            <a:off x="4019717" y="1976874"/>
            <a:ext cx="3059192" cy="5067340"/>
          </a:xfrm>
          <a:prstGeom prst="roundRect">
            <a:avLst>
              <a:gd name="adj" fmla="val 11737"/>
            </a:avLst>
          </a:prstGeom>
          <a:solidFill>
            <a:srgbClr val="00002E"/>
          </a:solidFill>
          <a:ln w="22860">
            <a:solidFill>
              <a:srgbClr val="F2B42D"/>
            </a:solidFill>
            <a:prstDash val="solid"/>
          </a:ln>
        </p:spPr>
        <p:txBody>
          <a:bodyPr/>
          <a:lstStyle/>
          <a:p>
            <a:endParaRPr lang="es-ES"/>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79417" y="2489175"/>
            <a:ext cx="323136" cy="323136"/>
          </a:xfrm>
          <a:prstGeom prst="rect">
            <a:avLst/>
          </a:prstGeom>
        </p:spPr>
      </p:pic>
      <p:sp>
        <p:nvSpPr>
          <p:cNvPr id="7" name="Text 4"/>
          <p:cNvSpPr/>
          <p:nvPr/>
        </p:nvSpPr>
        <p:spPr>
          <a:xfrm>
            <a:off x="4282011" y="3350750"/>
            <a:ext cx="2534841" cy="495538"/>
          </a:xfrm>
          <a:prstGeom prst="rect">
            <a:avLst/>
          </a:prstGeom>
          <a:noFill/>
          <a:ln/>
        </p:spPr>
        <p:txBody>
          <a:bodyPr wrap="square" lIns="0" tIns="0" rIns="0" bIns="0" rtlCol="0" anchor="t"/>
          <a:lstStyle/>
          <a:p>
            <a:pPr marL="0" indent="0" algn="l">
              <a:lnSpc>
                <a:spcPts val="2750"/>
              </a:lnSpc>
              <a:buNone/>
            </a:pPr>
            <a:r>
              <a:rPr lang="en-US" sz="2200" dirty="0" err="1">
                <a:solidFill>
                  <a:srgbClr val="FFFFFF"/>
                </a:solidFill>
                <a:latin typeface="Nunito Semi Bold" pitchFamily="34" charset="0"/>
                <a:ea typeface="Nunito Semi Bold" pitchFamily="34" charset="-122"/>
                <a:cs typeface="Nunito Semi Bold" pitchFamily="34" charset="-120"/>
              </a:rPr>
              <a:t>Incluir</a:t>
            </a:r>
            <a:r>
              <a:rPr lang="en-US" sz="2200" dirty="0">
                <a:solidFill>
                  <a:srgbClr val="FFFFFF"/>
                </a:solidFill>
                <a:latin typeface="Nunito Semi Bold" pitchFamily="34" charset="0"/>
                <a:ea typeface="Nunito Semi Bold" pitchFamily="34" charset="-122"/>
                <a:cs typeface="Nunito Semi Bold" pitchFamily="34" charset="-120"/>
              </a:rPr>
              <a:t> </a:t>
            </a:r>
            <a:r>
              <a:rPr lang="en-US" sz="2200" dirty="0" err="1">
                <a:solidFill>
                  <a:srgbClr val="FFFFFF"/>
                </a:solidFill>
                <a:latin typeface="Nunito Semi Bold" pitchFamily="34" charset="0"/>
                <a:ea typeface="Nunito Semi Bold" pitchFamily="34" charset="-122"/>
                <a:cs typeface="Nunito Semi Bold" pitchFamily="34" charset="-120"/>
              </a:rPr>
              <a:t>factores</a:t>
            </a:r>
            <a:endParaRPr lang="en-US" sz="2200" dirty="0"/>
          </a:p>
        </p:txBody>
      </p:sp>
      <p:sp>
        <p:nvSpPr>
          <p:cNvPr id="8" name="Text 5"/>
          <p:cNvSpPr/>
          <p:nvPr/>
        </p:nvSpPr>
        <p:spPr>
          <a:xfrm>
            <a:off x="4282011" y="3846288"/>
            <a:ext cx="2534841" cy="2469845"/>
          </a:xfrm>
          <a:prstGeom prst="rect">
            <a:avLst/>
          </a:prstGeom>
          <a:noFill/>
          <a:ln/>
        </p:spPr>
        <p:txBody>
          <a:bodyPr wrap="square" lIns="0" tIns="0" rIns="0" bIns="0" rtlCol="0" anchor="t"/>
          <a:lstStyle/>
          <a:p>
            <a:pPr marL="0" indent="0" algn="l">
              <a:lnSpc>
                <a:spcPts val="3000"/>
              </a:lnSpc>
              <a:buNone/>
            </a:pPr>
            <a:r>
              <a:rPr lang="en-US" sz="1850" dirty="0">
                <a:solidFill>
                  <a:srgbClr val="FFFFFF"/>
                </a:solidFill>
                <a:latin typeface="PT Sans" pitchFamily="34" charset="0"/>
              </a:rPr>
              <a:t>Se </a:t>
            </a:r>
            <a:r>
              <a:rPr lang="en-US" sz="1850" dirty="0" err="1">
                <a:solidFill>
                  <a:srgbClr val="FFFFFF"/>
                </a:solidFill>
                <a:latin typeface="PT Sans" pitchFamily="34" charset="0"/>
              </a:rPr>
              <a:t>puede</a:t>
            </a:r>
            <a:r>
              <a:rPr lang="en-US" sz="1850" dirty="0">
                <a:solidFill>
                  <a:srgbClr val="FFFFFF"/>
                </a:solidFill>
                <a:latin typeface="PT Sans" pitchFamily="34" charset="0"/>
              </a:rPr>
              <a:t> </a:t>
            </a:r>
            <a:r>
              <a:rPr lang="en-US" sz="1850" dirty="0" err="1">
                <a:solidFill>
                  <a:srgbClr val="FFFFFF"/>
                </a:solidFill>
                <a:latin typeface="PT Sans" pitchFamily="34" charset="0"/>
              </a:rPr>
              <a:t>ampliar</a:t>
            </a:r>
            <a:r>
              <a:rPr lang="en-US" sz="1850" dirty="0">
                <a:solidFill>
                  <a:srgbClr val="FFFFFF"/>
                </a:solidFill>
                <a:latin typeface="PT Sans" pitchFamily="34" charset="0"/>
              </a:rPr>
              <a:t> el </a:t>
            </a:r>
            <a:r>
              <a:rPr lang="en-US" sz="1850" dirty="0" err="1">
                <a:solidFill>
                  <a:srgbClr val="FFFFFF"/>
                </a:solidFill>
                <a:latin typeface="PT Sans" pitchFamily="34" charset="0"/>
              </a:rPr>
              <a:t>análisis</a:t>
            </a:r>
            <a:r>
              <a:rPr lang="en-US" sz="1850" dirty="0">
                <a:solidFill>
                  <a:srgbClr val="FFFFFF"/>
                </a:solidFill>
                <a:latin typeface="PT Sans" pitchFamily="34" charset="0"/>
              </a:rPr>
              <a:t> </a:t>
            </a:r>
            <a:r>
              <a:rPr lang="en-US" sz="1850" dirty="0" err="1">
                <a:solidFill>
                  <a:srgbClr val="FFFFFF"/>
                </a:solidFill>
                <a:latin typeface="PT Sans" pitchFamily="34" charset="0"/>
              </a:rPr>
              <a:t>incluyendo</a:t>
            </a:r>
            <a:r>
              <a:rPr lang="en-US" sz="1850" dirty="0">
                <a:solidFill>
                  <a:srgbClr val="FFFFFF"/>
                </a:solidFill>
                <a:latin typeface="PT Sans" pitchFamily="34" charset="0"/>
              </a:rPr>
              <a:t> </a:t>
            </a:r>
            <a:r>
              <a:rPr lang="en-US" sz="1850" dirty="0" err="1">
                <a:solidFill>
                  <a:srgbClr val="FFFFFF"/>
                </a:solidFill>
                <a:latin typeface="PT Sans" pitchFamily="34" charset="0"/>
              </a:rPr>
              <a:t>otros</a:t>
            </a:r>
            <a:r>
              <a:rPr lang="en-US" sz="1850" dirty="0">
                <a:solidFill>
                  <a:srgbClr val="FFFFFF"/>
                </a:solidFill>
                <a:latin typeface="PT Sans" pitchFamily="34" charset="0"/>
              </a:rPr>
              <a:t> </a:t>
            </a:r>
            <a:r>
              <a:rPr lang="en-US" sz="1850" dirty="0" err="1">
                <a:solidFill>
                  <a:srgbClr val="FFFFFF"/>
                </a:solidFill>
                <a:latin typeface="PT Sans" pitchFamily="34" charset="0"/>
              </a:rPr>
              <a:t>aspectos</a:t>
            </a:r>
            <a:r>
              <a:rPr lang="en-US" sz="1850" dirty="0">
                <a:solidFill>
                  <a:srgbClr val="FFFFFF"/>
                </a:solidFill>
                <a:latin typeface="PT Sans" pitchFamily="34" charset="0"/>
              </a:rPr>
              <a:t> (</a:t>
            </a:r>
            <a:r>
              <a:rPr lang="en-US" sz="1850" dirty="0" err="1">
                <a:solidFill>
                  <a:srgbClr val="FFFFFF"/>
                </a:solidFill>
                <a:latin typeface="PT Sans" pitchFamily="34" charset="0"/>
              </a:rPr>
              <a:t>reparto</a:t>
            </a:r>
            <a:r>
              <a:rPr lang="en-US" sz="1850" dirty="0">
                <a:solidFill>
                  <a:srgbClr val="FFFFFF"/>
                </a:solidFill>
                <a:latin typeface="PT Sans" pitchFamily="34" charset="0"/>
              </a:rPr>
              <a:t>, </a:t>
            </a:r>
            <a:r>
              <a:rPr lang="en-US" sz="1850" dirty="0" err="1">
                <a:solidFill>
                  <a:srgbClr val="FFFFFF"/>
                </a:solidFill>
                <a:latin typeface="PT Sans" pitchFamily="34" charset="0"/>
              </a:rPr>
              <a:t>dirección</a:t>
            </a:r>
            <a:r>
              <a:rPr lang="en-US" sz="1850" dirty="0">
                <a:solidFill>
                  <a:srgbClr val="FFFFFF"/>
                </a:solidFill>
                <a:latin typeface="PT Sans" pitchFamily="34" charset="0"/>
              </a:rPr>
              <a:t>,  </a:t>
            </a:r>
            <a:r>
              <a:rPr lang="en-US" sz="1850" dirty="0" err="1">
                <a:solidFill>
                  <a:srgbClr val="FFFFFF"/>
                </a:solidFill>
                <a:latin typeface="PT Sans" pitchFamily="34" charset="0"/>
              </a:rPr>
              <a:t>productora</a:t>
            </a:r>
            <a:r>
              <a:rPr lang="en-US" sz="1850" dirty="0">
                <a:solidFill>
                  <a:srgbClr val="FFFFFF"/>
                </a:solidFill>
                <a:latin typeface="PT Sans" pitchFamily="34" charset="0"/>
              </a:rPr>
              <a:t>, </a:t>
            </a:r>
            <a:r>
              <a:rPr lang="en-US" sz="1850" dirty="0" err="1">
                <a:solidFill>
                  <a:srgbClr val="FFFFFF"/>
                </a:solidFill>
                <a:latin typeface="PT Sans" pitchFamily="34" charset="0"/>
              </a:rPr>
              <a:t>fecha</a:t>
            </a:r>
            <a:r>
              <a:rPr lang="en-US" sz="1850" dirty="0">
                <a:solidFill>
                  <a:srgbClr val="FFFFFF"/>
                </a:solidFill>
                <a:latin typeface="PT Sans" pitchFamily="34" charset="0"/>
              </a:rPr>
              <a:t> de </a:t>
            </a:r>
            <a:r>
              <a:rPr lang="en-US" sz="1850" dirty="0" err="1">
                <a:solidFill>
                  <a:srgbClr val="FFFFFF"/>
                </a:solidFill>
                <a:latin typeface="PT Sans" pitchFamily="34" charset="0"/>
              </a:rPr>
              <a:t>estreno</a:t>
            </a:r>
            <a:r>
              <a:rPr lang="en-US" sz="1850" dirty="0">
                <a:solidFill>
                  <a:srgbClr val="FFFFFF"/>
                </a:solidFill>
                <a:latin typeface="PT Sans" pitchFamily="34" charset="0"/>
              </a:rPr>
              <a:t>….)</a:t>
            </a:r>
            <a:endParaRPr lang="en-US" sz="1850" dirty="0"/>
          </a:p>
        </p:txBody>
      </p:sp>
      <p:pic>
        <p:nvPicPr>
          <p:cNvPr id="16"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94439" y="2556908"/>
            <a:ext cx="323136" cy="323136"/>
          </a:xfrm>
          <a:prstGeom prst="rect">
            <a:avLst/>
          </a:prstGeom>
        </p:spPr>
      </p:pic>
      <p:sp>
        <p:nvSpPr>
          <p:cNvPr id="19" name="Shape 14"/>
          <p:cNvSpPr/>
          <p:nvPr/>
        </p:nvSpPr>
        <p:spPr>
          <a:xfrm>
            <a:off x="10733365" y="1976874"/>
            <a:ext cx="3059311" cy="5122466"/>
          </a:xfrm>
          <a:prstGeom prst="roundRect">
            <a:avLst>
              <a:gd name="adj" fmla="val 11737"/>
            </a:avLst>
          </a:prstGeom>
          <a:solidFill>
            <a:srgbClr val="00002E"/>
          </a:solidFill>
          <a:ln w="22860">
            <a:solidFill>
              <a:srgbClr val="48A8E2"/>
            </a:solidFill>
            <a:prstDash val="solid"/>
          </a:ln>
        </p:spPr>
        <p:txBody>
          <a:bodyPr/>
          <a:lstStyle/>
          <a:p>
            <a:endParaRPr lang="es-ES" dirty="0"/>
          </a:p>
        </p:txBody>
      </p:sp>
      <p:sp>
        <p:nvSpPr>
          <p:cNvPr id="20" name="Shape 15"/>
          <p:cNvSpPr/>
          <p:nvPr/>
        </p:nvSpPr>
        <p:spPr>
          <a:xfrm>
            <a:off x="10995541" y="2315852"/>
            <a:ext cx="718066" cy="718066"/>
          </a:xfrm>
          <a:prstGeom prst="roundRect">
            <a:avLst>
              <a:gd name="adj" fmla="val 12732932"/>
            </a:avLst>
          </a:prstGeom>
          <a:solidFill>
            <a:srgbClr val="48A8E2"/>
          </a:solidFill>
          <a:ln/>
        </p:spPr>
        <p:txBody>
          <a:bodyPr/>
          <a:lstStyle/>
          <a:p>
            <a:endParaRPr lang="es-ES"/>
          </a:p>
        </p:txBody>
      </p:sp>
      <p:pic>
        <p:nvPicPr>
          <p:cNvPr id="21"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192947" y="2563684"/>
            <a:ext cx="323136" cy="323136"/>
          </a:xfrm>
          <a:prstGeom prst="rect">
            <a:avLst/>
          </a:prstGeom>
        </p:spPr>
      </p:pic>
      <p:sp>
        <p:nvSpPr>
          <p:cNvPr id="22" name="Text 16"/>
          <p:cNvSpPr/>
          <p:nvPr/>
        </p:nvSpPr>
        <p:spPr>
          <a:xfrm>
            <a:off x="10995541" y="3400065"/>
            <a:ext cx="2534960" cy="351949"/>
          </a:xfrm>
          <a:prstGeom prst="rect">
            <a:avLst/>
          </a:prstGeom>
          <a:noFill/>
          <a:ln/>
        </p:spPr>
        <p:txBody>
          <a:bodyPr wrap="none" lIns="0" tIns="0" rIns="0" bIns="0" rtlCol="0" anchor="t"/>
          <a:lstStyle/>
          <a:p>
            <a:pPr marL="0" indent="0" algn="l">
              <a:lnSpc>
                <a:spcPts val="2750"/>
              </a:lnSpc>
              <a:buNone/>
            </a:pPr>
            <a:r>
              <a:rPr lang="en-US" sz="2200" dirty="0" err="1">
                <a:solidFill>
                  <a:srgbClr val="FFFFFF"/>
                </a:solidFill>
                <a:latin typeface="Nunito Semi Bold" pitchFamily="34" charset="0"/>
                <a:ea typeface="Nunito Semi Bold" pitchFamily="34" charset="-122"/>
                <a:cs typeface="Nunito Semi Bold" pitchFamily="34" charset="-120"/>
              </a:rPr>
              <a:t>Visualización</a:t>
            </a:r>
            <a:endParaRPr lang="en-US" sz="2200" dirty="0"/>
          </a:p>
        </p:txBody>
      </p:sp>
      <p:sp>
        <p:nvSpPr>
          <p:cNvPr id="23" name="Text 17"/>
          <p:cNvSpPr/>
          <p:nvPr/>
        </p:nvSpPr>
        <p:spPr>
          <a:xfrm>
            <a:off x="10995541" y="3981760"/>
            <a:ext cx="2534960" cy="1532096"/>
          </a:xfrm>
          <a:prstGeom prst="rect">
            <a:avLst/>
          </a:prstGeom>
          <a:noFill/>
          <a:ln/>
        </p:spPr>
        <p:txBody>
          <a:bodyPr wrap="square" lIns="0" tIns="0" rIns="0" bIns="0" rtlCol="0" anchor="t"/>
          <a:lstStyle/>
          <a:p>
            <a:pPr marL="0" indent="0" algn="l">
              <a:lnSpc>
                <a:spcPts val="3000"/>
              </a:lnSpc>
              <a:buNone/>
            </a:pPr>
            <a:endParaRPr lang="en-US" sz="1850" dirty="0"/>
          </a:p>
        </p:txBody>
      </p:sp>
      <p:sp>
        <p:nvSpPr>
          <p:cNvPr id="27" name="Shape 2">
            <a:extLst>
              <a:ext uri="{FF2B5EF4-FFF2-40B4-BE49-F238E27FC236}">
                <a16:creationId xmlns:a16="http://schemas.microsoft.com/office/drawing/2014/main" id="{34CAD0DA-5AE7-2D1C-DD24-F3E03E1E6D5D}"/>
              </a:ext>
            </a:extLst>
          </p:cNvPr>
          <p:cNvSpPr/>
          <p:nvPr/>
        </p:nvSpPr>
        <p:spPr>
          <a:xfrm>
            <a:off x="4282011" y="2343891"/>
            <a:ext cx="661987" cy="661988"/>
          </a:xfrm>
          <a:prstGeom prst="roundRect">
            <a:avLst>
              <a:gd name="adj" fmla="val 13811579"/>
            </a:avLst>
          </a:prstGeom>
          <a:solidFill>
            <a:srgbClr val="F2B42D"/>
          </a:solidFill>
          <a:ln/>
        </p:spPr>
        <p:txBody>
          <a:bodyPr/>
          <a:lstStyle/>
          <a:p>
            <a:endParaRPr lang="es-ES"/>
          </a:p>
        </p:txBody>
      </p:sp>
      <p:pic>
        <p:nvPicPr>
          <p:cNvPr id="28" name="Image 0" descr="preencoded.png">
            <a:extLst>
              <a:ext uri="{FF2B5EF4-FFF2-40B4-BE49-F238E27FC236}">
                <a16:creationId xmlns:a16="http://schemas.microsoft.com/office/drawing/2014/main" id="{4241AB6E-C58B-F67D-63C6-C16129CDFD8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464058" y="2525938"/>
            <a:ext cx="297894" cy="297894"/>
          </a:xfrm>
          <a:prstGeom prst="rect">
            <a:avLst/>
          </a:prstGeom>
        </p:spPr>
      </p:pic>
      <p:sp>
        <p:nvSpPr>
          <p:cNvPr id="31" name="Text 9">
            <a:extLst>
              <a:ext uri="{FF2B5EF4-FFF2-40B4-BE49-F238E27FC236}">
                <a16:creationId xmlns:a16="http://schemas.microsoft.com/office/drawing/2014/main" id="{42EF7957-5084-07BB-FC53-274204F634F8}"/>
              </a:ext>
            </a:extLst>
          </p:cNvPr>
          <p:cNvSpPr/>
          <p:nvPr/>
        </p:nvSpPr>
        <p:spPr>
          <a:xfrm>
            <a:off x="10995540" y="3847698"/>
            <a:ext cx="2534960" cy="1915120"/>
          </a:xfrm>
          <a:prstGeom prst="rect">
            <a:avLst/>
          </a:prstGeom>
          <a:noFill/>
          <a:ln/>
        </p:spPr>
        <p:txBody>
          <a:bodyPr wrap="square" lIns="0" tIns="0" rIns="0" bIns="0" rtlCol="0" anchor="t"/>
          <a:lstStyle/>
          <a:p>
            <a:pPr marL="0" indent="0" algn="l">
              <a:lnSpc>
                <a:spcPts val="3000"/>
              </a:lnSpc>
              <a:buNone/>
            </a:pPr>
            <a:r>
              <a:rPr lang="en-US" sz="1850" dirty="0" err="1">
                <a:solidFill>
                  <a:schemeClr val="bg1"/>
                </a:solidFill>
              </a:rPr>
              <a:t>Desarrollar</a:t>
            </a:r>
            <a:r>
              <a:rPr lang="en-US" sz="1850" dirty="0">
                <a:solidFill>
                  <a:schemeClr val="bg1"/>
                </a:solidFill>
              </a:rPr>
              <a:t> un </a:t>
            </a:r>
            <a:r>
              <a:rPr lang="en-US" sz="1850" dirty="0" err="1">
                <a:solidFill>
                  <a:schemeClr val="bg1"/>
                </a:solidFill>
              </a:rPr>
              <a:t>soporte</a:t>
            </a:r>
            <a:r>
              <a:rPr lang="en-US" sz="1850" dirty="0">
                <a:solidFill>
                  <a:schemeClr val="bg1"/>
                </a:solidFill>
              </a:rPr>
              <a:t> visual en el </a:t>
            </a:r>
            <a:r>
              <a:rPr lang="en-US" sz="1850" dirty="0" err="1">
                <a:solidFill>
                  <a:schemeClr val="bg1"/>
                </a:solidFill>
              </a:rPr>
              <a:t>que</a:t>
            </a:r>
            <a:r>
              <a:rPr lang="en-US" sz="1850" dirty="0">
                <a:solidFill>
                  <a:schemeClr val="bg1"/>
                </a:solidFill>
              </a:rPr>
              <a:t> </a:t>
            </a:r>
            <a:r>
              <a:rPr lang="en-US" sz="1850" dirty="0" err="1">
                <a:solidFill>
                  <a:schemeClr val="bg1"/>
                </a:solidFill>
              </a:rPr>
              <a:t>mostrar</a:t>
            </a:r>
            <a:r>
              <a:rPr lang="en-US" sz="1850" dirty="0">
                <a:solidFill>
                  <a:schemeClr val="bg1"/>
                </a:solidFill>
              </a:rPr>
              <a:t> </a:t>
            </a:r>
            <a:r>
              <a:rPr lang="en-US" sz="1850" dirty="0" err="1">
                <a:solidFill>
                  <a:schemeClr val="bg1"/>
                </a:solidFill>
              </a:rPr>
              <a:t>los</a:t>
            </a:r>
            <a:r>
              <a:rPr lang="en-US" sz="1850" dirty="0">
                <a:solidFill>
                  <a:schemeClr val="bg1"/>
                </a:solidFill>
              </a:rPr>
              <a:t> </a:t>
            </a:r>
            <a:r>
              <a:rPr lang="en-US" sz="1850" dirty="0" err="1">
                <a:solidFill>
                  <a:schemeClr val="bg1"/>
                </a:solidFill>
              </a:rPr>
              <a:t>datos</a:t>
            </a:r>
            <a:r>
              <a:rPr lang="en-US" sz="1850" dirty="0">
                <a:solidFill>
                  <a:schemeClr val="bg1"/>
                </a:solidFill>
              </a:rPr>
              <a:t> online  </a:t>
            </a:r>
          </a:p>
        </p:txBody>
      </p:sp>
      <p:sp>
        <p:nvSpPr>
          <p:cNvPr id="32" name="Shape 6">
            <a:extLst>
              <a:ext uri="{FF2B5EF4-FFF2-40B4-BE49-F238E27FC236}">
                <a16:creationId xmlns:a16="http://schemas.microsoft.com/office/drawing/2014/main" id="{37F16FCA-AF69-E49E-4637-DC4F4E100029}"/>
              </a:ext>
            </a:extLst>
          </p:cNvPr>
          <p:cNvSpPr/>
          <p:nvPr/>
        </p:nvSpPr>
        <p:spPr>
          <a:xfrm>
            <a:off x="7411878" y="1976874"/>
            <a:ext cx="3059311" cy="5122466"/>
          </a:xfrm>
          <a:prstGeom prst="roundRect">
            <a:avLst>
              <a:gd name="adj" fmla="val 11737"/>
            </a:avLst>
          </a:prstGeom>
          <a:solidFill>
            <a:srgbClr val="00002E"/>
          </a:solidFill>
          <a:ln w="22860">
            <a:solidFill>
              <a:srgbClr val="C55A11"/>
            </a:solidFill>
            <a:prstDash val="solid"/>
          </a:ln>
        </p:spPr>
        <p:txBody>
          <a:bodyPr/>
          <a:lstStyle/>
          <a:p>
            <a:endParaRPr lang="es-ES"/>
          </a:p>
        </p:txBody>
      </p:sp>
      <p:sp>
        <p:nvSpPr>
          <p:cNvPr id="12" name="Text 8"/>
          <p:cNvSpPr/>
          <p:nvPr/>
        </p:nvSpPr>
        <p:spPr>
          <a:xfrm>
            <a:off x="7649602" y="3401547"/>
            <a:ext cx="2534960" cy="351949"/>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Nunito Semi Bold" pitchFamily="34" charset="0"/>
                <a:ea typeface="Nunito Semi Bold" pitchFamily="34" charset="-122"/>
                <a:cs typeface="Nunito Semi Bold" pitchFamily="34" charset="-120"/>
              </a:rPr>
              <a:t>Impacto en </a:t>
            </a:r>
            <a:r>
              <a:rPr lang="en-US" sz="2200" dirty="0" err="1">
                <a:solidFill>
                  <a:srgbClr val="FFFFFF"/>
                </a:solidFill>
                <a:latin typeface="Nunito Semi Bold" pitchFamily="34" charset="0"/>
                <a:ea typeface="Nunito Semi Bold" pitchFamily="34" charset="-122"/>
                <a:cs typeface="Nunito Semi Bold" pitchFamily="34" charset="-120"/>
              </a:rPr>
              <a:t>género</a:t>
            </a:r>
            <a:endParaRPr lang="en-US" sz="2200" dirty="0"/>
          </a:p>
        </p:txBody>
      </p:sp>
      <p:sp>
        <p:nvSpPr>
          <p:cNvPr id="13" name="Text 9"/>
          <p:cNvSpPr/>
          <p:nvPr/>
        </p:nvSpPr>
        <p:spPr>
          <a:xfrm>
            <a:off x="7649602" y="3897085"/>
            <a:ext cx="2534960" cy="1915120"/>
          </a:xfrm>
          <a:prstGeom prst="rect">
            <a:avLst/>
          </a:prstGeom>
          <a:noFill/>
          <a:ln/>
        </p:spPr>
        <p:txBody>
          <a:bodyPr wrap="square" lIns="0" tIns="0" rIns="0" bIns="0" rtlCol="0" anchor="t"/>
          <a:lstStyle/>
          <a:p>
            <a:pPr marL="0" indent="0" algn="l">
              <a:lnSpc>
                <a:spcPts val="3000"/>
              </a:lnSpc>
              <a:buNone/>
            </a:pPr>
            <a:r>
              <a:rPr lang="en-US" sz="1850" dirty="0" err="1">
                <a:solidFill>
                  <a:srgbClr val="FFFFFF"/>
                </a:solidFill>
                <a:latin typeface="PT Sans" pitchFamily="34" charset="0"/>
                <a:ea typeface="PT Sans" pitchFamily="34" charset="-122"/>
                <a:cs typeface="PT Sans" pitchFamily="34" charset="-120"/>
              </a:rPr>
              <a:t>Ampliar</a:t>
            </a:r>
            <a:r>
              <a:rPr lang="en-US" sz="1850" dirty="0">
                <a:solidFill>
                  <a:srgbClr val="FFFFFF"/>
                </a:solidFill>
                <a:latin typeface="PT Sans" pitchFamily="34" charset="0"/>
                <a:ea typeface="PT Sans" pitchFamily="34" charset="-122"/>
                <a:cs typeface="PT Sans" pitchFamily="34" charset="-120"/>
              </a:rPr>
              <a:t> el </a:t>
            </a:r>
            <a:r>
              <a:rPr lang="en-US" sz="1850" dirty="0" err="1">
                <a:solidFill>
                  <a:srgbClr val="FFFFFF"/>
                </a:solidFill>
                <a:latin typeface="PT Sans" pitchFamily="34" charset="0"/>
                <a:ea typeface="PT Sans" pitchFamily="34" charset="-122"/>
                <a:cs typeface="PT Sans" pitchFamily="34" charset="-120"/>
              </a:rPr>
              <a:t>estudio</a:t>
            </a:r>
            <a:r>
              <a:rPr lang="en-US" sz="1850" dirty="0">
                <a:solidFill>
                  <a:srgbClr val="FFFFFF"/>
                </a:solidFill>
                <a:latin typeface="PT Sans" pitchFamily="34" charset="0"/>
                <a:ea typeface="PT Sans" pitchFamily="34" charset="-122"/>
                <a:cs typeface="PT Sans" pitchFamily="34" charset="-120"/>
              </a:rPr>
              <a:t> </a:t>
            </a:r>
            <a:r>
              <a:rPr lang="en-US" sz="1850" dirty="0" err="1">
                <a:solidFill>
                  <a:srgbClr val="FFFFFF"/>
                </a:solidFill>
                <a:latin typeface="PT Sans" pitchFamily="34" charset="0"/>
                <a:ea typeface="PT Sans" pitchFamily="34" charset="-122"/>
                <a:cs typeface="PT Sans" pitchFamily="34" charset="-120"/>
              </a:rPr>
              <a:t>incorporando</a:t>
            </a:r>
            <a:r>
              <a:rPr lang="en-US" sz="1850" dirty="0">
                <a:solidFill>
                  <a:srgbClr val="FFFFFF"/>
                </a:solidFill>
                <a:latin typeface="PT Sans" pitchFamily="34" charset="0"/>
                <a:ea typeface="PT Sans" pitchFamily="34" charset="-122"/>
                <a:cs typeface="PT Sans" pitchFamily="34" charset="-120"/>
              </a:rPr>
              <a:t> </a:t>
            </a:r>
            <a:r>
              <a:rPr lang="en-US" sz="1850" dirty="0" err="1">
                <a:solidFill>
                  <a:srgbClr val="FFFFFF"/>
                </a:solidFill>
                <a:latin typeface="PT Sans" pitchFamily="34" charset="0"/>
                <a:ea typeface="PT Sans" pitchFamily="34" charset="-122"/>
                <a:cs typeface="PT Sans" pitchFamily="34" charset="-120"/>
              </a:rPr>
              <a:t>datos</a:t>
            </a:r>
            <a:r>
              <a:rPr lang="en-US" sz="1850" dirty="0">
                <a:solidFill>
                  <a:srgbClr val="FFFFFF"/>
                </a:solidFill>
                <a:latin typeface="PT Sans" pitchFamily="34" charset="0"/>
                <a:ea typeface="PT Sans" pitchFamily="34" charset="-122"/>
                <a:cs typeface="PT Sans" pitchFamily="34" charset="-120"/>
              </a:rPr>
              <a:t> y </a:t>
            </a:r>
            <a:r>
              <a:rPr lang="en-US" sz="1850" dirty="0" err="1">
                <a:solidFill>
                  <a:srgbClr val="FFFFFF"/>
                </a:solidFill>
                <a:latin typeface="PT Sans" pitchFamily="34" charset="0"/>
                <a:ea typeface="PT Sans" pitchFamily="34" charset="-122"/>
                <a:cs typeface="PT Sans" pitchFamily="34" charset="-120"/>
              </a:rPr>
              <a:t>análisis</a:t>
            </a:r>
            <a:r>
              <a:rPr lang="en-US" sz="1850" dirty="0">
                <a:solidFill>
                  <a:srgbClr val="FFFFFF"/>
                </a:solidFill>
                <a:latin typeface="PT Sans" pitchFamily="34" charset="0"/>
                <a:ea typeface="PT Sans" pitchFamily="34" charset="-122"/>
                <a:cs typeface="PT Sans" pitchFamily="34" charset="-120"/>
              </a:rPr>
              <a:t> </a:t>
            </a:r>
            <a:r>
              <a:rPr lang="en-US" sz="1850" dirty="0" err="1">
                <a:solidFill>
                  <a:srgbClr val="FFFFFF"/>
                </a:solidFill>
                <a:latin typeface="PT Sans" pitchFamily="34" charset="0"/>
                <a:ea typeface="PT Sans" pitchFamily="34" charset="-122"/>
                <a:cs typeface="PT Sans" pitchFamily="34" charset="-120"/>
              </a:rPr>
              <a:t>adicionales</a:t>
            </a:r>
            <a:r>
              <a:rPr lang="en-US" sz="1850" dirty="0">
                <a:solidFill>
                  <a:srgbClr val="FFFFFF"/>
                </a:solidFill>
                <a:latin typeface="PT Sans" pitchFamily="34" charset="0"/>
                <a:ea typeface="PT Sans" pitchFamily="34" charset="-122"/>
                <a:cs typeface="PT Sans" pitchFamily="34" charset="-120"/>
              </a:rPr>
              <a:t>  </a:t>
            </a:r>
            <a:endParaRPr lang="en-US" sz="1850" dirty="0"/>
          </a:p>
        </p:txBody>
      </p:sp>
      <p:sp>
        <p:nvSpPr>
          <p:cNvPr id="3" name="Shape 2">
            <a:extLst>
              <a:ext uri="{FF2B5EF4-FFF2-40B4-BE49-F238E27FC236}">
                <a16:creationId xmlns:a16="http://schemas.microsoft.com/office/drawing/2014/main" id="{F0EE1FD5-F4D2-3B58-BF0D-75C6BAAD109D}"/>
              </a:ext>
            </a:extLst>
          </p:cNvPr>
          <p:cNvSpPr/>
          <p:nvPr/>
        </p:nvSpPr>
        <p:spPr>
          <a:xfrm>
            <a:off x="7649602" y="2293650"/>
            <a:ext cx="661987" cy="661988"/>
          </a:xfrm>
          <a:prstGeom prst="roundRect">
            <a:avLst>
              <a:gd name="adj" fmla="val 13811579"/>
            </a:avLst>
          </a:prstGeom>
          <a:solidFill>
            <a:srgbClr val="C55A11"/>
          </a:solidFill>
          <a:ln/>
        </p:spPr>
        <p:txBody>
          <a:bodyPr/>
          <a:lstStyle/>
          <a:p>
            <a:endParaRPr lang="es-ES"/>
          </a:p>
        </p:txBody>
      </p:sp>
      <p:pic>
        <p:nvPicPr>
          <p:cNvPr id="5" name="Picture 2">
            <a:extLst>
              <a:ext uri="{FF2B5EF4-FFF2-40B4-BE49-F238E27FC236}">
                <a16:creationId xmlns:a16="http://schemas.microsoft.com/office/drawing/2014/main" id="{56142541-DDF5-F9B4-C468-07C1CE120E7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16417" y="2308780"/>
            <a:ext cx="732210" cy="732210"/>
          </a:xfrm>
          <a:prstGeom prst="rect">
            <a:avLst/>
          </a:prstGeom>
          <a:noFill/>
          <a:extLst>
            <a:ext uri="{909E8E84-426E-40DD-AFC4-6F175D3DCCD1}">
              <a14:hiddenFill xmlns:a14="http://schemas.microsoft.com/office/drawing/2010/main">
                <a:solidFill>
                  <a:srgbClr val="FFFFFF"/>
                </a:solidFill>
              </a14:hiddenFill>
            </a:ext>
          </a:extLst>
        </p:spPr>
      </p:pic>
      <p:sp>
        <p:nvSpPr>
          <p:cNvPr id="14" name="Shape 6"/>
          <p:cNvSpPr/>
          <p:nvPr/>
        </p:nvSpPr>
        <p:spPr>
          <a:xfrm>
            <a:off x="754427" y="1976874"/>
            <a:ext cx="3059311" cy="5122466"/>
          </a:xfrm>
          <a:prstGeom prst="roundRect">
            <a:avLst>
              <a:gd name="adj" fmla="val 11737"/>
            </a:avLst>
          </a:prstGeom>
          <a:solidFill>
            <a:srgbClr val="00002E"/>
          </a:solidFill>
          <a:ln w="22860">
            <a:solidFill>
              <a:srgbClr val="D7425E"/>
            </a:solidFill>
            <a:prstDash val="solid"/>
          </a:ln>
        </p:spPr>
        <p:txBody>
          <a:bodyPr/>
          <a:lstStyle/>
          <a:p>
            <a:endParaRPr lang="es-ES"/>
          </a:p>
        </p:txBody>
      </p:sp>
      <p:sp>
        <p:nvSpPr>
          <p:cNvPr id="15" name="Shape 7"/>
          <p:cNvSpPr/>
          <p:nvPr/>
        </p:nvSpPr>
        <p:spPr>
          <a:xfrm>
            <a:off x="1033415" y="2315852"/>
            <a:ext cx="718066" cy="718066"/>
          </a:xfrm>
          <a:prstGeom prst="roundRect">
            <a:avLst>
              <a:gd name="adj" fmla="val 12732932"/>
            </a:avLst>
          </a:prstGeom>
          <a:solidFill>
            <a:srgbClr val="D7425E"/>
          </a:solidFill>
          <a:ln/>
        </p:spPr>
        <p:txBody>
          <a:bodyPr/>
          <a:lstStyle/>
          <a:p>
            <a:endParaRPr lang="es-ES"/>
          </a:p>
        </p:txBody>
      </p:sp>
      <p:pic>
        <p:nvPicPr>
          <p:cNvPr id="17" name="Image 1"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230821" y="2472243"/>
            <a:ext cx="323136" cy="323136"/>
          </a:xfrm>
          <a:prstGeom prst="rect">
            <a:avLst/>
          </a:prstGeom>
        </p:spPr>
      </p:pic>
      <p:sp>
        <p:nvSpPr>
          <p:cNvPr id="18" name="Text 8">
            <a:extLst>
              <a:ext uri="{FF2B5EF4-FFF2-40B4-BE49-F238E27FC236}">
                <a16:creationId xmlns:a16="http://schemas.microsoft.com/office/drawing/2014/main" id="{935AC0A0-93A2-BF33-05CD-DB3B68CAA7CD}"/>
              </a:ext>
            </a:extLst>
          </p:cNvPr>
          <p:cNvSpPr/>
          <p:nvPr/>
        </p:nvSpPr>
        <p:spPr>
          <a:xfrm>
            <a:off x="1050347" y="3401550"/>
            <a:ext cx="2534960" cy="351949"/>
          </a:xfrm>
          <a:prstGeom prst="rect">
            <a:avLst/>
          </a:prstGeom>
          <a:noFill/>
          <a:ln/>
        </p:spPr>
        <p:txBody>
          <a:bodyPr wrap="none" lIns="0" tIns="0" rIns="0" bIns="0" rtlCol="0" anchor="t"/>
          <a:lstStyle/>
          <a:p>
            <a:pPr marL="0" indent="0" algn="l">
              <a:lnSpc>
                <a:spcPts val="2750"/>
              </a:lnSpc>
              <a:buNone/>
            </a:pPr>
            <a:r>
              <a:rPr lang="en-US" sz="2200" dirty="0" err="1">
                <a:solidFill>
                  <a:srgbClr val="FFFFFF"/>
                </a:solidFill>
                <a:latin typeface="Nunito Semi Bold" pitchFamily="34" charset="0"/>
                <a:ea typeface="Nunito Semi Bold" pitchFamily="34" charset="-122"/>
                <a:cs typeface="Nunito Semi Bold" pitchFamily="34" charset="-120"/>
              </a:rPr>
              <a:t>Completar</a:t>
            </a:r>
            <a:r>
              <a:rPr lang="en-US" sz="2200" dirty="0">
                <a:solidFill>
                  <a:srgbClr val="FFFFFF"/>
                </a:solidFill>
                <a:latin typeface="Nunito Semi Bold" pitchFamily="34" charset="0"/>
                <a:ea typeface="Nunito Semi Bold" pitchFamily="34" charset="-122"/>
                <a:cs typeface="Nunito Semi Bold" pitchFamily="34" charset="-120"/>
              </a:rPr>
              <a:t> dataset</a:t>
            </a:r>
            <a:endParaRPr lang="en-US" sz="2200" dirty="0"/>
          </a:p>
        </p:txBody>
      </p:sp>
      <p:sp>
        <p:nvSpPr>
          <p:cNvPr id="24" name="Text 9">
            <a:extLst>
              <a:ext uri="{FF2B5EF4-FFF2-40B4-BE49-F238E27FC236}">
                <a16:creationId xmlns:a16="http://schemas.microsoft.com/office/drawing/2014/main" id="{2D9B9121-E11F-E9AE-3F46-100F6DAFAC78}"/>
              </a:ext>
            </a:extLst>
          </p:cNvPr>
          <p:cNvSpPr/>
          <p:nvPr/>
        </p:nvSpPr>
        <p:spPr>
          <a:xfrm>
            <a:off x="1050347" y="3897088"/>
            <a:ext cx="2534960" cy="1915120"/>
          </a:xfrm>
          <a:prstGeom prst="rect">
            <a:avLst/>
          </a:prstGeom>
          <a:noFill/>
          <a:ln/>
        </p:spPr>
        <p:txBody>
          <a:bodyPr wrap="square" lIns="0" tIns="0" rIns="0" bIns="0" rtlCol="0" anchor="t"/>
          <a:lstStyle/>
          <a:p>
            <a:pPr marL="0" indent="0" algn="l">
              <a:lnSpc>
                <a:spcPts val="3000"/>
              </a:lnSpc>
              <a:buNone/>
            </a:pPr>
            <a:r>
              <a:rPr lang="en-US" sz="1850" dirty="0">
                <a:solidFill>
                  <a:srgbClr val="FFFFFF"/>
                </a:solidFill>
                <a:latin typeface="PT Sans" pitchFamily="34" charset="0"/>
              </a:rPr>
              <a:t>Completer </a:t>
            </a:r>
            <a:r>
              <a:rPr lang="en-US" sz="1850" dirty="0" err="1">
                <a:solidFill>
                  <a:srgbClr val="FFFFFF"/>
                </a:solidFill>
                <a:latin typeface="PT Sans" pitchFamily="34" charset="0"/>
              </a:rPr>
              <a:t>los</a:t>
            </a:r>
            <a:r>
              <a:rPr lang="en-US" sz="1850" dirty="0">
                <a:solidFill>
                  <a:srgbClr val="FFFFFF"/>
                </a:solidFill>
                <a:latin typeface="PT Sans" pitchFamily="34" charset="0"/>
              </a:rPr>
              <a:t> </a:t>
            </a:r>
            <a:r>
              <a:rPr lang="en-US" sz="1850" dirty="0" err="1">
                <a:solidFill>
                  <a:srgbClr val="FFFFFF"/>
                </a:solidFill>
                <a:latin typeface="PT Sans" pitchFamily="34" charset="0"/>
              </a:rPr>
              <a:t>presupuestos</a:t>
            </a:r>
            <a:r>
              <a:rPr lang="en-US" sz="1850" dirty="0">
                <a:solidFill>
                  <a:srgbClr val="FFFFFF"/>
                </a:solidFill>
                <a:latin typeface="PT Sans" pitchFamily="34" charset="0"/>
              </a:rPr>
              <a:t> y </a:t>
            </a:r>
            <a:r>
              <a:rPr lang="en-US" sz="1850" dirty="0" err="1">
                <a:solidFill>
                  <a:srgbClr val="FFFFFF"/>
                </a:solidFill>
                <a:latin typeface="PT Sans" pitchFamily="34" charset="0"/>
              </a:rPr>
              <a:t>recaudación</a:t>
            </a:r>
            <a:r>
              <a:rPr lang="en-US" sz="1850" dirty="0">
                <a:solidFill>
                  <a:srgbClr val="FFFFFF"/>
                </a:solidFill>
                <a:latin typeface="PT Sans" pitchFamily="34" charset="0"/>
              </a:rPr>
              <a:t> entre TMDB y Mojo</a:t>
            </a:r>
            <a:endParaRPr lang="en-US" sz="1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2" descr="preencoded.png"/>
          <p:cNvPicPr>
            <a:picLocks noChangeAspect="1"/>
          </p:cNvPicPr>
          <p:nvPr/>
        </p:nvPicPr>
        <p:blipFill>
          <a:blip r:embed="rId3"/>
          <a:stretch>
            <a:fillRect/>
          </a:stretch>
        </p:blipFill>
        <p:spPr>
          <a:xfrm>
            <a:off x="2308127" y="1396233"/>
            <a:ext cx="4770006" cy="4770006"/>
          </a:xfrm>
          <a:prstGeom prst="rect">
            <a:avLst/>
          </a:prstGeom>
        </p:spPr>
      </p:pic>
      <p:sp>
        <p:nvSpPr>
          <p:cNvPr id="2" name="Text 1">
            <a:extLst>
              <a:ext uri="{FF2B5EF4-FFF2-40B4-BE49-F238E27FC236}">
                <a16:creationId xmlns:a16="http://schemas.microsoft.com/office/drawing/2014/main" id="{B05D5EBD-88A5-DF05-FAEE-B94E6469B5B9}"/>
              </a:ext>
            </a:extLst>
          </p:cNvPr>
          <p:cNvSpPr/>
          <p:nvPr/>
        </p:nvSpPr>
        <p:spPr>
          <a:xfrm>
            <a:off x="5464096" y="3762791"/>
            <a:ext cx="5632490" cy="704017"/>
          </a:xfrm>
          <a:prstGeom prst="rect">
            <a:avLst/>
          </a:prstGeom>
          <a:noFill/>
          <a:ln/>
        </p:spPr>
        <p:txBody>
          <a:bodyPr wrap="none" lIns="0" tIns="0" rIns="0" bIns="0" rtlCol="0" anchor="t"/>
          <a:lstStyle/>
          <a:p>
            <a:pPr marL="0" indent="0" algn="ctr">
              <a:lnSpc>
                <a:spcPts val="5500"/>
              </a:lnSpc>
              <a:buNone/>
            </a:pPr>
            <a:r>
              <a:rPr lang="en-US" sz="4400" dirty="0">
                <a:solidFill>
                  <a:srgbClr val="FFFFFF"/>
                </a:solidFill>
                <a:latin typeface="Nunito Semi Bold" pitchFamily="34" charset="0"/>
                <a:ea typeface="Nunito Semi Bold" pitchFamily="34" charset="-122"/>
                <a:cs typeface="Nunito Semi Bold" pitchFamily="34" charset="-120"/>
              </a:rPr>
              <a:t>THE END</a:t>
            </a:r>
            <a:endParaRPr lang="en-US" sz="4400" dirty="0"/>
          </a:p>
        </p:txBody>
      </p:sp>
      <p:sp>
        <p:nvSpPr>
          <p:cNvPr id="3" name="Text 3">
            <a:extLst>
              <a:ext uri="{FF2B5EF4-FFF2-40B4-BE49-F238E27FC236}">
                <a16:creationId xmlns:a16="http://schemas.microsoft.com/office/drawing/2014/main" id="{4A4026CA-B1E1-DDF8-3D78-26F022C99775}"/>
              </a:ext>
            </a:extLst>
          </p:cNvPr>
          <p:cNvSpPr/>
          <p:nvPr/>
        </p:nvSpPr>
        <p:spPr>
          <a:xfrm>
            <a:off x="956258" y="6778792"/>
            <a:ext cx="12954952" cy="383024"/>
          </a:xfrm>
          <a:prstGeom prst="rect">
            <a:avLst/>
          </a:prstGeom>
          <a:noFill/>
          <a:ln/>
        </p:spPr>
        <p:txBody>
          <a:bodyPr wrap="none" lIns="0" tIns="0" rIns="0" bIns="0" rtlCol="0" anchor="t"/>
          <a:lstStyle/>
          <a:p>
            <a:pPr marL="0" indent="0" algn="r">
              <a:lnSpc>
                <a:spcPts val="3000"/>
              </a:lnSpc>
              <a:buNone/>
            </a:pPr>
            <a:r>
              <a:rPr lang="en-US" sz="1850" dirty="0">
                <a:solidFill>
                  <a:srgbClr val="FFFFFF"/>
                </a:solidFill>
                <a:latin typeface="PT Sans" pitchFamily="34" charset="0"/>
                <a:ea typeface="PT Sans" pitchFamily="34" charset="-122"/>
                <a:cs typeface="PT Sans" pitchFamily="34" charset="-120"/>
              </a:rPr>
              <a:t>Naia Merino</a:t>
            </a:r>
            <a:endParaRPr lang="en-US" sz="1850" dirty="0"/>
          </a:p>
        </p:txBody>
      </p:sp>
      <p:sp>
        <p:nvSpPr>
          <p:cNvPr id="4" name="Text 3">
            <a:extLst>
              <a:ext uri="{FF2B5EF4-FFF2-40B4-BE49-F238E27FC236}">
                <a16:creationId xmlns:a16="http://schemas.microsoft.com/office/drawing/2014/main" id="{E9461EBC-1755-FC71-F1D0-BA1072D52B18}"/>
              </a:ext>
            </a:extLst>
          </p:cNvPr>
          <p:cNvSpPr/>
          <p:nvPr/>
        </p:nvSpPr>
        <p:spPr>
          <a:xfrm>
            <a:off x="3039058" y="5610762"/>
            <a:ext cx="12954952" cy="383024"/>
          </a:xfrm>
          <a:prstGeom prst="rect">
            <a:avLst/>
          </a:prstGeom>
          <a:noFill/>
          <a:ln/>
        </p:spPr>
        <p:txBody>
          <a:bodyPr wrap="none" lIns="0" tIns="0" rIns="0" bIns="0" rtlCol="0" anchor="t"/>
          <a:lstStyle/>
          <a:p>
            <a:pPr marL="0" indent="0" algn="ctr">
              <a:lnSpc>
                <a:spcPts val="3000"/>
              </a:lnSpc>
              <a:buNone/>
            </a:pPr>
            <a:r>
              <a:rPr lang="en-US" sz="3200" dirty="0">
                <a:solidFill>
                  <a:srgbClr val="FFFFFF"/>
                </a:solidFill>
                <a:latin typeface="PT Sans" pitchFamily="34" charset="0"/>
                <a:ea typeface="PT Sans" pitchFamily="34" charset="-122"/>
                <a:cs typeface="PT Sans" pitchFamily="34" charset="-120"/>
              </a:rPr>
              <a:t>Thanks</a:t>
            </a:r>
            <a:endParaRPr lang="en-US" sz="3200" dirty="0"/>
          </a:p>
        </p:txBody>
      </p:sp>
      <p:pic>
        <p:nvPicPr>
          <p:cNvPr id="5" name="Image 1" descr="preencoded.png">
            <a:extLst>
              <a:ext uri="{FF2B5EF4-FFF2-40B4-BE49-F238E27FC236}">
                <a16:creationId xmlns:a16="http://schemas.microsoft.com/office/drawing/2014/main" id="{6034AA21-0507-3284-24F9-696CA619D960}"/>
              </a:ext>
            </a:extLst>
          </p:cNvPr>
          <p:cNvPicPr>
            <a:picLocks noChangeAspect="1"/>
          </p:cNvPicPr>
          <p:nvPr/>
        </p:nvPicPr>
        <p:blipFill>
          <a:blip r:embed="rId4"/>
          <a:stretch>
            <a:fillRect/>
          </a:stretch>
        </p:blipFill>
        <p:spPr>
          <a:xfrm>
            <a:off x="10701808" y="5115733"/>
            <a:ext cx="1281364" cy="1281364"/>
          </a:xfrm>
          <a:prstGeom prst="rect">
            <a:avLst/>
          </a:prstGeom>
        </p:spPr>
      </p:pic>
    </p:spTree>
    <p:extLst>
      <p:ext uri="{BB962C8B-B14F-4D97-AF65-F5344CB8AC3E}">
        <p14:creationId xmlns:p14="http://schemas.microsoft.com/office/powerpoint/2010/main" val="2289596463"/>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6f8505da-c265-4c9b-8f79-5eb1c5d317b9}" enabled="1" method="Standard" siteId="{b984e578-dd3f-4fcd-afea-1c381ab634f3}" contentBits="0" removed="0"/>
</clbl:labelList>
</file>

<file path=docProps/app.xml><?xml version="1.0" encoding="utf-8"?>
<Properties xmlns="http://schemas.openxmlformats.org/officeDocument/2006/extended-properties" xmlns:vt="http://schemas.openxmlformats.org/officeDocument/2006/docPropsVTypes">
  <TotalTime>1965</TotalTime>
  <Words>1858</Words>
  <Application>Microsoft Office PowerPoint</Application>
  <PresentationFormat>Personalizado</PresentationFormat>
  <Paragraphs>146</Paragraphs>
  <Slides>15</Slides>
  <Notes>15</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15</vt:i4>
      </vt:variant>
    </vt:vector>
  </HeadingPairs>
  <TitlesOfParts>
    <vt:vector size="20" baseType="lpstr">
      <vt:lpstr>PT Sans</vt:lpstr>
      <vt:lpstr>Arial</vt:lpstr>
      <vt:lpstr>Nunito Light</vt:lpstr>
      <vt:lpstr>Nunito Semi Bold</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NaiaJon</dc:creator>
  <cp:lastModifiedBy>Santiago, Jon</cp:lastModifiedBy>
  <cp:revision>16</cp:revision>
  <dcterms:created xsi:type="dcterms:W3CDTF">2026-04-11T16:33:15Z</dcterms:created>
  <dcterms:modified xsi:type="dcterms:W3CDTF">2026-04-16T09:14:45Z</dcterms:modified>
</cp:coreProperties>
</file>